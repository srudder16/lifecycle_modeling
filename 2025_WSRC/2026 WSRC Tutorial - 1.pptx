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omments/modernComment_13A_FE3A4765.xml" ContentType="application/vnd.ms-powerpoint.comment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omments/modernComment_17A_79E6D1AE.xml" ContentType="application/vnd.ms-powerpoint.comments+xml"/>
  <Override PartName="/ppt/notesSlides/notesSlide5.xml" ContentType="application/vnd.openxmlformats-officedocument.presentationml.notesSlide+xml"/>
  <Override PartName="/ppt/comments/modernComment_194_A5A27385.xml" ContentType="application/vnd.ms-powerpoint.comment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24"/>
  </p:notesMasterIdLst>
  <p:sldIdLst>
    <p:sldId id="405" r:id="rId2"/>
    <p:sldId id="406" r:id="rId3"/>
    <p:sldId id="409" r:id="rId4"/>
    <p:sldId id="408" r:id="rId5"/>
    <p:sldId id="397" r:id="rId6"/>
    <p:sldId id="351" r:id="rId7"/>
    <p:sldId id="352" r:id="rId8"/>
    <p:sldId id="269" r:id="rId9"/>
    <p:sldId id="399" r:id="rId10"/>
    <p:sldId id="353" r:id="rId11"/>
    <p:sldId id="354" r:id="rId12"/>
    <p:sldId id="357" r:id="rId13"/>
    <p:sldId id="359" r:id="rId14"/>
    <p:sldId id="400" r:id="rId15"/>
    <p:sldId id="401" r:id="rId16"/>
    <p:sldId id="363" r:id="rId17"/>
    <p:sldId id="308" r:id="rId18"/>
    <p:sldId id="403" r:id="rId19"/>
    <p:sldId id="311" r:id="rId20"/>
    <p:sldId id="312" r:id="rId21"/>
    <p:sldId id="313" r:id="rId22"/>
    <p:sldId id="314" r:id="rId23"/>
    <p:sldId id="293" r:id="rId24"/>
    <p:sldId id="284" r:id="rId25"/>
    <p:sldId id="402" r:id="rId26"/>
    <p:sldId id="264" r:id="rId27"/>
    <p:sldId id="410" r:id="rId28"/>
    <p:sldId id="286" r:id="rId29"/>
    <p:sldId id="287" r:id="rId30"/>
    <p:sldId id="304" r:id="rId31"/>
    <p:sldId id="288" r:id="rId32"/>
    <p:sldId id="320" r:id="rId33"/>
    <p:sldId id="305" r:id="rId34"/>
    <p:sldId id="306" r:id="rId35"/>
    <p:sldId id="307" r:id="rId36"/>
    <p:sldId id="319" r:id="rId37"/>
    <p:sldId id="289" r:id="rId38"/>
    <p:sldId id="309" r:id="rId39"/>
    <p:sldId id="302" r:id="rId40"/>
    <p:sldId id="290" r:id="rId41"/>
    <p:sldId id="291" r:id="rId42"/>
    <p:sldId id="297" r:id="rId43"/>
    <p:sldId id="298" r:id="rId44"/>
    <p:sldId id="299" r:id="rId45"/>
    <p:sldId id="300" r:id="rId46"/>
    <p:sldId id="322" r:id="rId47"/>
    <p:sldId id="422" r:id="rId48"/>
    <p:sldId id="365" r:id="rId49"/>
    <p:sldId id="366" r:id="rId50"/>
    <p:sldId id="367" r:id="rId51"/>
    <p:sldId id="368" r:id="rId52"/>
    <p:sldId id="369" r:id="rId53"/>
    <p:sldId id="370" r:id="rId54"/>
    <p:sldId id="371" r:id="rId55"/>
    <p:sldId id="372" r:id="rId56"/>
    <p:sldId id="373" r:id="rId57"/>
    <p:sldId id="374" r:id="rId58"/>
    <p:sldId id="375" r:id="rId59"/>
    <p:sldId id="376" r:id="rId60"/>
    <p:sldId id="377" r:id="rId61"/>
    <p:sldId id="378" r:id="rId62"/>
    <p:sldId id="379" r:id="rId63"/>
    <p:sldId id="380" r:id="rId64"/>
    <p:sldId id="381" r:id="rId65"/>
    <p:sldId id="407" r:id="rId66"/>
    <p:sldId id="256" r:id="rId67"/>
    <p:sldId id="258" r:id="rId68"/>
    <p:sldId id="358" r:id="rId69"/>
    <p:sldId id="332" r:id="rId70"/>
    <p:sldId id="323" r:id="rId71"/>
    <p:sldId id="333" r:id="rId72"/>
    <p:sldId id="404" r:id="rId73"/>
    <p:sldId id="263" r:id="rId74"/>
    <p:sldId id="330" r:id="rId75"/>
    <p:sldId id="331" r:id="rId76"/>
    <p:sldId id="413" r:id="rId77"/>
    <p:sldId id="350" r:id="rId78"/>
    <p:sldId id="348" r:id="rId79"/>
    <p:sldId id="325" r:id="rId80"/>
    <p:sldId id="292" r:id="rId81"/>
    <p:sldId id="326" r:id="rId82"/>
    <p:sldId id="327" r:id="rId83"/>
    <p:sldId id="328" r:id="rId84"/>
    <p:sldId id="411" r:id="rId85"/>
    <p:sldId id="349" r:id="rId86"/>
    <p:sldId id="335" r:id="rId87"/>
    <p:sldId id="336" r:id="rId88"/>
    <p:sldId id="337" r:id="rId89"/>
    <p:sldId id="262" r:id="rId90"/>
    <p:sldId id="338" r:id="rId91"/>
    <p:sldId id="265" r:id="rId92"/>
    <p:sldId id="340" r:id="rId93"/>
    <p:sldId id="295" r:id="rId94"/>
    <p:sldId id="296" r:id="rId95"/>
    <p:sldId id="294" r:id="rId96"/>
    <p:sldId id="416" r:id="rId97"/>
    <p:sldId id="417" r:id="rId98"/>
    <p:sldId id="339" r:id="rId99"/>
    <p:sldId id="341" r:id="rId100"/>
    <p:sldId id="342" r:id="rId101"/>
    <p:sldId id="343" r:id="rId102"/>
    <p:sldId id="344" r:id="rId103"/>
    <p:sldId id="301" r:id="rId104"/>
    <p:sldId id="303" r:id="rId105"/>
    <p:sldId id="346" r:id="rId106"/>
    <p:sldId id="347" r:id="rId107"/>
    <p:sldId id="424" r:id="rId108"/>
    <p:sldId id="412" r:id="rId109"/>
    <p:sldId id="398" r:id="rId110"/>
    <p:sldId id="386" r:id="rId111"/>
    <p:sldId id="388" r:id="rId112"/>
    <p:sldId id="389" r:id="rId113"/>
    <p:sldId id="390" r:id="rId114"/>
    <p:sldId id="415" r:id="rId115"/>
    <p:sldId id="392" r:id="rId116"/>
    <p:sldId id="393" r:id="rId117"/>
    <p:sldId id="394" r:id="rId118"/>
    <p:sldId id="418" r:id="rId119"/>
    <p:sldId id="421" r:id="rId120"/>
    <p:sldId id="419" r:id="rId121"/>
    <p:sldId id="420" r:id="rId122"/>
    <p:sldId id="414" r:id="rId1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od 1 - Introduction to Course" id="{DD73C750-BC23-7041-A939-B154352879A5}">
          <p14:sldIdLst>
            <p14:sldId id="405"/>
            <p14:sldId id="406"/>
            <p14:sldId id="409"/>
            <p14:sldId id="408"/>
          </p14:sldIdLst>
        </p14:section>
        <p14:section name="Mod 2 - LML" id="{13098DDA-D240-3440-A8E0-41D0FA3873B8}">
          <p14:sldIdLst>
            <p14:sldId id="397"/>
            <p14:sldId id="351"/>
            <p14:sldId id="352"/>
            <p14:sldId id="269"/>
            <p14:sldId id="399"/>
            <p14:sldId id="353"/>
            <p14:sldId id="354"/>
            <p14:sldId id="357"/>
            <p14:sldId id="359"/>
            <p14:sldId id="400"/>
            <p14:sldId id="401"/>
            <p14:sldId id="363"/>
            <p14:sldId id="308"/>
            <p14:sldId id="403"/>
            <p14:sldId id="311"/>
            <p14:sldId id="312"/>
            <p14:sldId id="313"/>
            <p14:sldId id="314"/>
            <p14:sldId id="293"/>
            <p14:sldId id="284"/>
            <p14:sldId id="402"/>
          </p14:sldIdLst>
        </p14:section>
        <p14:section name="Mod 3 - Innoslate" id="{D2823390-947C-1E47-BCCB-30FA678BAA86}">
          <p14:sldIdLst>
            <p14:sldId id="264"/>
            <p14:sldId id="410"/>
            <p14:sldId id="286"/>
            <p14:sldId id="287"/>
            <p14:sldId id="304"/>
            <p14:sldId id="288"/>
            <p14:sldId id="320"/>
            <p14:sldId id="305"/>
            <p14:sldId id="306"/>
            <p14:sldId id="307"/>
            <p14:sldId id="319"/>
            <p14:sldId id="289"/>
            <p14:sldId id="309"/>
            <p14:sldId id="302"/>
            <p14:sldId id="290"/>
            <p14:sldId id="291"/>
            <p14:sldId id="297"/>
            <p14:sldId id="298"/>
            <p14:sldId id="299"/>
            <p14:sldId id="300"/>
            <p14:sldId id="322"/>
            <p14:sldId id="422"/>
          </p14:sldIdLst>
        </p14:section>
        <p14:section name="Mod 4 - Requirements Management" id="{83A4B2E6-9330-C34B-96F7-91A4C1598D31}">
          <p14:sldIdLst>
            <p14:sldId id="365"/>
            <p14:sldId id="366"/>
            <p14:sldId id="367"/>
            <p14:sldId id="368"/>
            <p14:sldId id="369"/>
            <p14:sldId id="370"/>
            <p14:sldId id="371"/>
            <p14:sldId id="372"/>
            <p14:sldId id="373"/>
            <p14:sldId id="374"/>
            <p14:sldId id="375"/>
            <p14:sldId id="376"/>
            <p14:sldId id="377"/>
            <p14:sldId id="378"/>
            <p14:sldId id="379"/>
            <p14:sldId id="380"/>
            <p14:sldId id="381"/>
            <p14:sldId id="407"/>
          </p14:sldIdLst>
        </p14:section>
        <p14:section name="Mod 5 - LMF" id="{4ECCA245-2D74-3A41-A3AB-B5C6FBAB6BFB}">
          <p14:sldIdLst>
            <p14:sldId id="256"/>
            <p14:sldId id="258"/>
            <p14:sldId id="358"/>
            <p14:sldId id="332"/>
            <p14:sldId id="323"/>
            <p14:sldId id="333"/>
            <p14:sldId id="404"/>
            <p14:sldId id="263"/>
            <p14:sldId id="330"/>
            <p14:sldId id="331"/>
            <p14:sldId id="413"/>
            <p14:sldId id="350"/>
          </p14:sldIdLst>
        </p14:section>
        <p14:section name="Mod 5 - Structural Architecture" id="{3012E4FA-0E8F-B945-BEF4-263044D468E6}">
          <p14:sldIdLst>
            <p14:sldId id="348"/>
            <p14:sldId id="325"/>
            <p14:sldId id="292"/>
            <p14:sldId id="326"/>
            <p14:sldId id="327"/>
            <p14:sldId id="328"/>
            <p14:sldId id="411"/>
          </p14:sldIdLst>
        </p14:section>
        <p14:section name="Mod 6 - Functional Architecture" id="{061CA46B-9C74-4445-AC89-DDA8DE17A4FF}">
          <p14:sldIdLst>
            <p14:sldId id="349"/>
            <p14:sldId id="335"/>
            <p14:sldId id="336"/>
            <p14:sldId id="337"/>
            <p14:sldId id="262"/>
            <p14:sldId id="338"/>
            <p14:sldId id="265"/>
            <p14:sldId id="340"/>
            <p14:sldId id="295"/>
            <p14:sldId id="296"/>
            <p14:sldId id="294"/>
            <p14:sldId id="416"/>
            <p14:sldId id="417"/>
            <p14:sldId id="339"/>
            <p14:sldId id="341"/>
            <p14:sldId id="342"/>
            <p14:sldId id="343"/>
            <p14:sldId id="344"/>
            <p14:sldId id="301"/>
            <p14:sldId id="303"/>
            <p14:sldId id="346"/>
            <p14:sldId id="347"/>
            <p14:sldId id="424"/>
            <p14:sldId id="412"/>
          </p14:sldIdLst>
        </p14:section>
        <p14:section name="Mod 7 - Simulation" id="{8E827614-1025-064D-B99A-7F8D3FDD0163}">
          <p14:sldIdLst>
            <p14:sldId id="398"/>
            <p14:sldId id="386"/>
            <p14:sldId id="388"/>
            <p14:sldId id="389"/>
            <p14:sldId id="390"/>
            <p14:sldId id="415"/>
            <p14:sldId id="392"/>
            <p14:sldId id="393"/>
            <p14:sldId id="394"/>
            <p14:sldId id="418"/>
            <p14:sldId id="421"/>
            <p14:sldId id="419"/>
            <p14:sldId id="420"/>
            <p14:sldId id="41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2EF4767-919E-CA67-04C5-4CBFE110F387}" name="Meredith Fields" initials="MF" userId="ecb5140ad14bc40c" providerId="Windows Live"/>
  <p188:author id="{604EB27E-7903-0427-82AF-A07C2AC83F8E}" name="Sarah Rudder" initials="SR" userId="926998adba382e54" providerId="Windows Live"/>
  <p188:author id="{964FFC82-870B-56AB-C864-FB885710DA81}" name="Sarah Rudder" initials="SR" userId="S::sarah.rudder@enolatech.com::686e44f2-4579-436a-8562-15623b034fd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D53A"/>
    <a:srgbClr val="EEB55B"/>
    <a:srgbClr val="C9DAC8"/>
    <a:srgbClr val="A9C5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178"/>
    <p:restoredTop sz="85982"/>
  </p:normalViewPr>
  <p:slideViewPr>
    <p:cSldViewPr snapToGrid="0">
      <p:cViewPr>
        <p:scale>
          <a:sx n="100" d="100"/>
          <a:sy n="100" d="100"/>
        </p:scale>
        <p:origin x="184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tableStyles" Target="tableStyle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notesMaster" Target="notesMasters/notesMaster1.xml"/><Relationship Id="rId129" Type="http://schemas.microsoft.com/office/2018/10/relationships/authors" Target="author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/Relationships>
</file>

<file path=ppt/comments/modernComment_13A_FE3A476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9A99AD9-79EF-E449-A0DB-D49C89B7BA0D}" authorId="{964FFC82-870B-56AB-C864-FB885710DA81}" status="resolved" created="2025-05-21T14:16:58.066">
    <pc:sldMkLst xmlns:pc="http://schemas.microsoft.com/office/powerpoint/2013/main/command">
      <pc:docMk/>
      <pc:sldMk cId="1563571254" sldId="314"/>
    </pc:sldMkLst>
    <p188:txBody>
      <a:bodyPr/>
      <a:lstStyle/>
      <a:p>
        <a:r>
          <a:rPr lang="en-US"/>
          <a:t>add gantt</a:t>
        </a:r>
      </a:p>
    </p188:txBody>
  </p188:cm>
</p188:cmLst>
</file>

<file path=ppt/comments/modernComment_17A_79E6D1AE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C17F8E1-AB1A-1B4A-B3BA-842117D223AC}" authorId="{604EB27E-7903-0427-82AF-A07C2AC83F8E}" created="2025-08-11T20:27:49.05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045170094" sldId="378"/>
      <ac:graphicFrameMk id="4" creationId="{553EB029-407F-1054-0845-50B92CE13C0F}"/>
    </ac:deMkLst>
    <p188:txBody>
      <a:bodyPr/>
      <a:lstStyle/>
      <a:p>
        <a:r>
          <a:rPr lang="en-US"/>
          <a:t>fix colors</a:t>
        </a:r>
      </a:p>
    </p188:txBody>
  </p188:cm>
</p188:cmLst>
</file>

<file path=ppt/comments/modernComment_194_A5A2738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FDD3428-7A54-CB46-ACB7-21D671D9AC45}" authorId="{604EB27E-7903-0427-82AF-A07C2AC83F8E}" created="2025-08-11T20:11:54.53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778887045" sldId="404"/>
      <ac:picMk id="5" creationId="{8618FD1D-4E70-F7B4-A488-1C7D0BAB1933}"/>
    </ac:deMkLst>
    <p188:txBody>
      <a:bodyPr/>
      <a:lstStyle/>
      <a:p>
        <a:r>
          <a:rPr lang="en-US"/>
          <a:t>replace this graphic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34CF31-C051-1449-BBC4-9420D4017A70}" type="datetimeFigureOut">
              <a:rPr lang="en-US" smtClean="0"/>
              <a:t>9/9/25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0EFF40-1C6B-F545-A07C-C7B89D13FB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9857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ata_flow" TargetMode="External"/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Examples include: document, email, procedure, specification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0EFF40-1C6B-F545-A07C-C7B89D13FBB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8735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Conduit - </a:t>
            </a:r>
            <a:r>
              <a:rPr lang="en-US" sz="1200" u="none" strike="noStrike" dirty="0">
                <a:effectLst/>
              </a:rPr>
              <a:t>It has limitations (i.e., attributes) of capability and latency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u="none" strike="noStrike" dirty="0">
                <a:effectLst/>
              </a:rPr>
              <a:t>Dependency - </a:t>
            </a:r>
            <a:r>
              <a:rPr lang="en-US" sz="1200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It defines the relationship a </a:t>
            </a:r>
            <a:r>
              <a:rPr lang="en-US" sz="1200" b="1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Task</a:t>
            </a:r>
            <a:r>
              <a:rPr lang="en-US" sz="1200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depends on another </a:t>
            </a:r>
            <a:r>
              <a:rPr lang="en-US" sz="1200" b="1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Task</a:t>
            </a:r>
            <a:r>
              <a:rPr lang="en-US" sz="1200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in order to Start or Finish. </a:t>
            </a:r>
            <a:endParaRPr lang="en-US" sz="1200" u="none" strike="noStrik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u="none" strike="noStrike" dirty="0">
              <a:effectLst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0EFF40-1C6B-F545-A07C-C7B89D13FBB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2771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main views</a:t>
            </a:r>
          </a:p>
          <a:p>
            <a:r>
              <a:rPr lang="en-US" dirty="0"/>
              <a:t>Import analyzer – import </a:t>
            </a:r>
            <a:r>
              <a:rPr lang="en-US" dirty="0" err="1"/>
              <a:t>xmi</a:t>
            </a:r>
            <a:r>
              <a:rPr lang="en-US" dirty="0"/>
              <a:t> file, import excel</a:t>
            </a:r>
          </a:p>
          <a:p>
            <a:r>
              <a:rPr lang="en-US" dirty="0"/>
              <a:t>Schema editor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0EFF40-1C6B-F545-A07C-C7B89D13FBBC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72249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 example for </a:t>
            </a:r>
            <a:r>
              <a:rPr lang="en-US" dirty="0" err="1"/>
              <a:t>v&amp;v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EF8CD2-4DEB-664A-A119-26EF42CEA1AC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9621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Solution viewpoint - </a:t>
            </a:r>
            <a:r>
              <a:rPr lang="en-US" sz="1200" dirty="0"/>
              <a:t>This includes the bulk of engineering design effort needed to define how the problem will be solved or opportunity realized.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Execution viewpoint - This includes all aspects of strategic project control and execution needed to put in place the infrastructure and organization that will develop and operate the solution.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DevOps viewpoint - This involves the tactical aspects of product development (including integration and verification) as well as operations and sustainment.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0EFF40-1C6B-F545-A07C-C7B89D13FBBC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12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needed to deliver value to users/customers for a specific mission area (and return some form of compensation to the Enterprise in turn, in some cases indirectly e.g. government projects)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0EFF40-1C6B-F545-A07C-C7B89D13FBBC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6581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Relate to UAF and the process guide and UAFML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0EFF40-1C6B-F545-A07C-C7B89D13FBBC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47933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IDEF0 is used to show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Data flow"/>
              </a:rPr>
              <a:t>data flow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system control, and the functional flow of lifecycle processes. IDEF0 is capable of graphically representing a wide variety of business, manufacturing and other types of enterprise operations to any level of detail. It provides rigorous and precise description, and promotes consistency of usage and interpretation.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0EFF40-1C6B-F545-A07C-C7B89D13FBBC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3123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visual project management tool that illustrates a team's workflow using columns and cards to represent tasks, helping teams manage work-in-progress (WIP), track task status at a glance, and maximize efficiency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0EFF40-1C6B-F545-A07C-C7B89D13FBBC}" type="slidenum">
              <a:rPr lang="en-US" smtClean="0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630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utterfly made out of triangles&#10;&#10;AI-generated content may be incorrect.">
            <a:extLst>
              <a:ext uri="{FF2B5EF4-FFF2-40B4-BE49-F238E27FC236}">
                <a16:creationId xmlns:a16="http://schemas.microsoft.com/office/drawing/2014/main" id="{29689B3E-D0FC-960F-8347-5D20C91097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" y="0"/>
            <a:ext cx="12190476" cy="685714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505200" y="1420283"/>
            <a:ext cx="5181600" cy="9800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962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3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6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4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or Author/Presenter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384800" y="4749800"/>
            <a:ext cx="1422400" cy="243417"/>
          </a:xfrm>
        </p:spPr>
        <p:txBody>
          <a:bodyPr/>
          <a:lstStyle>
            <a:lvl1pPr algn="ctr">
              <a:defRPr/>
            </a:lvl1pPr>
          </a:lstStyle>
          <a:p>
            <a:fld id="{623B06B9-3CAC-214D-96E2-A72379F73090}" type="datetimeFigureOut">
              <a:rPr lang="en-US" smtClean="0"/>
              <a:t>9/9/25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4722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utterfly made out of triangles&#10;&#10;AI-generated content may be incorrect.">
            <a:extLst>
              <a:ext uri="{FF2B5EF4-FFF2-40B4-BE49-F238E27FC236}">
                <a16:creationId xmlns:a16="http://schemas.microsoft.com/office/drawing/2014/main" id="{08A54F52-A30E-280D-80C8-5EBD4492B9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9"/>
            <a:ext cx="12190476" cy="685714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0AC2F28-0714-75B0-C4A0-4B0F995CD2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52800" y="2514600"/>
            <a:ext cx="5486400" cy="762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Module title</a:t>
            </a:r>
          </a:p>
        </p:txBody>
      </p:sp>
    </p:spTree>
    <p:extLst>
      <p:ext uri="{BB962C8B-B14F-4D97-AF65-F5344CB8AC3E}">
        <p14:creationId xmlns:p14="http://schemas.microsoft.com/office/powerpoint/2010/main" val="20579466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271A26F-B15C-8DA0-1A25-D0428ECF7D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9"/>
            <a:ext cx="12190476" cy="685714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0200" y="183092"/>
            <a:ext cx="11531600" cy="762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200" y="1066801"/>
            <a:ext cx="5486400" cy="46989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83901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FDFAFE11-F6E6-BD3C-AD9B-9B967DAB18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9"/>
            <a:ext cx="12190476" cy="6857143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30200" y="1066801"/>
            <a:ext cx="5565648" cy="474979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9200" y="1066801"/>
            <a:ext cx="5562600" cy="474979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75F0049F-C89F-4159-E7E4-7592F9561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183092"/>
            <a:ext cx="11531600" cy="762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89585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C6404A2-AAF3-51DF-1B23-35BDB6B4CCC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9"/>
            <a:ext cx="12190476" cy="6857143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799" y="584200"/>
            <a:ext cx="5638801" cy="424392"/>
          </a:xfrm>
        </p:spPr>
        <p:txBody>
          <a:bodyPr anchor="b">
            <a:normAutofit/>
          </a:bodyPr>
          <a:lstStyle>
            <a:lvl1pPr marL="0" indent="0">
              <a:buNone/>
              <a:defRPr sz="2133" b="0"/>
            </a:lvl1pPr>
            <a:lvl2pPr marL="304808" indent="0">
              <a:buNone/>
              <a:defRPr sz="1333" b="1"/>
            </a:lvl2pPr>
            <a:lvl3pPr marL="609615" indent="0">
              <a:buNone/>
              <a:defRPr sz="1200" b="1"/>
            </a:lvl3pPr>
            <a:lvl4pPr marL="914423" indent="0">
              <a:buNone/>
              <a:defRPr sz="1067" b="1"/>
            </a:lvl4pPr>
            <a:lvl5pPr marL="1219230" indent="0">
              <a:buNone/>
              <a:defRPr sz="1067" b="1"/>
            </a:lvl5pPr>
            <a:lvl6pPr marL="1524038" indent="0">
              <a:buNone/>
              <a:defRPr sz="1067" b="1"/>
            </a:lvl6pPr>
            <a:lvl7pPr marL="1828845" indent="0">
              <a:buNone/>
              <a:defRPr sz="1067" b="1"/>
            </a:lvl7pPr>
            <a:lvl8pPr marL="2133653" indent="0">
              <a:buNone/>
              <a:defRPr sz="1067" b="1"/>
            </a:lvl8pPr>
            <a:lvl9pPr marL="2438461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799" y="1041400"/>
            <a:ext cx="5638801" cy="4299599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7F60726C-9173-A1EB-3DA0-91D3FA42385E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6247638" y="584200"/>
            <a:ext cx="5622630" cy="42439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b="0" dirty="0" smtClean="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DA2A4308-883F-95FB-8935-25422265185A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247638" y="1041400"/>
            <a:ext cx="5622630" cy="4299599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534197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685D7536-6DDE-0A9A-6FE3-B2A1EBC835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9"/>
            <a:ext cx="12190476" cy="6857143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B9607BE7-406C-3A91-9DAB-6140CE8AC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183092"/>
            <a:ext cx="11531600" cy="762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2715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2D63F8D-B3AA-4CB5-B5F0-BA70E56D3E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9"/>
            <a:ext cx="12190476" cy="68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0430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21140-8A2E-2819-1755-C3EFA8A92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2CBAA2-BD96-8F64-B2BD-FA6A6D4C3D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4F5A2F-7A1F-84BF-6C0A-F3513C6B7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B06B9-3CAC-214D-96E2-A72379F73090}" type="datetimeFigureOut">
              <a:rPr lang="en-US" smtClean="0"/>
              <a:t>9/9/25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34DAEF-0B16-C6E5-D3EE-E3B35C6E5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122FA0-5B91-3C5B-D19E-62642DDC2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1B0BB-7B91-8448-B02B-EB2E4D3DE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6684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35489-0AE3-AFD2-5C03-64D6CB1E6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E8C705-853E-8015-E3A5-5C1F8D2077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F237B0-B531-E84D-DE42-4B67138F8B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9E6749-C1F4-BCEB-FA50-43A0724814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E06D5F-D1D0-CB92-2BC3-65CDF595C8B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3F8DA79-912F-1350-758F-6FD4DF062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B06B9-3CAC-214D-96E2-A72379F73090}" type="datetimeFigureOut">
              <a:rPr lang="en-US" smtClean="0"/>
              <a:t>9/9/25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EF89F2C-4F43-C81A-A8AD-B5DF2E65D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BB88D39-E434-1FAC-6D2A-C216997C31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1B0BB-7B91-8448-B02B-EB2E4D3DE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6896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2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8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3B06B9-3CAC-214D-96E2-A72379F73090}" type="datetimeFigureOut">
              <a:rPr lang="en-US" smtClean="0"/>
              <a:t>9/9/25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8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8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01B0BB-7B91-8448-B02B-EB2E4D3DE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310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txStyles>
    <p:titleStyle>
      <a:lvl1pPr algn="ctr" defTabSz="609615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5" indent="-228605" algn="l" defTabSz="609615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13" indent="-190506" algn="l" defTabSz="609615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19" indent="-152404" algn="l" defTabSz="609615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27" indent="-152404" algn="l" defTabSz="609615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35" indent="-152404" algn="l" defTabSz="609615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42" indent="-152404" algn="l" defTabSz="609615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50" indent="-152404" algn="l" defTabSz="609615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057" indent="-152404" algn="l" defTabSz="609615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865" indent="-152404" algn="l" defTabSz="609615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08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15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23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30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38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45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653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461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fecyclemodeling.org/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specinnovations.com/webinars" TargetMode="External"/><Relationship Id="rId5" Type="http://schemas.openxmlformats.org/officeDocument/2006/relationships/hyperlink" Target="https://www.lmbse.com/courses" TargetMode="External"/><Relationship Id="rId4" Type="http://schemas.openxmlformats.org/officeDocument/2006/relationships/hyperlink" Target="https://www.lifecyclemodeling.org/specification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microsoft.com/office/2018/10/relationships/comments" Target="../comments/modernComment_13A_FE3A4765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7A_79E6D1AE.xml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94_A5A27385.xml"/><Relationship Id="rId1" Type="http://schemas.openxmlformats.org/officeDocument/2006/relationships/slideLayout" Target="../slideLayouts/slideLayout4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sv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4.png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4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4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4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4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4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4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3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4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4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4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4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3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3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3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9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3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5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3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3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7.png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12.png"/><Relationship Id="rId4" Type="http://schemas.openxmlformats.org/officeDocument/2006/relationships/image" Target="../media/image111.png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16.png"/><Relationship Id="rId4" Type="http://schemas.openxmlformats.org/officeDocument/2006/relationships/image" Target="../media/image115.png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98420-979A-7018-2858-DDC62E3723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1186" y="1553848"/>
            <a:ext cx="9729627" cy="980017"/>
          </a:xfrm>
        </p:spPr>
        <p:txBody>
          <a:bodyPr>
            <a:noAutofit/>
          </a:bodyPr>
          <a:lstStyle/>
          <a:p>
            <a:r>
              <a:rPr lang="en-US" sz="3600" dirty="0"/>
              <a:t>Leveraging Lifecycle Modeling to</a:t>
            </a:r>
            <a:br>
              <a:rPr lang="en-US" sz="3600" dirty="0"/>
            </a:br>
            <a:r>
              <a:rPr lang="en-US" sz="3600" dirty="0"/>
              <a:t>Integrate Systems Engineering and Project Management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780619-7BCF-E6A3-5E8D-A4E053E1BD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62400" y="3669583"/>
            <a:ext cx="4267200" cy="1168400"/>
          </a:xfrm>
        </p:spPr>
        <p:txBody>
          <a:bodyPr/>
          <a:lstStyle/>
          <a:p>
            <a:r>
              <a:rPr lang="en-US" dirty="0"/>
              <a:t>Sarah Rudder, PE, CSEP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3929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E51368-A21A-E5E9-FE14-87F8BF842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1D2F4A-7ED7-EE90-8714-1314377936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6201" y="1476054"/>
            <a:ext cx="11279598" cy="39058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870" dirty="0"/>
              <a:t>8:00am	Mod 2 - Overview of Lifecycle Modeling Language (LML)</a:t>
            </a:r>
          </a:p>
          <a:p>
            <a:pPr marL="0" lvl="1" indent="0">
              <a:buNone/>
            </a:pPr>
            <a:r>
              <a:rPr lang="en-US" dirty="0"/>
              <a:t>8:15am	Mod 3 - Introduction to </a:t>
            </a:r>
            <a:r>
              <a:rPr lang="en-US" dirty="0" err="1"/>
              <a:t>Innoslate</a:t>
            </a:r>
            <a:endParaRPr lang="en-US" dirty="0"/>
          </a:p>
          <a:p>
            <a:pPr marL="0" lvl="1" indent="0">
              <a:buNone/>
            </a:pPr>
            <a:r>
              <a:rPr lang="en-US" dirty="0"/>
              <a:t>8:30am	Mod 4 - Requirements Management (RM)</a:t>
            </a:r>
          </a:p>
          <a:p>
            <a:pPr marL="0" lvl="1" indent="0">
              <a:buNone/>
            </a:pPr>
            <a:r>
              <a:rPr lang="en-US" dirty="0"/>
              <a:t>8:45am	Mod 4 – Lab</a:t>
            </a:r>
          </a:p>
          <a:p>
            <a:pPr marL="0" lvl="1" indent="0">
              <a:buNone/>
            </a:pPr>
            <a:r>
              <a:rPr lang="en-US" b="1" dirty="0"/>
              <a:t>9:15 am BREAK</a:t>
            </a:r>
          </a:p>
          <a:p>
            <a:pPr marL="0" lvl="1" indent="0">
              <a:buNone/>
            </a:pPr>
            <a:r>
              <a:rPr lang="en-US" dirty="0"/>
              <a:t>9:30am	Mod 5 – Lifecycle Management Framework (LMF)</a:t>
            </a:r>
          </a:p>
          <a:p>
            <a:pPr marL="0" lvl="1" indent="0">
              <a:buNone/>
            </a:pPr>
            <a:r>
              <a:rPr lang="en-US" dirty="0"/>
              <a:t>9:45am 	Mod 6 – Structural Architecture</a:t>
            </a:r>
          </a:p>
          <a:p>
            <a:pPr marL="0" lvl="1" indent="0">
              <a:buNone/>
            </a:pPr>
            <a:r>
              <a:rPr lang="en-US" dirty="0"/>
              <a:t>10:00 am	Mod 6 – Lab</a:t>
            </a:r>
          </a:p>
          <a:p>
            <a:pPr marL="0" lvl="1" indent="0">
              <a:buNone/>
            </a:pPr>
            <a:r>
              <a:rPr lang="en-US" b="1" dirty="0"/>
              <a:t>10:45 am BREAK</a:t>
            </a:r>
          </a:p>
          <a:p>
            <a:pPr marL="0" lvl="1" indent="0">
              <a:buNone/>
            </a:pPr>
            <a:r>
              <a:rPr lang="en-US" dirty="0"/>
              <a:t>11:00am	Mod 7 – Functional Architecture</a:t>
            </a:r>
          </a:p>
          <a:p>
            <a:pPr marL="0" indent="0">
              <a:buNone/>
            </a:pPr>
            <a:r>
              <a:rPr lang="en-US" sz="1870" dirty="0"/>
              <a:t>11:15am	Mod 7 – Lab</a:t>
            </a:r>
          </a:p>
          <a:p>
            <a:pPr marL="0" indent="0">
              <a:buNone/>
            </a:pPr>
            <a:r>
              <a:rPr lang="en-US" sz="1870" dirty="0"/>
              <a:t>11:45am 	Mod 8 – Project Management</a:t>
            </a:r>
          </a:p>
          <a:p>
            <a:pPr marL="0" indent="0">
              <a:buNone/>
            </a:pPr>
            <a:endParaRPr lang="en-US" sz="1870" dirty="0"/>
          </a:p>
          <a:p>
            <a:pPr marL="0" indent="0">
              <a:buNone/>
            </a:pPr>
            <a:endParaRPr lang="en-US" dirty="0"/>
          </a:p>
          <a:p>
            <a:pPr marL="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29951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AB1B8FD-7C8A-3FA7-DA35-1AEC8805F6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4798" y="2883425"/>
            <a:ext cx="5638801" cy="424392"/>
          </a:xfrm>
        </p:spPr>
        <p:txBody>
          <a:bodyPr/>
          <a:lstStyle/>
          <a:p>
            <a:r>
              <a:rPr lang="en-US" b="1" dirty="0"/>
              <a:t>Education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5E618-C234-B93A-03A8-4873692EFA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04798" y="3307817"/>
            <a:ext cx="5638801" cy="2355626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133" dirty="0"/>
              <a:t>Colorado State University, PhD, Systems Engineering </a:t>
            </a:r>
            <a:r>
              <a:rPr lang="en-US" sz="2133" b="1" dirty="0"/>
              <a:t>(current)</a:t>
            </a:r>
            <a:endParaRPr lang="en-US" sz="2133" dirty="0"/>
          </a:p>
          <a:p>
            <a:r>
              <a:rPr lang="en-US" sz="2133" dirty="0"/>
              <a:t>University of Tennessee, M.S., Industrial and Systems Engineering</a:t>
            </a:r>
          </a:p>
          <a:p>
            <a:r>
              <a:rPr lang="en-US" sz="2133" dirty="0"/>
              <a:t>Auburn University, B.S., Biosystems Engineering</a:t>
            </a:r>
          </a:p>
          <a:p>
            <a:endParaRPr lang="en-US" sz="2133" dirty="0"/>
          </a:p>
          <a:p>
            <a:endParaRPr lang="en-US" sz="2133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F248E6-AC41-E41C-4E55-6D77BE858B6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63"/>
            <a:ext cx="11531600" cy="762000"/>
          </a:xfrm>
        </p:spPr>
        <p:txBody>
          <a:bodyPr/>
          <a:lstStyle/>
          <a:p>
            <a:r>
              <a:rPr lang="en-US" dirty="0"/>
              <a:t>Instructor Background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4FA56D9-A8B7-C532-2C67-EDFD96ED1639}"/>
              </a:ext>
            </a:extLst>
          </p:cNvPr>
          <p:cNvSpPr txBox="1">
            <a:spLocks/>
          </p:cNvSpPr>
          <p:nvPr/>
        </p:nvSpPr>
        <p:spPr>
          <a:xfrm>
            <a:off x="5958360" y="1467985"/>
            <a:ext cx="5928842" cy="48337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5" indent="-228605" defTabSz="609615">
              <a:spcBef>
                <a:spcPct val="20000"/>
              </a:spcBef>
              <a:buFont typeface="Arial" pitchFamily="34" charset="0"/>
              <a:buChar char="•"/>
              <a:defRPr sz="2133"/>
            </a:lvl1pPr>
            <a:lvl2pPr marL="495313" indent="-190506" defTabSz="609615">
              <a:spcBef>
                <a:spcPct val="20000"/>
              </a:spcBef>
              <a:buFont typeface="Arial" pitchFamily="34" charset="0"/>
              <a:buChar char="–"/>
              <a:defRPr sz="1867"/>
            </a:lvl2pPr>
            <a:lvl3pPr marL="762019" indent="-152404" defTabSz="609615">
              <a:spcBef>
                <a:spcPct val="20000"/>
              </a:spcBef>
              <a:buFont typeface="Arial" pitchFamily="34" charset="0"/>
              <a:buChar char="•"/>
              <a:defRPr sz="1600"/>
            </a:lvl3pPr>
            <a:lvl4pPr marL="1066827" indent="-152404" defTabSz="609615">
              <a:spcBef>
                <a:spcPct val="20000"/>
              </a:spcBef>
              <a:buFont typeface="Arial" pitchFamily="34" charset="0"/>
              <a:buChar char="–"/>
              <a:defRPr sz="1333"/>
            </a:lvl4pPr>
            <a:lvl5pPr marL="1371635" indent="-152404" defTabSz="609615">
              <a:spcBef>
                <a:spcPct val="20000"/>
              </a:spcBef>
              <a:buFont typeface="Arial" pitchFamily="34" charset="0"/>
              <a:buChar char="»"/>
              <a:defRPr sz="1333"/>
            </a:lvl5pPr>
            <a:lvl6pPr marL="1676442" indent="-152404" defTabSz="609615">
              <a:spcBef>
                <a:spcPct val="20000"/>
              </a:spcBef>
              <a:buFont typeface="Arial" pitchFamily="34" charset="0"/>
              <a:buChar char="•"/>
              <a:defRPr sz="1333"/>
            </a:lvl6pPr>
            <a:lvl7pPr marL="1981250" indent="-152404" defTabSz="609615">
              <a:spcBef>
                <a:spcPct val="20000"/>
              </a:spcBef>
              <a:buFont typeface="Arial" pitchFamily="34" charset="0"/>
              <a:buChar char="•"/>
              <a:defRPr sz="1333"/>
            </a:lvl7pPr>
            <a:lvl8pPr marL="2286057" indent="-152404" defTabSz="609615">
              <a:spcBef>
                <a:spcPct val="20000"/>
              </a:spcBef>
              <a:buFont typeface="Arial" pitchFamily="34" charset="0"/>
              <a:buChar char="•"/>
              <a:defRPr sz="1333"/>
            </a:lvl8pPr>
            <a:lvl9pPr marL="2590865" indent="-152404" defTabSz="609615">
              <a:spcBef>
                <a:spcPct val="20000"/>
              </a:spcBef>
              <a:buFont typeface="Arial" pitchFamily="34" charset="0"/>
              <a:buChar char="•"/>
              <a:defRPr sz="1333"/>
            </a:lvl9pPr>
          </a:lstStyle>
          <a:p>
            <a:r>
              <a:rPr lang="en-US" dirty="0"/>
              <a:t>Principal Systems Engineer, Enola Technologies </a:t>
            </a:r>
            <a:r>
              <a:rPr lang="en-US" b="1" dirty="0"/>
              <a:t>(current)</a:t>
            </a:r>
            <a:endParaRPr lang="en-US" dirty="0"/>
          </a:p>
          <a:p>
            <a:r>
              <a:rPr lang="en-US" dirty="0"/>
              <a:t>Collaborative Engagement Capability (CEC), Raytheon Missiles and Defense (RMD), St. Pete, FL</a:t>
            </a:r>
          </a:p>
          <a:p>
            <a:r>
              <a:rPr lang="en-US" dirty="0"/>
              <a:t>Raytheon Intelligence and Space (RIS), Richardson, TX</a:t>
            </a:r>
          </a:p>
          <a:p>
            <a:r>
              <a:rPr lang="en-US" dirty="0"/>
              <a:t>Uranium Processing Facility (UPF), Oak Ridge, TN</a:t>
            </a:r>
          </a:p>
          <a:p>
            <a:r>
              <a:rPr lang="en-US" dirty="0"/>
              <a:t>Hanford Tank Waste Treatment and Immobilization Plant (WTP), Hanford WA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4B4AFEE-4C8A-3AE2-8EFC-3EC9FCAAA1B4}"/>
              </a:ext>
            </a:extLst>
          </p:cNvPr>
          <p:cNvSpPr txBox="1">
            <a:spLocks/>
          </p:cNvSpPr>
          <p:nvPr/>
        </p:nvSpPr>
        <p:spPr>
          <a:xfrm>
            <a:off x="5958359" y="1043593"/>
            <a:ext cx="5638801" cy="42439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2133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808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333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615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23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230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4038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45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653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461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Experience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15C1FF3-EB6F-811B-4D8F-EB5B7B30CE08}"/>
              </a:ext>
            </a:extLst>
          </p:cNvPr>
          <p:cNvSpPr txBox="1">
            <a:spLocks/>
          </p:cNvSpPr>
          <p:nvPr/>
        </p:nvSpPr>
        <p:spPr>
          <a:xfrm>
            <a:off x="304797" y="1043593"/>
            <a:ext cx="5638801" cy="42439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2133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808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333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615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23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230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4038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45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653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461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SE Community Involvement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24483C-548A-568B-1992-708E2522090B}"/>
              </a:ext>
            </a:extLst>
          </p:cNvPr>
          <p:cNvSpPr txBox="1"/>
          <p:nvPr/>
        </p:nvSpPr>
        <p:spPr>
          <a:xfrm>
            <a:off x="304797" y="1467985"/>
            <a:ext cx="552103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Active Member, INCOSE Orlando Chapter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Active Member, INCOSE Space Systems Working Group (SSWG)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Secretary, Lifecycle Modeling Organization</a:t>
            </a:r>
          </a:p>
        </p:txBody>
      </p:sp>
    </p:spTree>
    <p:extLst>
      <p:ext uri="{BB962C8B-B14F-4D97-AF65-F5344CB8AC3E}">
        <p14:creationId xmlns:p14="http://schemas.microsoft.com/office/powerpoint/2010/main" val="40693957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B1556B-22DA-8FFF-6DA5-F011F2AE6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Rules of Engagement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B4E310-0E44-457B-16D9-22BAA9F05D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4882" y="1519384"/>
            <a:ext cx="10042236" cy="4576616"/>
          </a:xfrm>
        </p:spPr>
        <p:txBody>
          <a:bodyPr>
            <a:normAutofit/>
          </a:bodyPr>
          <a:lstStyle/>
          <a:p>
            <a:r>
              <a:rPr lang="en-US" dirty="0"/>
              <a:t>I encourage listening to the lecture portions prior to beginning the lab sections</a:t>
            </a:r>
          </a:p>
          <a:p>
            <a:endParaRPr lang="en-US" dirty="0"/>
          </a:p>
          <a:p>
            <a:r>
              <a:rPr lang="en-US" dirty="0"/>
              <a:t>Please hold questions until the end of each module lectures</a:t>
            </a:r>
          </a:p>
          <a:p>
            <a:endParaRPr lang="en-US" dirty="0"/>
          </a:p>
          <a:p>
            <a:r>
              <a:rPr lang="en-US" dirty="0"/>
              <a:t>Participate in the lab for a comprehensive learning experience</a:t>
            </a:r>
          </a:p>
          <a:p>
            <a:endParaRPr lang="en-US" dirty="0"/>
          </a:p>
          <a:p>
            <a:r>
              <a:rPr lang="en-US" dirty="0"/>
              <a:t>Follow-up questions can be directed to </a:t>
            </a:r>
            <a:r>
              <a:rPr lang="en-US" dirty="0" err="1"/>
              <a:t>sarah.rudder@enolatech.com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06766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5FB67-4900-0BB5-BD23-DF64CA5E4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LML Open-source Resources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4DBCFD-0FAA-6883-8736-BCD6EC92AE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1001" y="2314820"/>
            <a:ext cx="1836919" cy="168740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63ABE3C-DA57-F4F0-41D2-AEEF14C521E6}"/>
              </a:ext>
            </a:extLst>
          </p:cNvPr>
          <p:cNvSpPr txBox="1"/>
          <p:nvPr/>
        </p:nvSpPr>
        <p:spPr>
          <a:xfrm>
            <a:off x="1046922" y="1298713"/>
            <a:ext cx="734170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Lifecycle Modeling Organization (LMO) - </a:t>
            </a:r>
            <a:r>
              <a:rPr lang="en-US" dirty="0">
                <a:solidFill>
                  <a:srgbClr val="0000F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https://www.lifecyclemodeling.org/</a:t>
            </a:r>
            <a:endParaRPr lang="en-US" dirty="0">
              <a:solidFill>
                <a:srgbClr val="0000FF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LML v2 specification - </a:t>
            </a:r>
            <a:r>
              <a:rPr lang="en-US" dirty="0">
                <a:hlinkClick r:id="rId4"/>
              </a:rPr>
              <a:t>https://www.lifecyclemodeling.org/specification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Lifecycle Model-based Systems Engineering (LMBSE) - </a:t>
            </a:r>
            <a:r>
              <a:rPr lang="en-US" dirty="0">
                <a:hlinkClick r:id="rId5"/>
              </a:rPr>
              <a:t>https://www.lmbse.com/courses</a:t>
            </a:r>
            <a:r>
              <a:rPr lang="en-U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SPEC Innovations Webinars - </a:t>
            </a:r>
            <a:r>
              <a:rPr lang="en-US" dirty="0">
                <a:hlinkClick r:id="rId6"/>
              </a:rPr>
              <a:t>https://specinnovations.com/webinars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162105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1AF34B-964A-43CF-AD7A-0545A7B9701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400" dirty="0"/>
              <a:t>“Model-based systems engineering (MBSE) is the formalized application of modeling to support </a:t>
            </a:r>
            <a:r>
              <a:rPr lang="en-US" sz="2400" b="1" dirty="0"/>
              <a:t>system requirements, design, analysis, verification and validation activities </a:t>
            </a:r>
            <a:r>
              <a:rPr lang="en-US" sz="2400" dirty="0"/>
              <a:t>beginning in the conceptual design phase and continuing throughout development and later life cycle phases.”</a:t>
            </a:r>
          </a:p>
          <a:p>
            <a:pPr lvl="1"/>
            <a:r>
              <a:rPr lang="en-US" sz="2000" dirty="0"/>
              <a:t>INCOSE SE Vision 2020 (INCOSE-TP-2004-004-02, Sep 2007)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9C73C1D-3BFF-445F-BD35-76608D54B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INCOSE MBSE Definition</a:t>
            </a:r>
          </a:p>
        </p:txBody>
      </p:sp>
      <p:pic>
        <p:nvPicPr>
          <p:cNvPr id="1026" name="Picture 2" descr="INCOSE-logo-2016">
            <a:extLst>
              <a:ext uri="{FF2B5EF4-FFF2-40B4-BE49-F238E27FC236}">
                <a16:creationId xmlns:a16="http://schemas.microsoft.com/office/drawing/2014/main" id="{4115EEDE-F89B-4418-9F06-1E40B2774C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3125" y="1904353"/>
            <a:ext cx="5061788" cy="33956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904732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49457E-410B-1CE1-5852-61B3146306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2401" y="952500"/>
            <a:ext cx="11775872" cy="767757"/>
          </a:xfrm>
        </p:spPr>
        <p:txBody>
          <a:bodyPr>
            <a:normAutofit/>
          </a:bodyPr>
          <a:lstStyle/>
          <a:p>
            <a:r>
              <a:rPr lang="en-US" dirty="0"/>
              <a:t>Modeling languages capture a formalized ontology (i.e., internal logic) to capture and connect relationships along with standards to facilitate data sharing between tools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7B92B8-1E76-07C9-8497-7CA896B12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0" y="0"/>
            <a:ext cx="10134599" cy="952500"/>
          </a:xfrm>
        </p:spPr>
        <p:txBody>
          <a:bodyPr anchor="ctr">
            <a:normAutofit/>
          </a:bodyPr>
          <a:lstStyle/>
          <a:p>
            <a:r>
              <a:rPr lang="en-US"/>
              <a:t>MBSE Success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25DD5E-EE15-77EA-25D7-7411E1431B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0612" y="1720257"/>
            <a:ext cx="7361904" cy="485972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896130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1AF34B-964A-43CF-AD7A-0545A7B9701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The LML is a standardized language for applying MBSE</a:t>
            </a:r>
          </a:p>
          <a:p>
            <a:r>
              <a:rPr lang="en-US" dirty="0">
                <a:ea typeface="Calibri"/>
                <a:cs typeface="Calibri"/>
              </a:rPr>
              <a:t>Documentation elements</a:t>
            </a:r>
          </a:p>
          <a:p>
            <a:r>
              <a:rPr lang="en-US" dirty="0">
                <a:ea typeface="Calibri"/>
                <a:cs typeface="Calibri"/>
              </a:rPr>
              <a:t>Program entities</a:t>
            </a:r>
          </a:p>
          <a:p>
            <a:r>
              <a:rPr lang="en-US" dirty="0">
                <a:ea typeface="Calibri"/>
                <a:cs typeface="Calibri"/>
              </a:rPr>
              <a:t>Physical Model</a:t>
            </a:r>
          </a:p>
          <a:p>
            <a:pPr lvl="1">
              <a:buFont typeface="Courier New" panose="05000000000000000000" pitchFamily="2" charset="2"/>
              <a:buChar char="o"/>
            </a:pPr>
            <a:r>
              <a:rPr lang="en-US" dirty="0">
                <a:ea typeface="Calibri"/>
                <a:cs typeface="Calibri"/>
              </a:rPr>
              <a:t>Assets</a:t>
            </a:r>
          </a:p>
          <a:p>
            <a:r>
              <a:rPr lang="en-US" dirty="0">
                <a:ea typeface="Calibri"/>
                <a:cs typeface="Calibri"/>
              </a:rPr>
              <a:t>Functional Model</a:t>
            </a:r>
          </a:p>
          <a:p>
            <a:pPr lvl="1">
              <a:buFont typeface="Courier New" panose="05000000000000000000" pitchFamily="2" charset="2"/>
              <a:buChar char="o"/>
            </a:pPr>
            <a:r>
              <a:rPr lang="en-US" dirty="0">
                <a:ea typeface="Calibri"/>
                <a:cs typeface="Calibri"/>
              </a:rPr>
              <a:t>Actions</a:t>
            </a:r>
          </a:p>
          <a:p>
            <a:pPr lvl="1">
              <a:buFont typeface="Courier New" panose="05000000000000000000" pitchFamily="2" charset="2"/>
              <a:buChar char="o"/>
            </a:pPr>
            <a:r>
              <a:rPr lang="en-US" dirty="0">
                <a:ea typeface="Calibri"/>
                <a:cs typeface="Calibri"/>
              </a:rPr>
              <a:t>Inputs/Outputs</a:t>
            </a:r>
          </a:p>
          <a:p>
            <a:pPr lvl="1">
              <a:buFont typeface="Courier New" panose="05000000000000000000" pitchFamily="2" charset="2"/>
              <a:buChar char="o"/>
            </a:pPr>
            <a:endParaRPr lang="en-US" dirty="0">
              <a:ea typeface="Calibri"/>
              <a:cs typeface="Calibri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9C73C1D-3BFF-445F-BD35-76608D54B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LML Overview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BFD6EDE-D3B6-802C-6792-B65C3983B1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244" y="1703514"/>
            <a:ext cx="5944967" cy="391655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599667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6D39F71-F5B7-8DF0-7DAE-6ACA95E126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663" y="551838"/>
            <a:ext cx="10834674" cy="522135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576429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8C59739-15AA-12C2-3B0A-17B4B3383B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0978" y="542254"/>
            <a:ext cx="6550043" cy="577349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0844433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4EB58-59D9-296F-999D-899458D17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LML Metamodel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732DF4-1E89-80ED-C457-046C6E668E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098680"/>
            <a:ext cx="7772400" cy="477536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472534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C18D6-7434-BB67-3D43-F5728A596F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Product Lifecycle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AAB966A-721C-1C53-A777-3DC87EDC61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921" y="2271543"/>
            <a:ext cx="11938158" cy="207911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737488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E60E5-86DD-6681-2CDD-64F7FC83B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D2C09E-0674-DC60-FAE6-B098FD0787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6100" y="1143000"/>
            <a:ext cx="5596329" cy="4489015"/>
          </a:xfrm>
        </p:spPr>
        <p:txBody>
          <a:bodyPr>
            <a:normAutofit/>
          </a:bodyPr>
          <a:lstStyle/>
          <a:p>
            <a:r>
              <a:rPr lang="en-US" sz="2400" u="none" strike="noStrike" dirty="0">
                <a:effectLst/>
              </a:rPr>
              <a:t>An </a:t>
            </a:r>
            <a:r>
              <a:rPr lang="en-US" sz="2400" b="1" u="none" strike="noStrike" dirty="0">
                <a:effectLst/>
              </a:rPr>
              <a:t>Action </a:t>
            </a:r>
            <a:r>
              <a:rPr lang="en-US" sz="2400" u="none" strike="noStrike" dirty="0">
                <a:effectLst/>
              </a:rPr>
              <a:t>entity specifies the mechanism by which inputs are transformed into outputs</a:t>
            </a:r>
          </a:p>
          <a:p>
            <a:endParaRPr lang="en-US" sz="2400" u="none" strike="noStrike" dirty="0">
              <a:effectLst/>
            </a:endParaRPr>
          </a:p>
          <a:p>
            <a:pPr lvl="1"/>
            <a:r>
              <a:rPr lang="en-US" sz="2000" dirty="0"/>
              <a:t>A </a:t>
            </a:r>
            <a:r>
              <a:rPr lang="en-US" sz="2000" b="1" dirty="0"/>
              <a:t>Task </a:t>
            </a:r>
            <a:r>
              <a:rPr lang="en-US" sz="2000" dirty="0"/>
              <a:t>entity specifies an Action that must be completed for a particular project. It serves as a "</a:t>
            </a:r>
            <a:r>
              <a:rPr lang="en-US" sz="2000" dirty="0" err="1"/>
              <a:t>ToDo</a:t>
            </a:r>
            <a:r>
              <a:rPr lang="en-US" sz="2000" dirty="0"/>
              <a:t>" for the Project</a:t>
            </a:r>
          </a:p>
          <a:p>
            <a:pPr lvl="1"/>
            <a:endParaRPr lang="en-US" sz="1800" dirty="0"/>
          </a:p>
          <a:p>
            <a:pPr lvl="1"/>
            <a:r>
              <a:rPr lang="en-US" sz="2000" dirty="0"/>
              <a:t>A </a:t>
            </a:r>
            <a:r>
              <a:rPr lang="en-US" sz="2000" b="1" dirty="0"/>
              <a:t>Test Case </a:t>
            </a:r>
            <a:r>
              <a:rPr lang="en-US" sz="2000" dirty="0"/>
              <a:t>entity specifies a verification or validation task, and its expected and actual results</a:t>
            </a:r>
            <a:endParaRPr lang="en-US" sz="2000" b="0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pPr lvl="1"/>
            <a:endParaRPr lang="en-US" sz="1800" b="0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endParaRPr lang="en-US" sz="24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  <a:p>
            <a:endParaRPr lang="en-US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897C27-0A77-81B2-A4C5-FBCEBC212883}"/>
              </a:ext>
            </a:extLst>
          </p:cNvPr>
          <p:cNvSpPr txBox="1"/>
          <p:nvPr/>
        </p:nvSpPr>
        <p:spPr>
          <a:xfrm>
            <a:off x="7213600" y="1617792"/>
            <a:ext cx="383540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Event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Capability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Activity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Function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Process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V&amp;V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Demonstration</a:t>
            </a:r>
          </a:p>
        </p:txBody>
      </p:sp>
    </p:spTree>
    <p:extLst>
      <p:ext uri="{BB962C8B-B14F-4D97-AF65-F5344CB8AC3E}">
        <p14:creationId xmlns:p14="http://schemas.microsoft.com/office/powerpoint/2010/main" val="42427530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23BD49-06F4-A002-AEA8-8076A64781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56381"/>
            <a:ext cx="5157787" cy="823912"/>
          </a:xfrm>
        </p:spPr>
        <p:txBody>
          <a:bodyPr/>
          <a:lstStyle/>
          <a:p>
            <a:r>
              <a:rPr lang="en-US" dirty="0"/>
              <a:t>Artifact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1B4529-8392-B83C-2A34-35F6556817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1250576"/>
            <a:ext cx="5157787" cy="3684588"/>
          </a:xfrm>
        </p:spPr>
        <p:txBody>
          <a:bodyPr/>
          <a:lstStyle/>
          <a:p>
            <a:r>
              <a:rPr lang="en-US" dirty="0"/>
              <a:t>An </a:t>
            </a:r>
            <a:r>
              <a:rPr lang="en-US" b="1" dirty="0"/>
              <a:t>Artifact </a:t>
            </a:r>
            <a:r>
              <a:rPr lang="en-US" dirty="0"/>
              <a:t>entity specifies a document or other source of information that is referenced by or generated in the knowledge base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763FF9-8CBE-9547-0E03-02CE9B308D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56381"/>
            <a:ext cx="5183188" cy="823912"/>
          </a:xfrm>
        </p:spPr>
        <p:txBody>
          <a:bodyPr/>
          <a:lstStyle/>
          <a:p>
            <a:r>
              <a:rPr lang="en-US" dirty="0"/>
              <a:t>Asset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0FAD34-2B31-7281-E0F8-5783BD77932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1250576"/>
            <a:ext cx="5183188" cy="4939087"/>
          </a:xfrm>
        </p:spPr>
        <p:txBody>
          <a:bodyPr/>
          <a:lstStyle/>
          <a:p>
            <a:r>
              <a:rPr lang="en-US" dirty="0"/>
              <a:t>An </a:t>
            </a:r>
            <a:r>
              <a:rPr lang="en-US" b="1" dirty="0"/>
              <a:t>Asset</a:t>
            </a:r>
            <a:r>
              <a:rPr lang="en-US" dirty="0"/>
              <a:t> entity specifies an object, person, or organization that performs </a:t>
            </a:r>
            <a:r>
              <a:rPr lang="en-US" b="1" dirty="0"/>
              <a:t>Actions</a:t>
            </a:r>
            <a:r>
              <a:rPr lang="en-US" dirty="0"/>
              <a:t>, such as a system, subsystem, component, or element</a:t>
            </a:r>
          </a:p>
          <a:p>
            <a:endParaRPr lang="en-US" dirty="0"/>
          </a:p>
          <a:p>
            <a:r>
              <a:rPr lang="en-US" dirty="0"/>
              <a:t>A </a:t>
            </a:r>
            <a:r>
              <a:rPr lang="en-US" b="1" dirty="0"/>
              <a:t>Resource</a:t>
            </a:r>
            <a:r>
              <a:rPr lang="en-US" dirty="0"/>
              <a:t> entity specifies a consumable or producible </a:t>
            </a:r>
            <a:r>
              <a:rPr lang="en-US" b="1" dirty="0"/>
              <a:t>Asset</a:t>
            </a:r>
            <a:endParaRPr lang="en-US" b="1" dirty="0">
              <a:solidFill>
                <a:srgbClr val="000000"/>
              </a:solidFill>
              <a:latin typeface="Calibri"/>
            </a:endParaRPr>
          </a:p>
          <a:p>
            <a:endParaRPr lang="en-US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endParaRPr lang="en-US" dirty="0"/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4AEA6C-BA8C-2ABF-ECD2-328FA24F16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12" y="3429000"/>
            <a:ext cx="4789416" cy="236759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256602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274812-674A-1107-C151-49FAA74974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3589" y="466512"/>
            <a:ext cx="5157787" cy="823912"/>
          </a:xfrm>
        </p:spPr>
        <p:txBody>
          <a:bodyPr/>
          <a:lstStyle/>
          <a:p>
            <a:r>
              <a:rPr lang="en-US" dirty="0"/>
              <a:t>Characteristic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80BDD7-B3CA-5DAB-2DAF-F82D476097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3589" y="1290424"/>
            <a:ext cx="5157787" cy="4513476"/>
          </a:xfrm>
        </p:spPr>
        <p:txBody>
          <a:bodyPr>
            <a:normAutofit/>
          </a:bodyPr>
          <a:lstStyle/>
          <a:p>
            <a:r>
              <a:rPr lang="en-US" dirty="0"/>
              <a:t>A </a:t>
            </a:r>
            <a:r>
              <a:rPr lang="en-US" b="1" dirty="0"/>
              <a:t>Characteristic </a:t>
            </a:r>
            <a:r>
              <a:rPr lang="en-US" dirty="0"/>
              <a:t>entity specifies or captures properties of an entity</a:t>
            </a:r>
          </a:p>
          <a:p>
            <a:endParaRPr lang="en-US" dirty="0"/>
          </a:p>
          <a:p>
            <a:r>
              <a:rPr lang="en-US" dirty="0"/>
              <a:t>Examples include: </a:t>
            </a:r>
          </a:p>
          <a:p>
            <a:pPr lvl="1"/>
            <a:r>
              <a:rPr lang="en-US" dirty="0"/>
              <a:t>Attribute</a:t>
            </a:r>
          </a:p>
          <a:p>
            <a:pPr lvl="1"/>
            <a:r>
              <a:rPr lang="en-US" dirty="0"/>
              <a:t>Category</a:t>
            </a:r>
          </a:p>
          <a:p>
            <a:pPr lvl="1"/>
            <a:r>
              <a:rPr lang="en-US" dirty="0"/>
              <a:t>Power</a:t>
            </a:r>
          </a:p>
          <a:p>
            <a:pPr lvl="1"/>
            <a:r>
              <a:rPr lang="en-US" dirty="0"/>
              <a:t>Color</a:t>
            </a:r>
          </a:p>
          <a:p>
            <a:pPr lvl="1"/>
            <a:r>
              <a:rPr lang="en-US" dirty="0"/>
              <a:t>Role</a:t>
            </a:r>
          </a:p>
          <a:p>
            <a:pPr lvl="1"/>
            <a:r>
              <a:rPr lang="en-US" dirty="0"/>
              <a:t>Size</a:t>
            </a:r>
          </a:p>
          <a:p>
            <a:pPr lvl="1"/>
            <a:r>
              <a:rPr lang="en-US" dirty="0"/>
              <a:t>Weight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55AA6D-4349-5F6A-0091-4D456C654F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70625" y="466512"/>
            <a:ext cx="5183188" cy="823912"/>
          </a:xfrm>
        </p:spPr>
        <p:txBody>
          <a:bodyPr/>
          <a:lstStyle/>
          <a:p>
            <a:r>
              <a:rPr lang="en-US" dirty="0"/>
              <a:t>Measure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50B279-4B63-0FC8-89B0-04641B7B4D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70625" y="1290424"/>
            <a:ext cx="5183188" cy="3684588"/>
          </a:xfrm>
        </p:spPr>
        <p:txBody>
          <a:bodyPr>
            <a:normAutofit/>
          </a:bodyPr>
          <a:lstStyle/>
          <a:p>
            <a:r>
              <a:rPr lang="en-US" dirty="0"/>
              <a:t>A </a:t>
            </a:r>
            <a:r>
              <a:rPr lang="en-US" b="1" dirty="0"/>
              <a:t>Measure</a:t>
            </a:r>
            <a:r>
              <a:rPr lang="en-US" dirty="0"/>
              <a:t> entity specifies the set of measurements used to provide insight into the system definition</a:t>
            </a:r>
            <a:endParaRPr lang="en-US" dirty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C83D95A-DBB9-0CBF-7610-4E9E836CED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2437" y="2558479"/>
            <a:ext cx="3181350" cy="404618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410692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21D03-4ECB-C5B7-677A-4FD848CDE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06F47F-9598-B1F4-4C84-BB355CEC47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943601" cy="5213350"/>
          </a:xfrm>
        </p:spPr>
        <p:txBody>
          <a:bodyPr>
            <a:normAutofit/>
          </a:bodyPr>
          <a:lstStyle/>
          <a:p>
            <a:r>
              <a:rPr lang="en-US" sz="2400" u="none" strike="noStrike" dirty="0">
                <a:effectLst/>
              </a:rPr>
              <a:t>A </a:t>
            </a:r>
            <a:r>
              <a:rPr lang="en-US" sz="2400" b="1" u="none" strike="noStrike" dirty="0">
                <a:effectLst/>
              </a:rPr>
              <a:t>Connection </a:t>
            </a:r>
            <a:r>
              <a:rPr lang="en-US" sz="2400" u="none" strike="noStrike" dirty="0">
                <a:effectLst/>
              </a:rPr>
              <a:t>entity specifies the means for relating Asset instances to each other.</a:t>
            </a:r>
            <a:endParaRPr lang="en-US" sz="24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  <a:p>
            <a:pPr lvl="1"/>
            <a:r>
              <a:rPr lang="en-US" sz="2000" u="none" strike="noStrike" dirty="0">
                <a:effectLst/>
              </a:rPr>
              <a:t>A </a:t>
            </a:r>
            <a:r>
              <a:rPr lang="en-US" sz="2000" b="1" u="none" strike="noStrike" dirty="0">
                <a:effectLst/>
              </a:rPr>
              <a:t>Conduit </a:t>
            </a:r>
            <a:r>
              <a:rPr lang="en-US" sz="2000" u="none" strike="noStrike" dirty="0">
                <a:effectLst/>
              </a:rPr>
              <a:t>entity specifies the means for physically transporting </a:t>
            </a:r>
            <a:r>
              <a:rPr lang="en-US" sz="2000" b="1" u="none" strike="noStrike" dirty="0">
                <a:effectLst/>
              </a:rPr>
              <a:t>Input / Output </a:t>
            </a:r>
            <a:r>
              <a:rPr lang="en-US" sz="2000" u="none" strike="noStrike" dirty="0">
                <a:effectLst/>
              </a:rPr>
              <a:t>entities between </a:t>
            </a:r>
            <a:r>
              <a:rPr lang="en-US" sz="2000" b="1" u="none" strike="noStrike" dirty="0">
                <a:effectLst/>
              </a:rPr>
              <a:t>Asset </a:t>
            </a:r>
            <a:r>
              <a:rPr lang="en-US" sz="2000" u="none" strike="noStrike" dirty="0">
                <a:effectLst/>
              </a:rPr>
              <a:t>entities</a:t>
            </a:r>
          </a:p>
          <a:p>
            <a:pPr lvl="1"/>
            <a:r>
              <a:rPr lang="en-US" sz="2000" dirty="0">
                <a:effectLst/>
                <a:cs typeface="Calibri" panose="020F0502020204030204" pitchFamily="34" charset="0"/>
              </a:rPr>
              <a:t>A </a:t>
            </a:r>
            <a:r>
              <a:rPr lang="en-US" sz="2000" b="1" dirty="0">
                <a:effectLst/>
                <a:cs typeface="Calibri" panose="020F0502020204030204" pitchFamily="34" charset="0"/>
              </a:rPr>
              <a:t>Dependency </a:t>
            </a:r>
            <a:r>
              <a:rPr lang="en-US" sz="2000" dirty="0">
                <a:effectLst/>
                <a:cs typeface="Calibri" panose="020F0502020204030204" pitchFamily="34" charset="0"/>
              </a:rPr>
              <a:t>entity specifies a connection between two </a:t>
            </a:r>
            <a:r>
              <a:rPr lang="en-US" sz="2000" b="1" dirty="0">
                <a:effectLst/>
                <a:cs typeface="Calibri" panose="020F0502020204030204" pitchFamily="34" charset="0"/>
              </a:rPr>
              <a:t>Tasks</a:t>
            </a:r>
            <a:r>
              <a:rPr lang="en-US" sz="2000" dirty="0">
                <a:effectLst/>
                <a:cs typeface="Calibri" panose="020F0502020204030204" pitchFamily="34" charset="0"/>
              </a:rPr>
              <a:t> in a </a:t>
            </a:r>
            <a:r>
              <a:rPr lang="en-US" sz="2000" b="1" dirty="0">
                <a:effectLst/>
                <a:cs typeface="Calibri" panose="020F0502020204030204" pitchFamily="34" charset="0"/>
              </a:rPr>
              <a:t>Gantt Chart</a:t>
            </a:r>
          </a:p>
          <a:p>
            <a:pPr lvl="1"/>
            <a:r>
              <a:rPr lang="en-US" sz="2000" u="none" strike="noStrike" dirty="0">
                <a:effectLst/>
              </a:rPr>
              <a:t>A </a:t>
            </a:r>
            <a:r>
              <a:rPr lang="en-US" sz="2000" b="1" u="none" strike="noStrike" dirty="0">
                <a:effectLst/>
              </a:rPr>
              <a:t>Logical </a:t>
            </a:r>
            <a:r>
              <a:rPr lang="en-US" sz="2000" u="none" strike="noStrike" dirty="0">
                <a:effectLst/>
              </a:rPr>
              <a:t>entity represents the abstraction of the relationship between two entities (e.g., </a:t>
            </a:r>
            <a:r>
              <a:rPr lang="en-US" sz="2000" b="1" u="none" strike="noStrike" dirty="0">
                <a:effectLst/>
              </a:rPr>
              <a:t>Asset </a:t>
            </a:r>
            <a:r>
              <a:rPr lang="en-US" sz="2000" u="none" strike="noStrike" dirty="0">
                <a:effectLst/>
              </a:rPr>
              <a:t>entities with the type “</a:t>
            </a:r>
            <a:r>
              <a:rPr lang="en-US" sz="2000" b="1" u="none" strike="noStrike" dirty="0">
                <a:effectLst/>
              </a:rPr>
              <a:t>Entity</a:t>
            </a:r>
            <a:r>
              <a:rPr lang="en-US" sz="2000" u="none" strike="noStrike" dirty="0">
                <a:effectLst/>
              </a:rPr>
              <a:t>”)</a:t>
            </a:r>
            <a:endParaRPr lang="en-US" sz="2000" b="0" i="0" u="none" strike="noStrike" dirty="0">
              <a:solidFill>
                <a:srgbClr val="000000"/>
              </a:solidFill>
              <a:effectLst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E8CA5C-3386-E68C-0436-43D8F05D3B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963049"/>
            <a:ext cx="5825923" cy="335324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5610145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B1B67-9C34-CA9D-51EC-BD4D1CF61A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183092"/>
            <a:ext cx="11531600" cy="762000"/>
          </a:xfrm>
        </p:spPr>
        <p:txBody>
          <a:bodyPr/>
          <a:lstStyle/>
          <a:p>
            <a:r>
              <a:rPr lang="en-US" dirty="0"/>
              <a:t>Cost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D8E1E8-7033-5189-9C18-F362D4E71D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0200" y="1016212"/>
            <a:ext cx="5446427" cy="5213350"/>
          </a:xfrm>
        </p:spPr>
        <p:txBody>
          <a:bodyPr/>
          <a:lstStyle/>
          <a:p>
            <a:r>
              <a:rPr lang="en-US" sz="2800" u="none" strike="noStrike" dirty="0">
                <a:effectLst/>
              </a:rPr>
              <a:t>A </a:t>
            </a:r>
            <a:r>
              <a:rPr lang="en-US" sz="2800" b="1" u="none" strike="noStrike" dirty="0">
                <a:effectLst/>
              </a:rPr>
              <a:t>Cost</a:t>
            </a:r>
            <a:r>
              <a:rPr lang="en-US" sz="2800" u="none" strike="noStrike" dirty="0">
                <a:effectLst/>
              </a:rPr>
              <a:t> entity specifies the outlay or expenditure made to achieve an objective associated with another entity</a:t>
            </a:r>
          </a:p>
          <a:p>
            <a:endParaRPr lang="en-US" sz="2800" u="none" strike="noStrike" dirty="0">
              <a:effectLst/>
            </a:endParaRPr>
          </a:p>
          <a:p>
            <a:r>
              <a:rPr lang="en-US" sz="2800" b="0" i="0" dirty="0">
                <a:solidFill>
                  <a:srgbClr val="000000"/>
                </a:solidFill>
              </a:rPr>
              <a:t>Types of cost include: earned value, actual, planned</a:t>
            </a:r>
            <a:endParaRPr lang="en-US" sz="2800" b="0" i="0" u="none" strike="noStrike" dirty="0">
              <a:solidFill>
                <a:srgbClr val="000000"/>
              </a:solidFill>
              <a:effectLst/>
            </a:endParaRP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6DFA07-5745-FEF4-C810-E4196142ED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2522" y="1016212"/>
            <a:ext cx="2800610" cy="553263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505982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7757A0-A117-ADE3-5822-99BC905301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3589" y="357330"/>
            <a:ext cx="5157787" cy="823912"/>
          </a:xfrm>
        </p:spPr>
        <p:txBody>
          <a:bodyPr/>
          <a:lstStyle/>
          <a:p>
            <a:r>
              <a:rPr lang="en-US" dirty="0"/>
              <a:t>Decision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6A3A1B-60D2-EB8F-74C3-55993BEB03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3589" y="1181242"/>
            <a:ext cx="5157787" cy="3684588"/>
          </a:xfrm>
        </p:spPr>
        <p:txBody>
          <a:bodyPr/>
          <a:lstStyle/>
          <a:p>
            <a:r>
              <a:rPr lang="en-US" dirty="0"/>
              <a:t>A </a:t>
            </a:r>
            <a:r>
              <a:rPr lang="en-US" b="1" dirty="0"/>
              <a:t>Decision </a:t>
            </a:r>
            <a:r>
              <a:rPr lang="en-US" dirty="0"/>
              <a:t>entity specifies a challenge and its resolution</a:t>
            </a:r>
          </a:p>
          <a:p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ADBACF-B3D5-50ED-992B-47FBC459D3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70625" y="357330"/>
            <a:ext cx="5183188" cy="823912"/>
          </a:xfrm>
        </p:spPr>
        <p:txBody>
          <a:bodyPr/>
          <a:lstStyle/>
          <a:p>
            <a:r>
              <a:rPr lang="en-US" dirty="0"/>
              <a:t>Input/Output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9CEB00-1E76-10C4-A526-B88AA7B875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70625" y="1181242"/>
            <a:ext cx="5183188" cy="3684588"/>
          </a:xfrm>
        </p:spPr>
        <p:txBody>
          <a:bodyPr/>
          <a:lstStyle/>
          <a:p>
            <a:r>
              <a:rPr lang="en-US" dirty="0"/>
              <a:t>An </a:t>
            </a:r>
            <a:r>
              <a:rPr lang="en-US" b="1" dirty="0"/>
              <a:t>Input/Output </a:t>
            </a:r>
            <a:r>
              <a:rPr lang="en-US" dirty="0"/>
              <a:t>entity specifies the information, data, or object input to, trigger, or output from an Action</a:t>
            </a:r>
          </a:p>
          <a:p>
            <a:r>
              <a:rPr lang="en-US" dirty="0"/>
              <a:t>Can be logical or physical</a:t>
            </a:r>
          </a:p>
          <a:p>
            <a:r>
              <a:rPr lang="en-US" dirty="0"/>
              <a:t>Types include items, data, energy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96810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598B42-CB99-C7F7-C5DC-AEEE590CA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Location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D70D0F-870D-DB94-9BB3-133888EAB1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4147" y="1032168"/>
            <a:ext cx="4606978" cy="5213350"/>
          </a:xfrm>
        </p:spPr>
        <p:txBody>
          <a:bodyPr>
            <a:normAutofit fontScale="92500" lnSpcReduction="10000"/>
          </a:bodyPr>
          <a:lstStyle/>
          <a:p>
            <a:r>
              <a:rPr lang="en-US" sz="2800" u="none" strike="noStrike" dirty="0">
                <a:effectLst/>
              </a:rPr>
              <a:t>A </a:t>
            </a:r>
            <a:r>
              <a:rPr lang="en-US" sz="2800" b="1" u="none" strike="noStrike" dirty="0">
                <a:effectLst/>
              </a:rPr>
              <a:t>Location</a:t>
            </a:r>
            <a:r>
              <a:rPr lang="en-US" sz="2800" u="none" strike="noStrike" dirty="0">
                <a:effectLst/>
              </a:rPr>
              <a:t> entity specifies where an entity resides</a:t>
            </a:r>
          </a:p>
          <a:p>
            <a:pPr lvl="1"/>
            <a:r>
              <a:rPr lang="en-US" sz="2400" u="none" strike="noStrike" dirty="0">
                <a:effectLst/>
              </a:rPr>
              <a:t>An </a:t>
            </a:r>
            <a:r>
              <a:rPr lang="en-US" sz="2400" b="1" u="none" strike="noStrike" dirty="0">
                <a:effectLst/>
              </a:rPr>
              <a:t>Orbital </a:t>
            </a:r>
            <a:r>
              <a:rPr lang="en-US" sz="2400" u="none" strike="noStrike" dirty="0">
                <a:effectLst/>
              </a:rPr>
              <a:t>entity specifies a location along an orbit around a celestial body</a:t>
            </a:r>
          </a:p>
          <a:p>
            <a:pPr lvl="1"/>
            <a:endParaRPr lang="en-US" sz="2400" u="none" strike="noStrike" dirty="0">
              <a:effectLst/>
            </a:endParaRPr>
          </a:p>
          <a:p>
            <a:pPr lvl="1"/>
            <a:r>
              <a:rPr lang="en-US" sz="2400" u="none" strike="noStrike" dirty="0">
                <a:effectLst/>
              </a:rPr>
              <a:t>A </a:t>
            </a:r>
            <a:r>
              <a:rPr lang="en-US" sz="2400" b="1" u="none" strike="noStrike" dirty="0">
                <a:effectLst/>
              </a:rPr>
              <a:t>Physical</a:t>
            </a:r>
            <a:r>
              <a:rPr lang="en-US" sz="2400" u="none" strike="noStrike" dirty="0">
                <a:effectLst/>
              </a:rPr>
              <a:t> entity specifies a location on, above, or below the surface</a:t>
            </a:r>
          </a:p>
          <a:p>
            <a:pPr lvl="1"/>
            <a:endParaRPr lang="en-US" sz="2400" u="none" strike="noStrike" dirty="0">
              <a:effectLst/>
            </a:endParaRPr>
          </a:p>
          <a:p>
            <a:pPr lvl="1"/>
            <a:r>
              <a:rPr lang="en-US" sz="2400" u="none" strike="noStrike" dirty="0">
                <a:effectLst/>
              </a:rPr>
              <a:t>A </a:t>
            </a:r>
            <a:r>
              <a:rPr lang="en-US" sz="2400" b="1" u="none" strike="noStrike" dirty="0">
                <a:effectLst/>
              </a:rPr>
              <a:t>Virtual</a:t>
            </a:r>
            <a:r>
              <a:rPr lang="en-US" sz="2400" u="none" strike="noStrike" dirty="0">
                <a:effectLst/>
              </a:rPr>
              <a:t> entity specifies a location within a digital network</a:t>
            </a:r>
            <a:endParaRPr lang="en-US" sz="2400" b="0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pPr lvl="1"/>
            <a:endParaRPr lang="en-US" b="0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60982AE-3150-C73E-949F-3EB98D723F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1125" y="1207908"/>
            <a:ext cx="6867465" cy="503761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261739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61080-FB62-4797-B4B0-9727E47C8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Risk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871FBE-5D34-C296-1CF9-264730A38B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483903" cy="5213350"/>
          </a:xfrm>
        </p:spPr>
        <p:txBody>
          <a:bodyPr/>
          <a:lstStyle/>
          <a:p>
            <a:r>
              <a:rPr lang="en-US" sz="2800" u="none" strike="noStrike" dirty="0">
                <a:effectLst/>
              </a:rPr>
              <a:t>A </a:t>
            </a:r>
            <a:r>
              <a:rPr lang="en-US" sz="2800" b="1" u="none" strike="noStrike" dirty="0">
                <a:effectLst/>
              </a:rPr>
              <a:t>Risk</a:t>
            </a:r>
            <a:r>
              <a:rPr lang="en-US" sz="2800" u="none" strike="noStrike" dirty="0">
                <a:effectLst/>
              </a:rPr>
              <a:t> entity specifies the combined probability and consequence in achieving objectives</a:t>
            </a:r>
          </a:p>
          <a:p>
            <a:pPr lvl="1"/>
            <a:r>
              <a:rPr lang="en-US" b="1" i="0" dirty="0">
                <a:solidFill>
                  <a:srgbClr val="000000"/>
                </a:solidFill>
              </a:rPr>
              <a:t>Cost</a:t>
            </a:r>
          </a:p>
          <a:p>
            <a:pPr lvl="1"/>
            <a:endParaRPr lang="en-US" b="1" i="0" dirty="0">
              <a:solidFill>
                <a:srgbClr val="000000"/>
              </a:solidFill>
            </a:endParaRPr>
          </a:p>
          <a:p>
            <a:pPr lvl="1"/>
            <a:r>
              <a:rPr lang="en-US" b="1" u="none" strike="noStrike" dirty="0">
                <a:solidFill>
                  <a:srgbClr val="000000"/>
                </a:solidFill>
                <a:effectLst/>
              </a:rPr>
              <a:t>Technical</a:t>
            </a:r>
          </a:p>
          <a:p>
            <a:pPr lvl="1"/>
            <a:endParaRPr lang="en-US" b="1" u="none" strike="noStrike" dirty="0">
              <a:solidFill>
                <a:srgbClr val="000000"/>
              </a:solidFill>
              <a:effectLst/>
            </a:endParaRPr>
          </a:p>
          <a:p>
            <a:pPr lvl="1"/>
            <a:r>
              <a:rPr lang="en-US" b="1" i="0" dirty="0">
                <a:solidFill>
                  <a:srgbClr val="000000"/>
                </a:solidFill>
              </a:rPr>
              <a:t>Schedule </a:t>
            </a:r>
            <a:endParaRPr lang="en-US" b="1" i="0" u="none" strike="noStrike" dirty="0">
              <a:solidFill>
                <a:srgbClr val="000000"/>
              </a:solidFill>
              <a:effectLst/>
            </a:endParaRP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821B6F-E343-AE1F-3339-3D0090C638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5700" y="1238973"/>
            <a:ext cx="4898744" cy="438005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43487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966F83-9218-F081-76D2-681F4413E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88E01A-9406-5644-212A-F5FFF10DA7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449" y="1324396"/>
            <a:ext cx="5881142" cy="1631240"/>
          </a:xfrm>
        </p:spPr>
        <p:txBody>
          <a:bodyPr>
            <a:normAutofit/>
          </a:bodyPr>
          <a:lstStyle/>
          <a:p>
            <a:r>
              <a:rPr lang="en-US" u="none" strike="noStrike" dirty="0">
                <a:effectLst/>
              </a:rPr>
              <a:t>A </a:t>
            </a:r>
            <a:r>
              <a:rPr lang="en-US" b="1" u="none" strike="noStrike" dirty="0">
                <a:effectLst/>
              </a:rPr>
              <a:t>Statement</a:t>
            </a:r>
            <a:r>
              <a:rPr lang="en-US" u="none" strike="noStrike" dirty="0">
                <a:effectLst/>
              </a:rPr>
              <a:t> entity specifies text referenced by the knowledge base and usually contained in an </a:t>
            </a:r>
            <a:r>
              <a:rPr lang="en-US" b="1" u="none" strike="noStrike" dirty="0">
                <a:effectLst/>
              </a:rPr>
              <a:t>Artifact</a:t>
            </a:r>
          </a:p>
          <a:p>
            <a:pPr lvl="1"/>
            <a:endParaRPr lang="en-US" sz="2800" b="0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endParaRPr lang="en-US" b="0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8C1F206-CFA8-F71A-AAF1-D7EADF2474F7}"/>
              </a:ext>
            </a:extLst>
          </p:cNvPr>
          <p:cNvSpPr txBox="1">
            <a:spLocks/>
          </p:cNvSpPr>
          <p:nvPr/>
        </p:nvSpPr>
        <p:spPr>
          <a:xfrm>
            <a:off x="6096000" y="1324396"/>
            <a:ext cx="5881142" cy="63460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130" dirty="0"/>
              <a:t>A </a:t>
            </a:r>
            <a:r>
              <a:rPr lang="en-US" sz="2130" b="1" dirty="0"/>
              <a:t>Requirement</a:t>
            </a:r>
            <a:r>
              <a:rPr lang="en-US" sz="2130" dirty="0"/>
              <a:t> entity identifies a capability, characteristic, or quality factor of a system that must exist</a:t>
            </a:r>
          </a:p>
          <a:p>
            <a:pPr lvl="1"/>
            <a:endParaRPr lang="en-US" sz="2130" dirty="0"/>
          </a:p>
          <a:p>
            <a:r>
              <a:rPr lang="en-US" sz="2130" dirty="0"/>
              <a:t>A </a:t>
            </a:r>
            <a:r>
              <a:rPr lang="en-US" sz="2130" b="1" dirty="0"/>
              <a:t>Verification Requirement </a:t>
            </a:r>
            <a:r>
              <a:rPr lang="en-US" sz="2130" dirty="0"/>
              <a:t>entity specifies what is required to confirm that a requirement is </a:t>
            </a:r>
            <a:r>
              <a:rPr lang="en-US" sz="2130" b="1" dirty="0"/>
              <a:t>satisfied</a:t>
            </a:r>
          </a:p>
          <a:p>
            <a:pPr lvl="1"/>
            <a:endParaRPr lang="en-US" sz="2130" dirty="0"/>
          </a:p>
          <a:p>
            <a:r>
              <a:rPr lang="en-US" sz="2130" dirty="0">
                <a:solidFill>
                  <a:srgbClr val="000000"/>
                </a:solidFill>
              </a:rPr>
              <a:t>Other types of of requirements include: functional, performance, safety</a:t>
            </a:r>
            <a:endParaRPr lang="en-US" sz="213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6E7C56-193A-C31E-34EB-0CABED6347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449" y="3254113"/>
            <a:ext cx="5444321" cy="227949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270922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F667E-FFF6-B54E-06E5-42338D21D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5188CE-86FF-0637-8D15-5105E32F68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79176"/>
            <a:ext cx="3827930" cy="5213350"/>
          </a:xfrm>
        </p:spPr>
        <p:txBody>
          <a:bodyPr/>
          <a:lstStyle/>
          <a:p>
            <a:r>
              <a:rPr lang="en-US" sz="2800" u="none" strike="noStrike" dirty="0">
                <a:effectLst/>
              </a:rPr>
              <a:t>A </a:t>
            </a:r>
            <a:r>
              <a:rPr lang="en-US" sz="2800" b="1" u="none" strike="noStrike" dirty="0">
                <a:effectLst/>
              </a:rPr>
              <a:t>Time </a:t>
            </a:r>
            <a:r>
              <a:rPr lang="en-US" sz="2800" u="none" strike="noStrike" dirty="0">
                <a:effectLst/>
              </a:rPr>
              <a:t>entity specifies a point or period when something occurs or during which an action, asset, process, or condition exists or continues</a:t>
            </a:r>
            <a:endParaRPr lang="en-US" sz="2800" b="0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A4CAA72-26C8-67A3-4B3E-59E3FF99D2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5207" y="1479176"/>
            <a:ext cx="7796606" cy="408827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26523222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17787-2835-9427-0BC6-C44C44EFA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Predicate Triples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943ABA-CE52-8078-A9C0-9B9D4DDF67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0639" y="1152815"/>
            <a:ext cx="5624576" cy="2908139"/>
          </a:xfrm>
        </p:spPr>
        <p:txBody>
          <a:bodyPr>
            <a:noAutofit/>
          </a:bodyPr>
          <a:lstStyle/>
          <a:p>
            <a:r>
              <a:rPr lang="en-US" sz="2400" dirty="0"/>
              <a:t>LML relationships are based on a subject-predicate-object (SPO) approach</a:t>
            </a:r>
          </a:p>
          <a:p>
            <a:r>
              <a:rPr lang="en-US" sz="2400" dirty="0"/>
              <a:t>Each predicate has an inverse</a:t>
            </a:r>
          </a:p>
          <a:p>
            <a:r>
              <a:rPr lang="en-US" sz="2400" dirty="0"/>
              <a:t>Limits ambiguity for interpretation</a:t>
            </a:r>
          </a:p>
          <a:p>
            <a:r>
              <a:rPr lang="en-US" sz="2400" dirty="0"/>
              <a:t>Can account for multiplicity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C76214-9452-3457-0D37-634EF208FAEB}"/>
              </a:ext>
            </a:extLst>
          </p:cNvPr>
          <p:cNvSpPr txBox="1"/>
          <p:nvPr/>
        </p:nvSpPr>
        <p:spPr>
          <a:xfrm>
            <a:off x="330200" y="4411254"/>
            <a:ext cx="4391377" cy="1075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30" b="1" dirty="0"/>
              <a:t>Example:</a:t>
            </a:r>
          </a:p>
          <a:p>
            <a:r>
              <a:rPr lang="en-US" sz="2130" dirty="0"/>
              <a:t>Risk is caused by an action</a:t>
            </a:r>
          </a:p>
          <a:p>
            <a:r>
              <a:rPr lang="en-US" sz="2130" dirty="0"/>
              <a:t>An action causes a risk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C9CD9BD-41B9-A200-C4C6-2F1C78C026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9280201"/>
              </p:ext>
            </p:extLst>
          </p:nvPr>
        </p:nvGraphicFramePr>
        <p:xfrm>
          <a:off x="6095999" y="5023032"/>
          <a:ext cx="4921307" cy="1193037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521130">
                  <a:extLst>
                    <a:ext uri="{9D8B030D-6E8A-4147-A177-3AD203B41FA5}">
                      <a16:colId xmlns:a16="http://schemas.microsoft.com/office/drawing/2014/main" val="3213546571"/>
                    </a:ext>
                  </a:extLst>
                </a:gridCol>
                <a:gridCol w="1873455">
                  <a:extLst>
                    <a:ext uri="{9D8B030D-6E8A-4147-A177-3AD203B41FA5}">
                      <a16:colId xmlns:a16="http://schemas.microsoft.com/office/drawing/2014/main" val="953369785"/>
                    </a:ext>
                  </a:extLst>
                </a:gridCol>
                <a:gridCol w="1526722">
                  <a:extLst>
                    <a:ext uri="{9D8B030D-6E8A-4147-A177-3AD203B41FA5}">
                      <a16:colId xmlns:a16="http://schemas.microsoft.com/office/drawing/2014/main" val="14689084"/>
                    </a:ext>
                  </a:extLst>
                </a:gridCol>
              </a:tblGrid>
              <a:tr h="397679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Subject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Predicate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Object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5399896"/>
                  </a:ext>
                </a:extLst>
              </a:tr>
              <a:tr h="397679">
                <a:tc>
                  <a:txBody>
                    <a:bodyPr/>
                    <a:lstStyle/>
                    <a:p>
                      <a:r>
                        <a:rPr lang="en-US" dirty="0"/>
                        <a:t>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caused by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2736532"/>
                  </a:ext>
                </a:extLst>
              </a:tr>
              <a:tr h="397679">
                <a:tc>
                  <a:txBody>
                    <a:bodyPr/>
                    <a:lstStyle/>
                    <a:p>
                      <a:r>
                        <a:rPr lang="en-US" dirty="0"/>
                        <a:t>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causes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Risk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3270920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C80DDCD2-051E-CCCF-2FA0-B3547E820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1302" y="1136310"/>
            <a:ext cx="3644900" cy="36830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624990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00CAF4-1C7A-DDDF-39BE-B7BF188B1C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28599" y="1143000"/>
            <a:ext cx="11614355" cy="5219700"/>
          </a:xfrm>
        </p:spPr>
        <p:txBody>
          <a:bodyPr>
            <a:normAutofit/>
          </a:bodyPr>
          <a:lstStyle/>
          <a:p>
            <a:pPr rtl="0" fontAlgn="base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effectLst/>
              </a:rPr>
              <a:t>A language that effectively communicates will reduce the cost of design</a:t>
            </a:r>
          </a:p>
          <a:p>
            <a:pPr rtl="0" fontAlgn="base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</a:endParaRPr>
          </a:p>
          <a:p>
            <a:pPr rtl="0" fontAlgn="base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effectLst/>
              </a:rPr>
              <a:t>A simple ontology with common graphical notations facilitates understanding of design</a:t>
            </a:r>
          </a:p>
          <a:p>
            <a:pPr rtl="0" fontAlgn="base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</a:endParaRPr>
          </a:p>
          <a:p>
            <a:pPr rtl="0" fontAlgn="base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effectLst/>
              </a:rPr>
              <a:t>LML </a:t>
            </a:r>
            <a:r>
              <a:rPr lang="en-US" sz="2400" dirty="0"/>
              <a:t>e</a:t>
            </a:r>
            <a:r>
              <a:rPr lang="en-US" sz="2400" b="0" i="0" u="none" strike="noStrike" dirty="0">
                <a:effectLst/>
              </a:rPr>
              <a:t>nables rapid product development to match pace with modern technology</a:t>
            </a:r>
            <a:endParaRPr lang="en-US" sz="2400" b="0" i="0" dirty="0">
              <a:effectLst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15D8F1A-A9DF-0569-26C5-F6252A923A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1" y="0"/>
            <a:ext cx="10134599" cy="952500"/>
          </a:xfrm>
        </p:spPr>
        <p:txBody>
          <a:bodyPr anchor="ctr">
            <a:normAutofit/>
          </a:bodyPr>
          <a:lstStyle/>
          <a:p>
            <a:r>
              <a:rPr lang="en-US" dirty="0"/>
              <a:t>LML Benefits</a:t>
            </a:r>
          </a:p>
        </p:txBody>
      </p:sp>
    </p:spTree>
    <p:extLst>
      <p:ext uri="{BB962C8B-B14F-4D97-AF65-F5344CB8AC3E}">
        <p14:creationId xmlns:p14="http://schemas.microsoft.com/office/powerpoint/2010/main" val="27442382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31C06-E578-57DF-AB0E-A1A7C09BD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LML Diagram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9FD871-E73B-A97B-C180-F65D7E5E2A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989394" cy="4351338"/>
          </a:xfrm>
        </p:spPr>
        <p:txBody>
          <a:bodyPr>
            <a:normAutofit/>
          </a:bodyPr>
          <a:lstStyle/>
          <a:p>
            <a:r>
              <a:rPr lang="en-US" sz="2400" dirty="0"/>
              <a:t>Action </a:t>
            </a:r>
          </a:p>
          <a:p>
            <a:r>
              <a:rPr lang="en-US" sz="2400" dirty="0"/>
              <a:t>Spider</a:t>
            </a:r>
          </a:p>
          <a:p>
            <a:r>
              <a:rPr lang="en-US" sz="2400" dirty="0"/>
              <a:t>Asset</a:t>
            </a:r>
          </a:p>
          <a:p>
            <a:r>
              <a:rPr lang="en-US" sz="2400" dirty="0"/>
              <a:t>Interface</a:t>
            </a:r>
          </a:p>
          <a:p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22690C-9748-6898-1F50-BE0C6C0748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7532" y="1516766"/>
            <a:ext cx="5930900" cy="44958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183064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0812B-DAAD-89FC-6157-390870FF0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FFBF3-275C-9FB1-665A-45CF4FA7EA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Introduction to </a:t>
            </a:r>
            <a:r>
              <a:rPr lang="en-US" b="1" dirty="0" err="1"/>
              <a:t>Innoslate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5778650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B5C28-5E95-C238-39DB-620916C0A9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Innoslate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27B3EA-7421-6B68-25B7-0EDBC5CED5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SPEC Innovations flagship tool enables:</a:t>
            </a:r>
          </a:p>
          <a:p>
            <a:pPr lvl="1"/>
            <a:r>
              <a:rPr lang="en-US" dirty="0"/>
              <a:t>Requirements management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Cost management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Systems engineering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Risk management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Project management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5980CF-C363-B093-909B-4E7B184DAD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5402" y="1068446"/>
            <a:ext cx="4849399" cy="472110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6655348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B4B19EBF-4692-103D-4E14-684B46336625}"/>
              </a:ext>
            </a:extLst>
          </p:cNvPr>
          <p:cNvGrpSpPr/>
          <p:nvPr/>
        </p:nvGrpSpPr>
        <p:grpSpPr>
          <a:xfrm>
            <a:off x="1067160" y="868144"/>
            <a:ext cx="10057679" cy="4387347"/>
            <a:chOff x="1067160" y="1403853"/>
            <a:chExt cx="10057679" cy="4387347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7AD16DEB-2134-C1E2-D49B-C7D8068875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67160" y="1403853"/>
              <a:ext cx="10057679" cy="4387347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43871A0F-F20F-2CD0-CACF-FF437E72C806}"/>
                </a:ext>
              </a:extLst>
            </p:cNvPr>
            <p:cNvSpPr/>
            <p:nvPr/>
          </p:nvSpPr>
          <p:spPr>
            <a:xfrm>
              <a:off x="8953995" y="1508166"/>
              <a:ext cx="2066306" cy="605642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F469EB92-C502-1C45-A0B1-44054DDD8A75}"/>
                </a:ext>
              </a:extLst>
            </p:cNvPr>
            <p:cNvSpPr/>
            <p:nvPr/>
          </p:nvSpPr>
          <p:spPr>
            <a:xfrm>
              <a:off x="1365955" y="4959927"/>
              <a:ext cx="1501423" cy="535710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819158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F410A-AA6C-0AFA-59E3-E1C391CAD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View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915DED-6F29-26C5-9873-33D330CFD3E0}"/>
              </a:ext>
            </a:extLst>
          </p:cNvPr>
          <p:cNvSpPr txBox="1"/>
          <p:nvPr/>
        </p:nvSpPr>
        <p:spPr>
          <a:xfrm>
            <a:off x="152401" y="1360271"/>
            <a:ext cx="386644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Add new </a:t>
            </a:r>
            <a:r>
              <a:rPr lang="en-US" sz="2400" b="1" dirty="0"/>
              <a:t>widgets</a:t>
            </a:r>
            <a:r>
              <a:rPr lang="en-US" sz="2400" dirty="0"/>
              <a:t> to personalize your dashboard view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Will only be for your project view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Recommend having the </a:t>
            </a:r>
            <a:r>
              <a:rPr lang="en-US" sz="2400" b="1" dirty="0"/>
              <a:t>Activity Feed </a:t>
            </a:r>
            <a:r>
              <a:rPr lang="en-US" sz="2400" dirty="0"/>
              <a:t>widget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0304310-8772-0DCE-CCD9-163067613498}"/>
              </a:ext>
            </a:extLst>
          </p:cNvPr>
          <p:cNvGrpSpPr/>
          <p:nvPr/>
        </p:nvGrpSpPr>
        <p:grpSpPr>
          <a:xfrm>
            <a:off x="4185355" y="1264355"/>
            <a:ext cx="7772400" cy="4792535"/>
            <a:chOff x="4185355" y="1264355"/>
            <a:chExt cx="7772400" cy="4792535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DF70146D-EBE8-A34B-A01C-9FB402429B41}"/>
                </a:ext>
              </a:extLst>
            </p:cNvPr>
            <p:cNvGrpSpPr/>
            <p:nvPr/>
          </p:nvGrpSpPr>
          <p:grpSpPr>
            <a:xfrm>
              <a:off x="4185355" y="1264355"/>
              <a:ext cx="7772400" cy="4696619"/>
              <a:chOff x="2209800" y="1298222"/>
              <a:chExt cx="7772400" cy="4696619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C8B6B9E6-4A9F-81CD-9527-5391A66552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209800" y="1394138"/>
                <a:ext cx="7772400" cy="4600703"/>
              </a:xfrm>
              <a:prstGeom prst="rect">
                <a:avLst/>
              </a:prstGeom>
              <a:ln>
                <a:solidFill>
                  <a:schemeClr val="accent4"/>
                </a:solidFill>
              </a:ln>
            </p:spPr>
          </p:pic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36D91719-3B09-3063-7C66-21E3C0EE960B}"/>
                  </a:ext>
                </a:extLst>
              </p:cNvPr>
              <p:cNvSpPr/>
              <p:nvPr/>
            </p:nvSpPr>
            <p:spPr>
              <a:xfrm>
                <a:off x="3115733" y="1298222"/>
                <a:ext cx="925689" cy="603995"/>
              </a:xfrm>
              <a:prstGeom prst="roundRect">
                <a:avLst/>
              </a:prstGeom>
              <a:noFill/>
              <a:ln w="76200">
                <a:solidFill>
                  <a:srgbClr val="F6D53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accent4"/>
                  </a:solidFill>
                </a:endParaRPr>
              </a:p>
            </p:txBody>
          </p:sp>
        </p:grp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F39C1327-BF08-5F9B-61C5-1459D9B09857}"/>
                </a:ext>
              </a:extLst>
            </p:cNvPr>
            <p:cNvSpPr/>
            <p:nvPr/>
          </p:nvSpPr>
          <p:spPr>
            <a:xfrm>
              <a:off x="9172221" y="3129986"/>
              <a:ext cx="2556935" cy="2926904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4B157BE2-41C8-D8F1-898C-F855DE5CF3FC}"/>
                </a:ext>
              </a:extLst>
            </p:cNvPr>
            <p:cNvSpPr/>
            <p:nvPr/>
          </p:nvSpPr>
          <p:spPr>
            <a:xfrm>
              <a:off x="11288889" y="2525991"/>
              <a:ext cx="530578" cy="397831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533273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31374-3DC3-1F56-F2AF-01481D129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Widgets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C591064-BEC2-42C0-EC90-C8928CC592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6829" y="1455245"/>
            <a:ext cx="5408789" cy="449329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D8EDA6-D6E5-4EF1-9264-85E5C08B1899}"/>
              </a:ext>
            </a:extLst>
          </p:cNvPr>
          <p:cNvSpPr txBox="1"/>
          <p:nvPr/>
        </p:nvSpPr>
        <p:spPr>
          <a:xfrm>
            <a:off x="270551" y="1455245"/>
            <a:ext cx="5514621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Many options to personalize the </a:t>
            </a:r>
            <a:r>
              <a:rPr lang="en-US" sz="2800" b="1" dirty="0"/>
              <a:t>dashboard view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Does not affect teammates’ dashboard views</a:t>
            </a:r>
          </a:p>
        </p:txBody>
      </p:sp>
    </p:spTree>
    <p:extLst>
      <p:ext uri="{BB962C8B-B14F-4D97-AF65-F5344CB8AC3E}">
        <p14:creationId xmlns:p14="http://schemas.microsoft.com/office/powerpoint/2010/main" val="138135882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B5F5C-AD18-7690-C2C4-C4B7D04BD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View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975FA19-ADEA-53FB-E4A1-DFE4B6B0E6D1}"/>
              </a:ext>
            </a:extLst>
          </p:cNvPr>
          <p:cNvGrpSpPr/>
          <p:nvPr/>
        </p:nvGrpSpPr>
        <p:grpSpPr>
          <a:xfrm>
            <a:off x="4267199" y="1099216"/>
            <a:ext cx="7772400" cy="5288921"/>
            <a:chOff x="2074333" y="1140099"/>
            <a:chExt cx="7772400" cy="5288921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5EEABEF-1A29-78D6-BEEF-274CA29D74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74333" y="1140099"/>
              <a:ext cx="7772400" cy="518740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05F7B484-1886-D9DC-E94D-B8A7B164BC78}"/>
                </a:ext>
              </a:extLst>
            </p:cNvPr>
            <p:cNvSpPr/>
            <p:nvPr/>
          </p:nvSpPr>
          <p:spPr>
            <a:xfrm>
              <a:off x="2074333" y="2819399"/>
              <a:ext cx="2599267" cy="3609621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E133A477-18C1-5EFB-180A-6A20DEB27708}"/>
              </a:ext>
            </a:extLst>
          </p:cNvPr>
          <p:cNvSpPr/>
          <p:nvPr/>
        </p:nvSpPr>
        <p:spPr>
          <a:xfrm>
            <a:off x="6096000" y="1099216"/>
            <a:ext cx="880533" cy="492078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4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CAEA12-B1CA-062F-F7A5-F0BBB0E24BE5}"/>
              </a:ext>
            </a:extLst>
          </p:cNvPr>
          <p:cNvSpPr txBox="1"/>
          <p:nvPr/>
        </p:nvSpPr>
        <p:spPr>
          <a:xfrm>
            <a:off x="152401" y="1109314"/>
            <a:ext cx="3846944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Represents the actual data repository of the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Provides an easy way to view entities based on class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/>
              <a:t>Queries</a:t>
            </a:r>
            <a:r>
              <a:rPr lang="en-US" sz="2400" dirty="0"/>
              <a:t> can be constructed to use as filters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7318331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C5C78-58C8-AFAA-35F9-40A8EEDD2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Filtering Database 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FDFBA1-DD26-CF08-F31E-50C79B638051}"/>
              </a:ext>
            </a:extLst>
          </p:cNvPr>
          <p:cNvSpPr txBox="1"/>
          <p:nvPr/>
        </p:nvSpPr>
        <p:spPr>
          <a:xfrm>
            <a:off x="339156" y="1254868"/>
            <a:ext cx="11736135" cy="120032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Select the magnifying glass with a + sign to open the </a:t>
            </a:r>
            <a:r>
              <a:rPr lang="en-US" sz="2400" b="1" dirty="0"/>
              <a:t>Advanced Search Editor</a:t>
            </a:r>
            <a:endParaRPr lang="en-US" sz="2400" b="1" dirty="0"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Gives </a:t>
            </a:r>
            <a:r>
              <a:rPr lang="en-US" sz="2400" i="1" dirty="0"/>
              <a:t>Query</a:t>
            </a:r>
            <a:r>
              <a:rPr lang="en-US" sz="2400" dirty="0"/>
              <a:t>, </a:t>
            </a:r>
            <a:r>
              <a:rPr lang="en-US" sz="2400" i="1" dirty="0"/>
              <a:t>Ordering</a:t>
            </a:r>
            <a:r>
              <a:rPr lang="en-US" sz="2400" dirty="0"/>
              <a:t>, and </a:t>
            </a:r>
            <a:r>
              <a:rPr lang="en-US" sz="2400" i="1" dirty="0"/>
              <a:t>Filter</a:t>
            </a:r>
            <a:r>
              <a:rPr lang="en-US" sz="2400" dirty="0"/>
              <a:t> options</a:t>
            </a:r>
            <a:endParaRPr lang="en-US" sz="2400" dirty="0">
              <a:ea typeface="Calibri"/>
              <a:cs typeface="Calibri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7371C82-8BC2-8C4C-F7A8-3044E8411E7C}"/>
              </a:ext>
            </a:extLst>
          </p:cNvPr>
          <p:cNvGrpSpPr/>
          <p:nvPr/>
        </p:nvGrpSpPr>
        <p:grpSpPr>
          <a:xfrm>
            <a:off x="800047" y="2928705"/>
            <a:ext cx="10591905" cy="3285888"/>
            <a:chOff x="339156" y="2304349"/>
            <a:chExt cx="11768537" cy="368545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4F2C7BA-F1F4-AA77-945F-A991316AE7B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9156" y="3731242"/>
              <a:ext cx="3872921" cy="698489"/>
            </a:xfrm>
            <a:prstGeom prst="rect">
              <a:avLst/>
            </a:prstGeom>
            <a:ln>
              <a:solidFill>
                <a:schemeClr val="accent4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4F247755-F015-71D5-AB47-17CA495F53F6}"/>
                </a:ext>
              </a:extLst>
            </p:cNvPr>
            <p:cNvGrpSpPr/>
            <p:nvPr/>
          </p:nvGrpSpPr>
          <p:grpSpPr>
            <a:xfrm>
              <a:off x="1892994" y="2320493"/>
              <a:ext cx="10214699" cy="3669307"/>
              <a:chOff x="1892994" y="2320493"/>
              <a:chExt cx="10214699" cy="3669307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1827CB35-373E-6841-A8D2-3DA1A55B79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447489" y="2320493"/>
                <a:ext cx="6660204" cy="3669307"/>
              </a:xfrm>
              <a:prstGeom prst="rect">
                <a:avLst/>
              </a:prstGeom>
              <a:ln>
                <a:solidFill>
                  <a:schemeClr val="accent4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  <p:sp>
            <p:nvSpPr>
              <p:cNvPr id="6" name="Rounded Rectangle 4">
                <a:extLst>
                  <a:ext uri="{FF2B5EF4-FFF2-40B4-BE49-F238E27FC236}">
                    <a16:creationId xmlns:a16="http://schemas.microsoft.com/office/drawing/2014/main" id="{289DA4CF-5939-D79F-BF93-0B718F6DF74E}"/>
                  </a:ext>
                </a:extLst>
              </p:cNvPr>
              <p:cNvSpPr/>
              <p:nvPr/>
            </p:nvSpPr>
            <p:spPr>
              <a:xfrm>
                <a:off x="1892994" y="3968461"/>
                <a:ext cx="382622" cy="373372"/>
              </a:xfrm>
              <a:prstGeom prst="roundRect">
                <a:avLst/>
              </a:prstGeom>
              <a:noFill/>
              <a:ln w="76200">
                <a:solidFill>
                  <a:srgbClr val="F6D53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accent4"/>
                  </a:solidFill>
                </a:endParaRPr>
              </a:p>
            </p:txBody>
          </p:sp>
          <p:sp>
            <p:nvSpPr>
              <p:cNvPr id="7" name="Arrow: Right 6">
                <a:extLst>
                  <a:ext uri="{FF2B5EF4-FFF2-40B4-BE49-F238E27FC236}">
                    <a16:creationId xmlns:a16="http://schemas.microsoft.com/office/drawing/2014/main" id="{C52C69CD-0DA5-E2CC-D9C9-22A8F1D430EE}"/>
                  </a:ext>
                </a:extLst>
              </p:cNvPr>
              <p:cNvSpPr/>
              <p:nvPr/>
            </p:nvSpPr>
            <p:spPr>
              <a:xfrm>
                <a:off x="4377446" y="3838170"/>
                <a:ext cx="978408" cy="484632"/>
              </a:xfrm>
              <a:prstGeom prst="rightArrow">
                <a:avLst/>
              </a:prstGeom>
              <a:solidFill>
                <a:srgbClr val="EEB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" name="Rounded Rectangle 4">
              <a:extLst>
                <a:ext uri="{FF2B5EF4-FFF2-40B4-BE49-F238E27FC236}">
                  <a16:creationId xmlns:a16="http://schemas.microsoft.com/office/drawing/2014/main" id="{AF252760-3FB6-ABB9-B233-AA8C8622AB57}"/>
                </a:ext>
              </a:extLst>
            </p:cNvPr>
            <p:cNvSpPr/>
            <p:nvPr/>
          </p:nvSpPr>
          <p:spPr>
            <a:xfrm>
              <a:off x="5364924" y="2304349"/>
              <a:ext cx="1424981" cy="292936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11" name="Rounded Rectangle 4">
              <a:extLst>
                <a:ext uri="{FF2B5EF4-FFF2-40B4-BE49-F238E27FC236}">
                  <a16:creationId xmlns:a16="http://schemas.microsoft.com/office/drawing/2014/main" id="{419298A3-F453-EA4B-C4F5-363E0934F77E}"/>
                </a:ext>
              </a:extLst>
            </p:cNvPr>
            <p:cNvSpPr/>
            <p:nvPr/>
          </p:nvSpPr>
          <p:spPr>
            <a:xfrm>
              <a:off x="5547320" y="2707499"/>
              <a:ext cx="649200" cy="292936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12" name="Rounded Rectangle 4">
              <a:extLst>
                <a:ext uri="{FF2B5EF4-FFF2-40B4-BE49-F238E27FC236}">
                  <a16:creationId xmlns:a16="http://schemas.microsoft.com/office/drawing/2014/main" id="{25D6F470-0BBF-1A5E-27F9-0DF1CD8FC448}"/>
                </a:ext>
              </a:extLst>
            </p:cNvPr>
            <p:cNvSpPr/>
            <p:nvPr/>
          </p:nvSpPr>
          <p:spPr>
            <a:xfrm>
              <a:off x="8832716" y="2698845"/>
              <a:ext cx="649200" cy="292936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13" name="Rounded Rectangle 4">
              <a:extLst>
                <a:ext uri="{FF2B5EF4-FFF2-40B4-BE49-F238E27FC236}">
                  <a16:creationId xmlns:a16="http://schemas.microsoft.com/office/drawing/2014/main" id="{4E4F89F8-CC15-8837-DD24-E8A24F5EB5A8}"/>
                </a:ext>
              </a:extLst>
            </p:cNvPr>
            <p:cNvSpPr/>
            <p:nvPr/>
          </p:nvSpPr>
          <p:spPr>
            <a:xfrm>
              <a:off x="5547320" y="4429731"/>
              <a:ext cx="736748" cy="292936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863677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3A4B6-4F56-22A6-B99F-D20F4148E1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Entity View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F5A1A8-FD9F-AE78-5A1C-B4525A4437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7699" y="1246011"/>
            <a:ext cx="3771900" cy="49530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EDCC34D-5C5B-1E0D-D777-227C2C006B97}"/>
              </a:ext>
            </a:extLst>
          </p:cNvPr>
          <p:cNvSpPr txBox="1"/>
          <p:nvPr/>
        </p:nvSpPr>
        <p:spPr>
          <a:xfrm>
            <a:off x="406399" y="1287669"/>
            <a:ext cx="75183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2400" dirty="0">
                <a:ea typeface="Calibri" panose="020F0502020204030204"/>
                <a:cs typeface="Calibri" panose="020F0502020204030204"/>
              </a:rPr>
              <a:t>Select an entity to modify from the Database View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>
                <a:ea typeface="Calibri" panose="020F0502020204030204"/>
                <a:cs typeface="Calibri" panose="020F0502020204030204"/>
              </a:rPr>
              <a:t>Options depend on class type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>
                <a:ea typeface="Calibri" panose="020F0502020204030204"/>
                <a:cs typeface="Calibri" panose="020F0502020204030204"/>
              </a:rPr>
              <a:t>Select Open </a:t>
            </a:r>
            <a:r>
              <a:rPr lang="en-US" sz="2400" dirty="0">
                <a:ea typeface="Calibri" panose="020F0502020204030204"/>
                <a:cs typeface="Calibri" panose="020F0502020204030204"/>
                <a:sym typeface="Wingdings" panose="05000000000000000000" pitchFamily="2" charset="2"/>
              </a:rPr>
              <a:t> Entity View </a:t>
            </a:r>
            <a:endParaRPr lang="en-US" sz="2400" dirty="0">
              <a:ea typeface="Calibri" panose="020F0502020204030204"/>
              <a:cs typeface="Calibri" panose="020F0502020204030204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FC6A0D-962E-25A5-DBEA-9FC2F8E324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335" y="3111376"/>
            <a:ext cx="6288463" cy="24153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Rounded Rectangle 4">
            <a:extLst>
              <a:ext uri="{FF2B5EF4-FFF2-40B4-BE49-F238E27FC236}">
                <a16:creationId xmlns:a16="http://schemas.microsoft.com/office/drawing/2014/main" id="{94D8530F-4ADE-FED1-2336-ABFFD0F49F4A}"/>
              </a:ext>
            </a:extLst>
          </p:cNvPr>
          <p:cNvSpPr/>
          <p:nvPr/>
        </p:nvSpPr>
        <p:spPr>
          <a:xfrm>
            <a:off x="406399" y="3842381"/>
            <a:ext cx="3026746" cy="476645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4"/>
              </a:solidFill>
            </a:endParaRPr>
          </a:p>
        </p:txBody>
      </p:sp>
      <p:sp>
        <p:nvSpPr>
          <p:cNvPr id="8" name="Rounded Rectangle 4">
            <a:extLst>
              <a:ext uri="{FF2B5EF4-FFF2-40B4-BE49-F238E27FC236}">
                <a16:creationId xmlns:a16="http://schemas.microsoft.com/office/drawing/2014/main" id="{D825689E-AFE6-8F9E-2F7D-F971ED0ED213}"/>
              </a:ext>
            </a:extLst>
          </p:cNvPr>
          <p:cNvSpPr/>
          <p:nvPr/>
        </p:nvSpPr>
        <p:spPr>
          <a:xfrm>
            <a:off x="406399" y="3245866"/>
            <a:ext cx="1772597" cy="476645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4"/>
              </a:solidFill>
            </a:endParaRP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D8FE617A-2CCC-9119-8FD0-F819265CE77D}"/>
              </a:ext>
            </a:extLst>
          </p:cNvPr>
          <p:cNvSpPr/>
          <p:nvPr/>
        </p:nvSpPr>
        <p:spPr>
          <a:xfrm>
            <a:off x="7042826" y="3540868"/>
            <a:ext cx="963038" cy="484632"/>
          </a:xfrm>
          <a:prstGeom prst="rightArrow">
            <a:avLst/>
          </a:prstGeom>
          <a:solidFill>
            <a:srgbClr val="EEB55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9814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9C267-DF99-57E1-855C-C5A553041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Relationships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98BB353-8809-CF74-F5A2-2AF09349C8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7601" y="1107588"/>
            <a:ext cx="2459850" cy="525165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BCAC5CA-1B40-C6D1-6CB9-F843A8CE2521}"/>
              </a:ext>
            </a:extLst>
          </p:cNvPr>
          <p:cNvSpPr txBox="1"/>
          <p:nvPr/>
        </p:nvSpPr>
        <p:spPr>
          <a:xfrm>
            <a:off x="368299" y="1295399"/>
            <a:ext cx="7708899" cy="304698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2400" dirty="0">
                <a:ea typeface="Calibri" panose="020F0502020204030204"/>
                <a:cs typeface="Calibri" panose="020F0502020204030204"/>
              </a:rPr>
              <a:t>Can </a:t>
            </a:r>
            <a:r>
              <a:rPr lang="en-US" sz="2400" b="1" dirty="0">
                <a:ea typeface="Calibri" panose="020F0502020204030204"/>
                <a:cs typeface="Calibri" panose="020F0502020204030204"/>
              </a:rPr>
              <a:t>add/delete </a:t>
            </a:r>
            <a:r>
              <a:rPr lang="en-US" sz="2400" dirty="0">
                <a:ea typeface="Calibri" panose="020F0502020204030204"/>
                <a:cs typeface="Calibri" panose="020F0502020204030204"/>
              </a:rPr>
              <a:t>LML allowable relationships within the database view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>
                <a:ea typeface="Calibri" panose="020F0502020204030204"/>
                <a:cs typeface="Calibri" panose="020F0502020204030204"/>
              </a:rPr>
              <a:t>Three views within this tab</a:t>
            </a:r>
          </a:p>
          <a:p>
            <a:pPr marL="742950" lvl="1" indent="-285750">
              <a:buFont typeface="Arial"/>
              <a:buChar char="•"/>
            </a:pPr>
            <a:r>
              <a:rPr lang="en-US" sz="2400" b="1" dirty="0">
                <a:ea typeface="Calibri" panose="020F0502020204030204"/>
                <a:cs typeface="Calibri" panose="020F0502020204030204"/>
              </a:rPr>
              <a:t>Pinned</a:t>
            </a:r>
            <a:r>
              <a:rPr lang="en-US" sz="2400" dirty="0">
                <a:ea typeface="Calibri" panose="020F0502020204030204"/>
                <a:cs typeface="Calibri" panose="020F0502020204030204"/>
              </a:rPr>
              <a:t> – shows relationships for each class set by the user</a:t>
            </a:r>
          </a:p>
          <a:p>
            <a:pPr marL="742950" lvl="1" indent="-285750">
              <a:buFont typeface="Arial"/>
              <a:buChar char="•"/>
            </a:pPr>
            <a:r>
              <a:rPr lang="en-US" sz="2400" b="1" dirty="0">
                <a:ea typeface="Calibri" panose="020F0502020204030204"/>
                <a:cs typeface="Calibri" panose="020F0502020204030204"/>
              </a:rPr>
              <a:t>Active</a:t>
            </a:r>
            <a:r>
              <a:rPr lang="en-US" sz="2400" dirty="0">
                <a:ea typeface="Calibri" panose="020F0502020204030204"/>
                <a:cs typeface="Calibri" panose="020F0502020204030204"/>
              </a:rPr>
              <a:t> - relationships which currently exist for this model entity</a:t>
            </a:r>
          </a:p>
          <a:p>
            <a:pPr marL="742950" lvl="1" indent="-285750">
              <a:buFont typeface="Arial"/>
              <a:buChar char="•"/>
            </a:pPr>
            <a:r>
              <a:rPr lang="en-US" sz="2400" b="1" dirty="0">
                <a:ea typeface="Calibri" panose="020F0502020204030204"/>
                <a:cs typeface="Calibri" panose="020F0502020204030204"/>
              </a:rPr>
              <a:t>All </a:t>
            </a:r>
            <a:r>
              <a:rPr lang="en-US" sz="2400" dirty="0">
                <a:ea typeface="Calibri" panose="020F0502020204030204"/>
                <a:cs typeface="Calibri" panose="020F0502020204030204"/>
              </a:rPr>
              <a:t>– every relationship possible for this class.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9B97BC3-ABEF-5D4B-BAFD-598AE052D8E7}"/>
              </a:ext>
            </a:extLst>
          </p:cNvPr>
          <p:cNvSpPr/>
          <p:nvPr/>
        </p:nvSpPr>
        <p:spPr>
          <a:xfrm>
            <a:off x="8521429" y="1517515"/>
            <a:ext cx="2811293" cy="476655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0E91360-DE5F-159A-634F-EB514B4C9899}"/>
              </a:ext>
            </a:extLst>
          </p:cNvPr>
          <p:cNvSpPr/>
          <p:nvPr/>
        </p:nvSpPr>
        <p:spPr>
          <a:xfrm>
            <a:off x="10379412" y="2896708"/>
            <a:ext cx="818039" cy="476655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2C4CC97-6F94-C35D-B442-013528395BBC}"/>
              </a:ext>
            </a:extLst>
          </p:cNvPr>
          <p:cNvSpPr/>
          <p:nvPr/>
        </p:nvSpPr>
        <p:spPr>
          <a:xfrm>
            <a:off x="10379412" y="4170855"/>
            <a:ext cx="818039" cy="527605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02831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5ECD0-3A00-83C4-BAB8-E48BC0B07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Transforming Entities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9F8179B-D846-A7E4-3150-579E01DA7F20}"/>
              </a:ext>
            </a:extLst>
          </p:cNvPr>
          <p:cNvGrpSpPr/>
          <p:nvPr/>
        </p:nvGrpSpPr>
        <p:grpSpPr>
          <a:xfrm>
            <a:off x="4888177" y="2084984"/>
            <a:ext cx="7151422" cy="2688031"/>
            <a:chOff x="4599591" y="2029883"/>
            <a:chExt cx="7592409" cy="279823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1291BC1-84BD-6781-4964-10DDBE6E3F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99591" y="2029883"/>
              <a:ext cx="7440008" cy="279823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4" name="Rounded Rectangle 4">
              <a:extLst>
                <a:ext uri="{FF2B5EF4-FFF2-40B4-BE49-F238E27FC236}">
                  <a16:creationId xmlns:a16="http://schemas.microsoft.com/office/drawing/2014/main" id="{535C8761-50F5-AE97-B357-2D9F5E9A76D6}"/>
                </a:ext>
              </a:extLst>
            </p:cNvPr>
            <p:cNvSpPr/>
            <p:nvPr/>
          </p:nvSpPr>
          <p:spPr>
            <a:xfrm>
              <a:off x="8698088" y="4110371"/>
              <a:ext cx="3493912" cy="582789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538539C1-7741-9EDC-CB3A-5D500D3830B2}"/>
              </a:ext>
            </a:extLst>
          </p:cNvPr>
          <p:cNvSpPr txBox="1"/>
          <p:nvPr/>
        </p:nvSpPr>
        <p:spPr>
          <a:xfrm>
            <a:off x="330200" y="1103944"/>
            <a:ext cx="4106722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Ability to </a:t>
            </a:r>
            <a:r>
              <a:rPr lang="en-US" sz="2800" b="1" dirty="0"/>
              <a:t>transform</a:t>
            </a:r>
            <a:r>
              <a:rPr lang="en-US" sz="2800" dirty="0"/>
              <a:t> a model entity into another class type from the database view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New entity will not retain invalid attributes and relationships from the original entity</a:t>
            </a:r>
          </a:p>
        </p:txBody>
      </p:sp>
    </p:spTree>
    <p:extLst>
      <p:ext uri="{BB962C8B-B14F-4D97-AF65-F5344CB8AC3E}">
        <p14:creationId xmlns:p14="http://schemas.microsoft.com/office/powerpoint/2010/main" val="8487314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B63EA-494C-9EC3-7EC4-6AC868718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Diagrams from Entities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776780C-3A38-941C-1361-9CE21C28BC47}"/>
              </a:ext>
            </a:extLst>
          </p:cNvPr>
          <p:cNvGrpSpPr/>
          <p:nvPr/>
        </p:nvGrpSpPr>
        <p:grpSpPr>
          <a:xfrm>
            <a:off x="6705815" y="1128408"/>
            <a:ext cx="5230024" cy="5080934"/>
            <a:chOff x="2347823" y="123363"/>
            <a:chExt cx="7344366" cy="661127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C8543447-8B85-D538-D77F-51A41DC5601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99810" y="123363"/>
              <a:ext cx="7192379" cy="6611273"/>
            </a:xfrm>
            <a:prstGeom prst="rect">
              <a:avLst/>
            </a:prstGeom>
            <a:ln>
              <a:solidFill>
                <a:schemeClr val="accent4"/>
              </a:solidFill>
            </a:ln>
          </p:spPr>
        </p:pic>
        <p:sp>
          <p:nvSpPr>
            <p:cNvPr id="7" name="Rounded Rectangle 4">
              <a:extLst>
                <a:ext uri="{FF2B5EF4-FFF2-40B4-BE49-F238E27FC236}">
                  <a16:creationId xmlns:a16="http://schemas.microsoft.com/office/drawing/2014/main" id="{F1C0C2C0-ED4E-A735-37AB-561B36F17222}"/>
                </a:ext>
              </a:extLst>
            </p:cNvPr>
            <p:cNvSpPr/>
            <p:nvPr/>
          </p:nvSpPr>
          <p:spPr>
            <a:xfrm>
              <a:off x="2347823" y="3857395"/>
              <a:ext cx="3290976" cy="559837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8" name="Rounded Rectangle 4">
              <a:extLst>
                <a:ext uri="{FF2B5EF4-FFF2-40B4-BE49-F238E27FC236}">
                  <a16:creationId xmlns:a16="http://schemas.microsoft.com/office/drawing/2014/main" id="{F8685A3F-0D2B-2F04-C016-B6F3BA5221FA}"/>
                </a:ext>
              </a:extLst>
            </p:cNvPr>
            <p:cNvSpPr/>
            <p:nvPr/>
          </p:nvSpPr>
          <p:spPr>
            <a:xfrm>
              <a:off x="2347823" y="224376"/>
              <a:ext cx="1889880" cy="559837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2AC201CF-5D65-152C-6F4D-E5DDE3B9140F}"/>
              </a:ext>
            </a:extLst>
          </p:cNvPr>
          <p:cNvSpPr txBox="1"/>
          <p:nvPr/>
        </p:nvSpPr>
        <p:spPr>
          <a:xfrm>
            <a:off x="340468" y="1206039"/>
            <a:ext cx="6060332" cy="95410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Generates a diagram view based on the selected entity</a:t>
            </a:r>
            <a:endParaRPr lang="en-US" sz="280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8683847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39736F-555C-DF38-28D2-03366D702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Diagrams View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FBAF19F-E7F2-1DC1-B79F-31FD7EF3B77B}"/>
              </a:ext>
            </a:extLst>
          </p:cNvPr>
          <p:cNvGrpSpPr/>
          <p:nvPr/>
        </p:nvGrpSpPr>
        <p:grpSpPr>
          <a:xfrm>
            <a:off x="2661295" y="1229316"/>
            <a:ext cx="6869725" cy="4842173"/>
            <a:chOff x="2209800" y="952500"/>
            <a:chExt cx="7670470" cy="544918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06238C2-B28F-DF9B-25E6-F8BDA1C7760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09800" y="1062696"/>
              <a:ext cx="7670470" cy="533899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A8815F8-2175-05A9-4386-070F558AC244}"/>
                </a:ext>
              </a:extLst>
            </p:cNvPr>
            <p:cNvSpPr/>
            <p:nvPr/>
          </p:nvSpPr>
          <p:spPr>
            <a:xfrm>
              <a:off x="4775199" y="952500"/>
              <a:ext cx="889331" cy="582789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2FB891DE-8825-D47F-B897-F4ADA1F763FB}"/>
                </a:ext>
              </a:extLst>
            </p:cNvPr>
            <p:cNvSpPr/>
            <p:nvPr/>
          </p:nvSpPr>
          <p:spPr>
            <a:xfrm>
              <a:off x="6180666" y="3137605"/>
              <a:ext cx="3493912" cy="582789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5060096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69E79-A601-6936-C6E2-E298E5AC6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New Diagram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8CBBBC2-1E35-21B6-4159-7E99B5CB5D71}"/>
              </a:ext>
            </a:extLst>
          </p:cNvPr>
          <p:cNvGrpSpPr/>
          <p:nvPr/>
        </p:nvGrpSpPr>
        <p:grpSpPr>
          <a:xfrm>
            <a:off x="1085665" y="2837142"/>
            <a:ext cx="10015487" cy="2052171"/>
            <a:chOff x="1206243" y="2402914"/>
            <a:chExt cx="10015487" cy="2052171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BCB3579-9AFC-552F-973A-AB8DB84D38E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06243" y="2402914"/>
              <a:ext cx="10015487" cy="2052171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6" name="Rounded Rectangle 4">
              <a:extLst>
                <a:ext uri="{FF2B5EF4-FFF2-40B4-BE49-F238E27FC236}">
                  <a16:creationId xmlns:a16="http://schemas.microsoft.com/office/drawing/2014/main" id="{082A97F5-E3B7-DF7B-9DC6-26372D2D71EF}"/>
                </a:ext>
              </a:extLst>
            </p:cNvPr>
            <p:cNvSpPr/>
            <p:nvPr/>
          </p:nvSpPr>
          <p:spPr>
            <a:xfrm>
              <a:off x="8917858" y="3895248"/>
              <a:ext cx="2143432" cy="470275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D092E912-9056-A0F4-A81F-44FD838B1E52}"/>
              </a:ext>
            </a:extLst>
          </p:cNvPr>
          <p:cNvSpPr txBox="1"/>
          <p:nvPr/>
        </p:nvSpPr>
        <p:spPr>
          <a:xfrm>
            <a:off x="875503" y="1449421"/>
            <a:ext cx="10291850" cy="107721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New diagrams can be created with new or existing model entities</a:t>
            </a:r>
            <a:endParaRPr lang="en-US" sz="320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6255443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FB027-EEFF-0689-65FD-5353F2F90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New View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46127A3-948B-820A-4EC9-92C72CBE0B96}"/>
              </a:ext>
            </a:extLst>
          </p:cNvPr>
          <p:cNvGrpSpPr/>
          <p:nvPr/>
        </p:nvGrpSpPr>
        <p:grpSpPr>
          <a:xfrm>
            <a:off x="2713567" y="1301283"/>
            <a:ext cx="6764866" cy="4784905"/>
            <a:chOff x="1905001" y="1325033"/>
            <a:chExt cx="6764866" cy="4784905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988C54F-AFC2-1C71-3BE4-C59DE72F63B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05001" y="1325033"/>
              <a:ext cx="6764866" cy="4784905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2B7C2E64-3458-9A4E-D82A-C7EAA27B6573}"/>
                </a:ext>
              </a:extLst>
            </p:cNvPr>
            <p:cNvSpPr/>
            <p:nvPr/>
          </p:nvSpPr>
          <p:spPr>
            <a:xfrm>
              <a:off x="2709333" y="4654968"/>
              <a:ext cx="3917245" cy="707254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D5E5AF1B-EE49-580A-31C8-1BDF36A044FB}"/>
                </a:ext>
              </a:extLst>
            </p:cNvPr>
            <p:cNvSpPr/>
            <p:nvPr/>
          </p:nvSpPr>
          <p:spPr>
            <a:xfrm>
              <a:off x="2822909" y="1702078"/>
              <a:ext cx="1162070" cy="580393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6249441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7AE327-28B6-938C-8ED4-54AFF4262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Documents View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E226DAB-BB0A-0155-C29B-1BA9DB911056}"/>
              </a:ext>
            </a:extLst>
          </p:cNvPr>
          <p:cNvGrpSpPr/>
          <p:nvPr/>
        </p:nvGrpSpPr>
        <p:grpSpPr>
          <a:xfrm>
            <a:off x="1905000" y="1162756"/>
            <a:ext cx="8223491" cy="4654063"/>
            <a:chOff x="1905000" y="1162756"/>
            <a:chExt cx="8223491" cy="465406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AA3C2685-03B5-41D7-557D-A49E4AB7035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05000" y="1241779"/>
              <a:ext cx="8223491" cy="4575040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D22CDE3-7E59-B6FE-9942-467AE030DD95}"/>
                </a:ext>
              </a:extLst>
            </p:cNvPr>
            <p:cNvSpPr/>
            <p:nvPr/>
          </p:nvSpPr>
          <p:spPr>
            <a:xfrm>
              <a:off x="4775199" y="1162756"/>
              <a:ext cx="801512" cy="496711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6548895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76852-9762-2DC8-84CE-E374685E5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 Analyzer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8A3596E-D957-C694-E068-DF38D643F3CA}"/>
              </a:ext>
            </a:extLst>
          </p:cNvPr>
          <p:cNvGrpSpPr/>
          <p:nvPr/>
        </p:nvGrpSpPr>
        <p:grpSpPr>
          <a:xfrm>
            <a:off x="451556" y="816658"/>
            <a:ext cx="3747912" cy="4826706"/>
            <a:chOff x="7292621" y="1207911"/>
            <a:chExt cx="3747912" cy="4826706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4DC7F43-2462-744C-2387-D97A9447F05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474656" y="1297517"/>
              <a:ext cx="3429000" cy="47371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6822B485-CEC7-73FB-065B-566BC7571AAE}"/>
                </a:ext>
              </a:extLst>
            </p:cNvPr>
            <p:cNvSpPr/>
            <p:nvPr/>
          </p:nvSpPr>
          <p:spPr>
            <a:xfrm>
              <a:off x="7292621" y="5063772"/>
              <a:ext cx="3747912" cy="496711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138BD529-6F61-9C28-F681-C3B0B2973202}"/>
                </a:ext>
              </a:extLst>
            </p:cNvPr>
            <p:cNvSpPr/>
            <p:nvPr/>
          </p:nvSpPr>
          <p:spPr>
            <a:xfrm>
              <a:off x="7337779" y="1207911"/>
              <a:ext cx="1569154" cy="857956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AB6E38DB-35C1-6271-3038-5C3EA21A8A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4626" y="2818450"/>
            <a:ext cx="7772400" cy="12211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F3035CF-5A3A-9983-76C4-8D00CC6F87AC}"/>
              </a:ext>
            </a:extLst>
          </p:cNvPr>
          <p:cNvSpPr/>
          <p:nvPr/>
        </p:nvSpPr>
        <p:spPr>
          <a:xfrm>
            <a:off x="4343400" y="3542839"/>
            <a:ext cx="7643281" cy="496711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87813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61034E-4C59-46A2-2FF5-8980480A8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Configure Import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D4A3B5B-0C85-C634-B65F-C16E76113ED4}"/>
              </a:ext>
            </a:extLst>
          </p:cNvPr>
          <p:cNvGrpSpPr/>
          <p:nvPr/>
        </p:nvGrpSpPr>
        <p:grpSpPr>
          <a:xfrm>
            <a:off x="796788" y="945092"/>
            <a:ext cx="10598424" cy="4757092"/>
            <a:chOff x="756357" y="1271176"/>
            <a:chExt cx="10598424" cy="475709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1F4F52A-2C7D-BB28-22CF-93894A20FD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7218" y="1271176"/>
              <a:ext cx="10517563" cy="475709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4D33C3B8-4214-2A76-04F5-69F62175EAE5}"/>
                </a:ext>
              </a:extLst>
            </p:cNvPr>
            <p:cNvSpPr/>
            <p:nvPr/>
          </p:nvSpPr>
          <p:spPr>
            <a:xfrm>
              <a:off x="756357" y="1930399"/>
              <a:ext cx="1693331" cy="711201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9192017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9D5BB9-9548-722F-A46A-ABBF7FCF9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 Import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66CC291-CC4C-086C-F3AB-0405D18420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472" y="2386190"/>
            <a:ext cx="11403055" cy="252871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F96C9DE7-6485-91F5-8276-0CE79FFCE365}"/>
              </a:ext>
            </a:extLst>
          </p:cNvPr>
          <p:cNvSpPr/>
          <p:nvPr/>
        </p:nvSpPr>
        <p:spPr>
          <a:xfrm>
            <a:off x="1738489" y="3160888"/>
            <a:ext cx="1444978" cy="711201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377488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8E0F2-22B7-7687-BD9F-D23B35EE3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Customize Import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E5963B7-CDA4-645B-39A5-F98C85B2769A}"/>
              </a:ext>
            </a:extLst>
          </p:cNvPr>
          <p:cNvGrpSpPr/>
          <p:nvPr/>
        </p:nvGrpSpPr>
        <p:grpSpPr>
          <a:xfrm>
            <a:off x="449016" y="1198193"/>
            <a:ext cx="11293968" cy="4222044"/>
            <a:chOff x="449016" y="1591733"/>
            <a:chExt cx="11293968" cy="422204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DB98CAF-D099-7CBD-C420-3121E7D2AFD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9016" y="1591733"/>
              <a:ext cx="11293968" cy="4222044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76A0D2DA-17A5-BCEB-05DE-C44F8451B70C}"/>
                </a:ext>
              </a:extLst>
            </p:cNvPr>
            <p:cNvSpPr/>
            <p:nvPr/>
          </p:nvSpPr>
          <p:spPr>
            <a:xfrm>
              <a:off x="2980268" y="2381955"/>
              <a:ext cx="1817510" cy="711201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3438495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FCCD0-960A-DB9E-29E8-BA69C10D6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Preview Import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B1AFF98-4554-1199-F42D-EDBD77E36B14}"/>
              </a:ext>
            </a:extLst>
          </p:cNvPr>
          <p:cNvGrpSpPr/>
          <p:nvPr/>
        </p:nvGrpSpPr>
        <p:grpSpPr>
          <a:xfrm>
            <a:off x="1587266" y="1303789"/>
            <a:ext cx="9017468" cy="4250421"/>
            <a:chOff x="1587266" y="1585934"/>
            <a:chExt cx="9017468" cy="425042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B7FF67D5-E8FE-BC60-CD21-C5E5DEDD478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87266" y="1585934"/>
              <a:ext cx="9017468" cy="4250421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32E6590-8AA8-D202-31E1-CE752E674710}"/>
                </a:ext>
              </a:extLst>
            </p:cNvPr>
            <p:cNvSpPr/>
            <p:nvPr/>
          </p:nvSpPr>
          <p:spPr>
            <a:xfrm>
              <a:off x="6513691" y="2517421"/>
              <a:ext cx="1817510" cy="711201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4744764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8DFD76-EFA3-1904-1CC2-4759E6325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Schema Editor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2FE4D6-565A-EA0B-9CD3-2C33B0EF78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943601" cy="5213350"/>
          </a:xfrm>
        </p:spPr>
        <p:txBody>
          <a:bodyPr>
            <a:normAutofit/>
          </a:bodyPr>
          <a:lstStyle/>
          <a:p>
            <a:r>
              <a:rPr lang="en-US" sz="2800" dirty="0"/>
              <a:t>Most often used to add project or organization-specific </a:t>
            </a:r>
            <a:r>
              <a:rPr lang="en-US" sz="2800" b="1" dirty="0"/>
              <a:t>Labels</a:t>
            </a:r>
          </a:p>
          <a:p>
            <a:endParaRPr lang="en-US" sz="2800" b="1" dirty="0"/>
          </a:p>
          <a:p>
            <a:r>
              <a:rPr lang="en-US" sz="2800" dirty="0"/>
              <a:t>Recommended to not adjust </a:t>
            </a:r>
            <a:r>
              <a:rPr lang="en-US" sz="2800" b="1" dirty="0"/>
              <a:t>Classes</a:t>
            </a:r>
            <a:r>
              <a:rPr lang="en-US" sz="2800" dirty="0"/>
              <a:t> or </a:t>
            </a:r>
            <a:r>
              <a:rPr lang="en-US" sz="2800" b="1" dirty="0"/>
              <a:t>Relations</a:t>
            </a:r>
          </a:p>
          <a:p>
            <a:endParaRPr lang="en-US" sz="2800" b="1" dirty="0"/>
          </a:p>
          <a:p>
            <a:r>
              <a:rPr lang="en-US" sz="2800" b="1" dirty="0"/>
              <a:t>Workflow</a:t>
            </a:r>
            <a:r>
              <a:rPr lang="en-US" sz="2800" dirty="0"/>
              <a:t> management for change requests/issues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61F0D8-8948-BB61-F595-A5E8461B48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4131" y="1644650"/>
            <a:ext cx="4737100" cy="35687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554914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67A83-7323-749B-B912-583990B48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Innoslate</a:t>
            </a:r>
            <a:r>
              <a:rPr lang="en-US" b="1" dirty="0"/>
              <a:t> Demo</a:t>
            </a:r>
          </a:p>
        </p:txBody>
      </p:sp>
    </p:spTree>
    <p:extLst>
      <p:ext uri="{BB962C8B-B14F-4D97-AF65-F5344CB8AC3E}">
        <p14:creationId xmlns:p14="http://schemas.microsoft.com/office/powerpoint/2010/main" val="36182609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FDB70-E0A4-C5BE-2035-76FAD4836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3B7668-97A9-DEBD-50DC-D4917C4E49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11531600" cy="521335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800" dirty="0">
                <a:solidFill>
                  <a:srgbClr val="000000"/>
                </a:solidFill>
              </a:rPr>
              <a:t>Requirements must be </a:t>
            </a:r>
            <a:r>
              <a:rPr lang="en-US" sz="2800" b="1" dirty="0">
                <a:solidFill>
                  <a:srgbClr val="000000"/>
                </a:solidFill>
              </a:rPr>
              <a:t>SMART</a:t>
            </a:r>
          </a:p>
          <a:p>
            <a:r>
              <a:rPr lang="en-US" sz="2800" dirty="0"/>
              <a:t>Define what the system must do </a:t>
            </a:r>
            <a:r>
              <a:rPr lang="en-US" sz="2800" b="1" dirty="0"/>
              <a:t>without a particular solution</a:t>
            </a:r>
          </a:p>
          <a:p>
            <a:r>
              <a:rPr lang="en-US" sz="2800" dirty="0"/>
              <a:t>Typically a “shall” statement</a:t>
            </a:r>
          </a:p>
          <a:p>
            <a:r>
              <a:rPr lang="en-US" sz="2800" dirty="0"/>
              <a:t>Can be derived from multiple sources</a:t>
            </a:r>
          </a:p>
          <a:p>
            <a:pPr lvl="1"/>
            <a:r>
              <a:rPr lang="en-US" sz="2400" dirty="0"/>
              <a:t>High-level requirements come from upper-tier documents such as a Contract or SOW</a:t>
            </a:r>
          </a:p>
          <a:p>
            <a:pPr lvl="1"/>
            <a:r>
              <a:rPr lang="en-US" sz="2400" dirty="0"/>
              <a:t>Low-level requirements are derived from high-level requirements and allocated to specify system components that will satisfy the design constraint</a:t>
            </a:r>
          </a:p>
          <a:p>
            <a:pPr marL="0" indent="0">
              <a:buNone/>
            </a:pPr>
            <a:endParaRPr lang="en-US" sz="2800" dirty="0">
              <a:highlight>
                <a:srgbClr val="FFFF00"/>
              </a:highlight>
            </a:endParaRPr>
          </a:p>
          <a:p>
            <a:endParaRPr lang="en-US" sz="2800" dirty="0">
              <a:highlight>
                <a:srgbClr val="FFFF00"/>
              </a:highlight>
            </a:endParaRP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19122789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25F15E-424B-AA5A-B954-4B2C9665A8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7436" y="1197591"/>
            <a:ext cx="5867400" cy="5219700"/>
          </a:xfrm>
        </p:spPr>
        <p:txBody>
          <a:bodyPr>
            <a:normAutofit/>
          </a:bodyPr>
          <a:lstStyle/>
          <a:p>
            <a:r>
              <a:rPr lang="en-US" sz="2400" dirty="0"/>
              <a:t>Processes include requirements development, analysis, and tracking throughout the entire project lifecycle</a:t>
            </a:r>
          </a:p>
          <a:p>
            <a:endParaRPr lang="en-US" sz="2400" dirty="0"/>
          </a:p>
          <a:p>
            <a:r>
              <a:rPr lang="en-US" sz="2400" dirty="0"/>
              <a:t>Reduces project risk by minimizing scope creep, improving communication and collaboration, and ensuring stakeholder needs are met in design</a:t>
            </a:r>
          </a:p>
          <a:p>
            <a:endParaRPr lang="en-US" sz="2400" dirty="0">
              <a:highlight>
                <a:srgbClr val="FFFF00"/>
              </a:highlight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221111-7277-7F59-E141-B5FCBC421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62" y="0"/>
            <a:ext cx="10134599" cy="952500"/>
          </a:xfrm>
        </p:spPr>
        <p:txBody>
          <a:bodyPr anchor="ctr">
            <a:normAutofit/>
          </a:bodyPr>
          <a:lstStyle/>
          <a:p>
            <a:r>
              <a:rPr lang="en-US" dirty="0"/>
              <a:t>Requirements Management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6F55B7-EF5C-3E9A-8907-912780AE89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2299" y="1197591"/>
            <a:ext cx="4889500" cy="49022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7047357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ED6AC-8930-C1BF-B5F5-2A6DACC90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8912"/>
            <a:ext cx="10515600" cy="1325563"/>
          </a:xfrm>
        </p:spPr>
        <p:txBody>
          <a:bodyPr/>
          <a:lstStyle/>
          <a:p>
            <a:r>
              <a:rPr lang="en-US" dirty="0"/>
              <a:t>Requirements V&amp;V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B0F93E-8F8B-4430-018D-4FD72BA8A8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856515" cy="5213350"/>
          </a:xfrm>
        </p:spPr>
        <p:txBody>
          <a:bodyPr>
            <a:normAutofit/>
          </a:bodyPr>
          <a:lstStyle/>
          <a:p>
            <a:r>
              <a:rPr lang="en-US" sz="2000" b="1" dirty="0"/>
              <a:t>Requirements verification </a:t>
            </a:r>
            <a:r>
              <a:rPr lang="en-US" sz="2000" dirty="0"/>
              <a:t>-  the design is </a:t>
            </a:r>
            <a:r>
              <a:rPr lang="en-US" sz="2000" i="1" dirty="0"/>
              <a:t>right</a:t>
            </a:r>
          </a:p>
          <a:p>
            <a:pPr lvl="1"/>
            <a:r>
              <a:rPr lang="en-US" sz="2000" dirty="0"/>
              <a:t>Requirements are verified through either an analysis, demonstration, inspection, or test (ADIT)</a:t>
            </a:r>
          </a:p>
          <a:p>
            <a:pPr lvl="2"/>
            <a:r>
              <a:rPr lang="en-US" sz="2000" dirty="0"/>
              <a:t>Analysis</a:t>
            </a:r>
          </a:p>
          <a:p>
            <a:pPr lvl="2"/>
            <a:r>
              <a:rPr lang="en-US" sz="2000" dirty="0"/>
              <a:t>Demonstration</a:t>
            </a:r>
          </a:p>
          <a:p>
            <a:pPr lvl="2"/>
            <a:r>
              <a:rPr lang="en-US" sz="2000" dirty="0"/>
              <a:t>Inspection</a:t>
            </a:r>
          </a:p>
          <a:p>
            <a:pPr lvl="2"/>
            <a:r>
              <a:rPr lang="en-US" sz="2000" dirty="0"/>
              <a:t>Test</a:t>
            </a:r>
          </a:p>
          <a:p>
            <a:r>
              <a:rPr lang="en-US" sz="2000" b="1" dirty="0"/>
              <a:t>Requirements validation </a:t>
            </a:r>
            <a:r>
              <a:rPr lang="en-US" sz="2000" dirty="0"/>
              <a:t>- the </a:t>
            </a:r>
            <a:r>
              <a:rPr lang="en-US" sz="2000" i="1" dirty="0"/>
              <a:t>right</a:t>
            </a:r>
            <a:r>
              <a:rPr lang="en-US" sz="2000" dirty="0"/>
              <a:t> design</a:t>
            </a:r>
          </a:p>
          <a:p>
            <a:pPr lvl="1"/>
            <a:r>
              <a:rPr lang="en-US" sz="2000" dirty="0"/>
              <a:t>The final solution meets all stakeholder needs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A3144A-C26D-0C21-74C1-D93081A321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6063" y="1373702"/>
            <a:ext cx="4967027" cy="472590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408605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92F69-79E4-A04E-975B-459D9409E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Requirements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08DBCE-6EEA-965F-7378-93D31965AA98}"/>
              </a:ext>
            </a:extLst>
          </p:cNvPr>
          <p:cNvSpPr txBox="1"/>
          <p:nvPr/>
        </p:nvSpPr>
        <p:spPr>
          <a:xfrm>
            <a:off x="300942" y="1238491"/>
            <a:ext cx="4467827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Requirements can be imported from other sources (e.g., Microsoft Excel)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They can also be created directly within </a:t>
            </a:r>
            <a:r>
              <a:rPr lang="en-US" sz="2400" dirty="0" err="1"/>
              <a:t>Innoslate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Each requirement is given an entity ID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A “true” requirements management tool (e.g., IBM DOORS, Jama, </a:t>
            </a:r>
            <a:r>
              <a:rPr lang="en-US" sz="2400" dirty="0" err="1"/>
              <a:t>Visure</a:t>
            </a:r>
            <a:r>
              <a:rPr lang="en-US" sz="2400" dirty="0"/>
              <a:t>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9206216-B693-D8F5-D469-A926348DF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0105" y="1962258"/>
            <a:ext cx="7052842" cy="293348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0576594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9E916-5A8F-564E-7276-8749B6C4C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from Scratch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C4D2CD-2A33-2713-C1BE-3362D3434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287" y="1404574"/>
            <a:ext cx="6240764" cy="463507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BEC82C4-B88A-1090-DFA2-17710083A6E5}"/>
              </a:ext>
            </a:extLst>
          </p:cNvPr>
          <p:cNvSpPr/>
          <p:nvPr/>
        </p:nvSpPr>
        <p:spPr>
          <a:xfrm>
            <a:off x="6972300" y="1404574"/>
            <a:ext cx="1592966" cy="497711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20C11A-16CC-5B2F-4A30-FA38DA54AB5D}"/>
              </a:ext>
            </a:extLst>
          </p:cNvPr>
          <p:cNvSpPr txBox="1"/>
          <p:nvPr/>
        </p:nvSpPr>
        <p:spPr>
          <a:xfrm>
            <a:off x="327949" y="1653429"/>
            <a:ext cx="509286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Each type of Document has templates provided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New templates can be created and saved for re-use</a:t>
            </a:r>
          </a:p>
        </p:txBody>
      </p:sp>
    </p:spTree>
    <p:extLst>
      <p:ext uri="{BB962C8B-B14F-4D97-AF65-F5344CB8AC3E}">
        <p14:creationId xmlns:p14="http://schemas.microsoft.com/office/powerpoint/2010/main" val="202350517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25785-4281-71A5-4702-748BAE0CC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Document Display Settings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6E692-C12A-FB38-5459-D38B5BEAD7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943601" cy="5213350"/>
          </a:xfrm>
        </p:spPr>
        <p:txBody>
          <a:bodyPr>
            <a:noAutofit/>
          </a:bodyPr>
          <a:lstStyle/>
          <a:p>
            <a:r>
              <a:rPr lang="en-US" sz="2000" dirty="0"/>
              <a:t>Can choose to show/hide columns</a:t>
            </a:r>
          </a:p>
          <a:p>
            <a:r>
              <a:rPr lang="en-US" sz="2000" dirty="0"/>
              <a:t>Defaults are Rationale, Quality Score, and Labels</a:t>
            </a:r>
          </a:p>
          <a:p>
            <a:r>
              <a:rPr lang="en-US" sz="2000" dirty="0"/>
              <a:t>Labels typically show</a:t>
            </a:r>
          </a:p>
          <a:p>
            <a:pPr lvl="1"/>
            <a:r>
              <a:rPr lang="en-US" sz="2000" dirty="0"/>
              <a:t>Verification Method</a:t>
            </a:r>
          </a:p>
          <a:p>
            <a:pPr lvl="1"/>
            <a:r>
              <a:rPr lang="en-US" sz="2000" dirty="0"/>
              <a:t>Requirement Type</a:t>
            </a:r>
          </a:p>
          <a:p>
            <a:pPr lvl="2"/>
            <a:r>
              <a:rPr lang="en-US" sz="2000" dirty="0"/>
              <a:t>Environment</a:t>
            </a:r>
          </a:p>
          <a:p>
            <a:pPr lvl="2"/>
            <a:r>
              <a:rPr lang="en-US" sz="2000" dirty="0"/>
              <a:t>Performance</a:t>
            </a:r>
          </a:p>
          <a:p>
            <a:pPr lvl="2"/>
            <a:r>
              <a:rPr lang="en-US" sz="2000" dirty="0"/>
              <a:t>Functional</a:t>
            </a:r>
          </a:p>
          <a:p>
            <a:pPr lvl="2"/>
            <a:r>
              <a:rPr lang="en-US" sz="2000" dirty="0"/>
              <a:t>Interface</a:t>
            </a:r>
          </a:p>
          <a:p>
            <a:pPr lvl="2"/>
            <a:r>
              <a:rPr lang="en-US" sz="2000" dirty="0"/>
              <a:t>Reliability</a:t>
            </a:r>
          </a:p>
          <a:p>
            <a:pPr lvl="2"/>
            <a:r>
              <a:rPr lang="en-US" sz="2000" dirty="0"/>
              <a:t>Safety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76FE8F8-01EE-FBA1-9FFD-4A158D485A9B}"/>
              </a:ext>
            </a:extLst>
          </p:cNvPr>
          <p:cNvGrpSpPr/>
          <p:nvPr/>
        </p:nvGrpSpPr>
        <p:grpSpPr>
          <a:xfrm>
            <a:off x="6509657" y="1090391"/>
            <a:ext cx="4637314" cy="5318567"/>
            <a:chOff x="6509657" y="1090391"/>
            <a:chExt cx="4637314" cy="531856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2AE6C2-D408-B6FC-B88E-8DBCC9CE31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74313" y="1090391"/>
              <a:ext cx="4291414" cy="531856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CA28A519-692C-1257-60CE-F8DA1921159F}"/>
                </a:ext>
              </a:extLst>
            </p:cNvPr>
            <p:cNvSpPr/>
            <p:nvPr/>
          </p:nvSpPr>
          <p:spPr>
            <a:xfrm>
              <a:off x="6509657" y="1644432"/>
              <a:ext cx="4637314" cy="1132114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557953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64C1C-A7C8-4519-6990-8008FAA9A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Requirements Capabilities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5AE6DE-150D-D55D-FAC1-EEB5744CC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607051" cy="5213350"/>
          </a:xfrm>
        </p:spPr>
        <p:txBody>
          <a:bodyPr>
            <a:normAutofit/>
          </a:bodyPr>
          <a:lstStyle/>
          <a:p>
            <a:r>
              <a:rPr lang="en-US" dirty="0"/>
              <a:t>From the documents view, there are additional options to enhance the quality of requirements</a:t>
            </a:r>
          </a:p>
          <a:p>
            <a:r>
              <a:rPr lang="en-US" dirty="0"/>
              <a:t>Acronym Extractor</a:t>
            </a:r>
          </a:p>
          <a:p>
            <a:r>
              <a:rPr lang="en-US" dirty="0"/>
              <a:t>Auto Number</a:t>
            </a:r>
          </a:p>
          <a:p>
            <a:r>
              <a:rPr lang="en-US" dirty="0"/>
              <a:t>Baseline</a:t>
            </a:r>
          </a:p>
          <a:p>
            <a:r>
              <a:rPr lang="en-US" dirty="0"/>
              <a:t>Generate Risks</a:t>
            </a:r>
          </a:p>
          <a:p>
            <a:r>
              <a:rPr lang="en-US" dirty="0"/>
              <a:t>Generate Test Case</a:t>
            </a:r>
          </a:p>
          <a:p>
            <a:r>
              <a:rPr lang="en-US" dirty="0"/>
              <a:t>Quality Check</a:t>
            </a:r>
          </a:p>
          <a:p>
            <a:r>
              <a:rPr lang="en-US" dirty="0"/>
              <a:t>Splitter</a:t>
            </a:r>
          </a:p>
          <a:p>
            <a:r>
              <a:rPr lang="en-US" dirty="0"/>
              <a:t>Translate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F707148-6093-A155-3A29-CB00F25C6C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9829" y="1801472"/>
            <a:ext cx="2720408" cy="356177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9A5BE0C-4228-E146-F0AD-8218C7BB45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9450" y="1801471"/>
            <a:ext cx="2425700" cy="35560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2010376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42611-1FCD-469B-2409-41E37FA08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Acronym Extractor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2DF1F9-6766-F6B7-D3AE-8E34B15080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3840867" cy="5213350"/>
          </a:xfrm>
        </p:spPr>
        <p:txBody>
          <a:bodyPr>
            <a:normAutofit/>
          </a:bodyPr>
          <a:lstStyle/>
          <a:p>
            <a:r>
              <a:rPr lang="en-US" sz="2400" dirty="0"/>
              <a:t>Automatically extracts acronyms for any document</a:t>
            </a:r>
          </a:p>
          <a:p>
            <a:endParaRPr lang="en-US" sz="2400" dirty="0"/>
          </a:p>
          <a:p>
            <a:r>
              <a:rPr lang="en-US" sz="2400" dirty="0"/>
              <a:t>Depends on a person to define acronym at some point within the text</a:t>
            </a:r>
          </a:p>
          <a:p>
            <a:endParaRPr lang="en-US" sz="2400" dirty="0"/>
          </a:p>
          <a:p>
            <a:r>
              <a:rPr lang="en-US" sz="2400" dirty="0"/>
              <a:t>Trust, but verify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7FCE07-87A7-68EA-21A9-FD282F3931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771" y="2004346"/>
            <a:ext cx="7772400" cy="349065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6874011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19EA1-F2D7-67B2-7088-4D11FB776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Acronym Extractor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482C51-A565-7A9E-83F1-485338D12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4247" y="2065337"/>
            <a:ext cx="4396452" cy="3368675"/>
          </a:xfrm>
        </p:spPr>
        <p:txBody>
          <a:bodyPr>
            <a:normAutofit/>
          </a:bodyPr>
          <a:lstStyle/>
          <a:p>
            <a:r>
              <a:rPr lang="en-US" sz="2800" dirty="0"/>
              <a:t>Different results based on confidence level chosen</a:t>
            </a:r>
          </a:p>
          <a:p>
            <a:pPr lvl="1"/>
            <a:r>
              <a:rPr lang="en-US" sz="2800" dirty="0"/>
              <a:t>95%</a:t>
            </a:r>
          </a:p>
          <a:p>
            <a:pPr lvl="1"/>
            <a:r>
              <a:rPr lang="en-US" sz="2800" dirty="0"/>
              <a:t>65%</a:t>
            </a:r>
          </a:p>
          <a:p>
            <a:pPr lvl="1"/>
            <a:r>
              <a:rPr lang="en-US" sz="2800" dirty="0"/>
              <a:t>40%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0BE57F-A63D-276F-254C-EE00C96CE3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5988" y="1595469"/>
            <a:ext cx="6401765" cy="430841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6611651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7E253-5137-BD74-D099-D3FBEF08F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 Number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61359B-47CE-A2FA-D69C-4C9185A7E8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145" y="2286000"/>
            <a:ext cx="4604658" cy="2286000"/>
          </a:xfrm>
        </p:spPr>
        <p:txBody>
          <a:bodyPr>
            <a:normAutofit fontScale="77500" lnSpcReduction="20000"/>
          </a:bodyPr>
          <a:lstStyle/>
          <a:p>
            <a:r>
              <a:rPr lang="en-US" sz="3600" dirty="0"/>
              <a:t>Automatically number requirements recursively with a prefix for a given document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BA527E-2814-4BE7-E116-33E3E47934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558463"/>
            <a:ext cx="5500855" cy="438242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3994207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011322-DDA0-5B3D-F681-6D8347791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Auto-Generate Risks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5C48E4-6195-194C-BC3E-CCAB3E652A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160381" cy="5213350"/>
          </a:xfrm>
        </p:spPr>
        <p:txBody>
          <a:bodyPr>
            <a:normAutofit/>
          </a:bodyPr>
          <a:lstStyle/>
          <a:p>
            <a:r>
              <a:rPr lang="en-US" sz="2400" dirty="0"/>
              <a:t>Ability to automatically generate up to three risks for each requirement</a:t>
            </a:r>
          </a:p>
          <a:p>
            <a:r>
              <a:rPr lang="en-US" sz="2400" dirty="0"/>
              <a:t>Still needs to be verified</a:t>
            </a:r>
          </a:p>
          <a:p>
            <a:r>
              <a:rPr lang="en-US" sz="2400" dirty="0"/>
              <a:t>Provides traceability</a:t>
            </a:r>
          </a:p>
          <a:p>
            <a:r>
              <a:rPr lang="en-US" sz="2400" dirty="0"/>
              <a:t>Creates:</a:t>
            </a:r>
          </a:p>
          <a:p>
            <a:pPr lvl="1"/>
            <a:r>
              <a:rPr lang="en-US" sz="2400" dirty="0"/>
              <a:t>Description</a:t>
            </a:r>
          </a:p>
          <a:p>
            <a:pPr lvl="1"/>
            <a:r>
              <a:rPr lang="en-US" sz="2400" dirty="0"/>
              <a:t>Consequence </a:t>
            </a:r>
          </a:p>
          <a:p>
            <a:pPr lvl="1"/>
            <a:r>
              <a:rPr lang="en-US" sz="2400" dirty="0"/>
              <a:t>Probability</a:t>
            </a:r>
          </a:p>
          <a:p>
            <a:pPr lvl="1"/>
            <a:r>
              <a:rPr lang="en-US" sz="2400" dirty="0"/>
              <a:t>Risk Label</a:t>
            </a:r>
          </a:p>
          <a:p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B37CD0-D4F5-55CB-BB90-12DC868E48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769" y="1548315"/>
            <a:ext cx="6156015" cy="440271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98955076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EB5E1-9C50-83CB-ABAC-16E137986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Generate Test Cases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9DCBAC-C39A-15BE-EACA-11E8129056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943601" cy="5213350"/>
          </a:xfrm>
        </p:spPr>
        <p:txBody>
          <a:bodyPr>
            <a:normAutofit/>
          </a:bodyPr>
          <a:lstStyle/>
          <a:p>
            <a:r>
              <a:rPr lang="en-US" sz="2400" dirty="0"/>
              <a:t>Ability to automatically generate a test case for each requirement</a:t>
            </a:r>
          </a:p>
          <a:p>
            <a:r>
              <a:rPr lang="en-US" sz="2400" dirty="0"/>
              <a:t>Creates:</a:t>
            </a:r>
          </a:p>
          <a:p>
            <a:pPr lvl="1"/>
            <a:r>
              <a:rPr lang="en-US" sz="2400" dirty="0"/>
              <a:t>Number</a:t>
            </a:r>
          </a:p>
          <a:p>
            <a:pPr lvl="1"/>
            <a:r>
              <a:rPr lang="en-US" sz="2400" dirty="0"/>
              <a:t>Name</a:t>
            </a:r>
          </a:p>
          <a:p>
            <a:pPr lvl="1"/>
            <a:r>
              <a:rPr lang="en-US" sz="2400" dirty="0"/>
              <a:t>Description</a:t>
            </a:r>
          </a:p>
          <a:p>
            <a:pPr lvl="1"/>
            <a:r>
              <a:rPr lang="en-US" sz="2400" dirty="0"/>
              <a:t>Expected Result</a:t>
            </a:r>
          </a:p>
          <a:p>
            <a:pPr lvl="1"/>
            <a:r>
              <a:rPr lang="en-US" sz="2400" dirty="0"/>
              <a:t>Verification Method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C35395-1A6E-F1CC-D10D-A826551333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273" y="1398567"/>
            <a:ext cx="5731737" cy="470221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8626821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86070-D993-9892-116C-03FC2E24E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Quality Score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18071C-AC8A-459D-7769-DE89C440D3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4442750" cy="5213350"/>
          </a:xfrm>
        </p:spPr>
        <p:txBody>
          <a:bodyPr/>
          <a:lstStyle/>
          <a:p>
            <a:r>
              <a:rPr lang="en-US" dirty="0"/>
              <a:t>Verifies requirements are adequate based on quality attributes</a:t>
            </a:r>
          </a:p>
          <a:p>
            <a:pPr lvl="1"/>
            <a:r>
              <a:rPr lang="en-US" dirty="0"/>
              <a:t>Appropriate</a:t>
            </a:r>
          </a:p>
          <a:p>
            <a:pPr lvl="1"/>
            <a:r>
              <a:rPr lang="en-US" dirty="0"/>
              <a:t>Complete</a:t>
            </a:r>
          </a:p>
          <a:p>
            <a:pPr lvl="1"/>
            <a:r>
              <a:rPr lang="en-US" dirty="0"/>
              <a:t>Conforming</a:t>
            </a:r>
          </a:p>
          <a:p>
            <a:pPr lvl="1"/>
            <a:r>
              <a:rPr lang="en-US" dirty="0"/>
              <a:t>Correct</a:t>
            </a:r>
          </a:p>
          <a:p>
            <a:pPr lvl="1"/>
            <a:r>
              <a:rPr lang="en-US" dirty="0"/>
              <a:t>Feasible</a:t>
            </a:r>
          </a:p>
          <a:p>
            <a:pPr lvl="1"/>
            <a:r>
              <a:rPr lang="en-US" dirty="0"/>
              <a:t>Necessary</a:t>
            </a:r>
          </a:p>
          <a:p>
            <a:pPr lvl="1"/>
            <a:r>
              <a:rPr lang="en-US" dirty="0"/>
              <a:t>Singular</a:t>
            </a:r>
          </a:p>
          <a:p>
            <a:pPr lvl="1"/>
            <a:r>
              <a:rPr lang="en-US" dirty="0"/>
              <a:t>Unambiguous</a:t>
            </a:r>
          </a:p>
          <a:p>
            <a:pPr lvl="1"/>
            <a:r>
              <a:rPr lang="en-US" dirty="0"/>
              <a:t>Verifiable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6A79F8-6DC7-E617-AA56-09A9C61A59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7842" y="1168549"/>
            <a:ext cx="5129129" cy="509387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889347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905ECD-C779-288E-FAD0-74DE9DB79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 Attributes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53EB029-407F-1054-0845-50B92CE13C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95236739"/>
              </p:ext>
            </p:extLst>
          </p:nvPr>
        </p:nvGraphicFramePr>
        <p:xfrm>
          <a:off x="2715266" y="1080746"/>
          <a:ext cx="7563051" cy="4961140"/>
        </p:xfrm>
        <a:graphic>
          <a:graphicData uri="http://schemas.openxmlformats.org/drawingml/2006/table">
            <a:tbl>
              <a:tblPr firstRow="1" bandRow="1">
                <a:tableStyleId>{E8034E78-7F5D-4C2E-B375-FC64B27BC917}</a:tableStyleId>
              </a:tblPr>
              <a:tblGrid>
                <a:gridCol w="1081230">
                  <a:extLst>
                    <a:ext uri="{9D8B030D-6E8A-4147-A177-3AD203B41FA5}">
                      <a16:colId xmlns:a16="http://schemas.microsoft.com/office/drawing/2014/main" val="1797015269"/>
                    </a:ext>
                  </a:extLst>
                </a:gridCol>
                <a:gridCol w="1145894">
                  <a:extLst>
                    <a:ext uri="{9D8B030D-6E8A-4147-A177-3AD203B41FA5}">
                      <a16:colId xmlns:a16="http://schemas.microsoft.com/office/drawing/2014/main" val="1572065950"/>
                    </a:ext>
                  </a:extLst>
                </a:gridCol>
                <a:gridCol w="5335927">
                  <a:extLst>
                    <a:ext uri="{9D8B030D-6E8A-4147-A177-3AD203B41FA5}">
                      <a16:colId xmlns:a16="http://schemas.microsoft.com/office/drawing/2014/main" val="3656105926"/>
                    </a:ext>
                  </a:extLst>
                </a:gridCol>
              </a:tblGrid>
              <a:tr h="1134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Attribute </a:t>
                      </a:r>
                      <a:endParaRPr lang="en-US" sz="1400" dirty="0">
                        <a:solidFill>
                          <a:schemeClr val="bg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Type </a:t>
                      </a:r>
                      <a:endParaRPr lang="en-US" sz="1400" dirty="0">
                        <a:solidFill>
                          <a:schemeClr val="bg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Description </a:t>
                      </a:r>
                      <a:endParaRPr lang="en-US" sz="1400" dirty="0">
                        <a:solidFill>
                          <a:schemeClr val="bg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2460439988"/>
                  </a:ext>
                </a:extLst>
              </a:tr>
              <a:tr h="3402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solidFill>
                            <a:schemeClr val="tx1"/>
                          </a:solidFill>
                          <a:effectLst/>
                        </a:rPr>
                        <a:t>clear 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Boolean 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clear represents if this </a:t>
                      </a:r>
                      <a:r>
                        <a:rPr lang="en-US" sz="1400" b="1">
                          <a:solidFill>
                            <a:schemeClr val="tx1"/>
                          </a:solidFill>
                          <a:effectLst/>
                        </a:rPr>
                        <a:t>Requirement </a:t>
                      </a: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entity is unambiguous and not confusing. 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2652807067"/>
                  </a:ext>
                </a:extLst>
              </a:tr>
              <a:tr h="3402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</a:rPr>
                        <a:t>complete 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Boolean 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complete represents if this 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</a:rPr>
                        <a:t>Requirement 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entity expresses a whole idea. 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1661560520"/>
                  </a:ext>
                </a:extLst>
              </a:tr>
              <a:tr h="3402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solidFill>
                            <a:schemeClr val="tx1"/>
                          </a:solidFill>
                          <a:effectLst/>
                        </a:rPr>
                        <a:t>consistent 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Boolean 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consistent represents if this 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</a:rPr>
                        <a:t>Requirement 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entity is not in conflict with other requirements. 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131493086"/>
                  </a:ext>
                </a:extLst>
              </a:tr>
              <a:tr h="4536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solidFill>
                            <a:schemeClr val="tx1"/>
                          </a:solidFill>
                          <a:effectLst/>
                        </a:rPr>
                        <a:t>correct 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Boolean 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correct represents if this 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</a:rPr>
                        <a:t>Requirement 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entity describes the user's true intent and is legally possible. 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456649710"/>
                  </a:ext>
                </a:extLst>
              </a:tr>
              <a:tr h="4536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solidFill>
                            <a:schemeClr val="tx1"/>
                          </a:solidFill>
                          <a:effectLst/>
                        </a:rPr>
                        <a:t>design 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Boolean 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design represents if this 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</a:rPr>
                        <a:t>Requirement 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entity does not impose a specific solution on design; says "what", not "how". 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2265080893"/>
                  </a:ext>
                </a:extLst>
              </a:tr>
              <a:tr h="5670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solidFill>
                            <a:schemeClr val="tx1"/>
                          </a:solidFill>
                          <a:effectLst/>
                        </a:rPr>
                        <a:t>feasible 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Boolean 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feasible represents if this </a:t>
                      </a:r>
                      <a:r>
                        <a:rPr lang="en-US" sz="1400" b="1">
                          <a:solidFill>
                            <a:schemeClr val="tx1"/>
                          </a:solidFill>
                          <a:effectLst/>
                        </a:rPr>
                        <a:t>Requirement </a:t>
                      </a: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entity can be implemented with existing technology, within cost and schedule. 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2422403405"/>
                  </a:ext>
                </a:extLst>
              </a:tr>
              <a:tr h="4536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solidFill>
                            <a:schemeClr val="tx1"/>
                          </a:solidFill>
                          <a:effectLst/>
                        </a:rPr>
                        <a:t>modular 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Boolean 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modular represents if this </a:t>
                      </a:r>
                      <a:r>
                        <a:rPr lang="en-US" sz="1400" b="1">
                          <a:solidFill>
                            <a:schemeClr val="tx1"/>
                          </a:solidFill>
                          <a:effectLst/>
                        </a:rPr>
                        <a:t>Requirement </a:t>
                      </a: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entity can be changed without excessive impact on other requirements. 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3802351047"/>
                  </a:ext>
                </a:extLst>
              </a:tr>
              <a:tr h="5670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solidFill>
                            <a:schemeClr val="tx1"/>
                          </a:solidFill>
                          <a:effectLst/>
                        </a:rPr>
                        <a:t>traceable 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Boolean 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traceable represents if this </a:t>
                      </a:r>
                      <a:r>
                        <a:rPr lang="en-US" sz="1400" b="1">
                          <a:solidFill>
                            <a:schemeClr val="tx1"/>
                          </a:solidFill>
                          <a:effectLst/>
                        </a:rPr>
                        <a:t>Requirement </a:t>
                      </a: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entity is uniquely identified, and able to be tracked to predecessor and successor lifecycle items/objects. 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612072717"/>
                  </a:ext>
                </a:extLst>
              </a:tr>
              <a:tr h="5670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solidFill>
                            <a:schemeClr val="tx1"/>
                          </a:solidFill>
                          <a:effectLst/>
                        </a:rPr>
                        <a:t>verifiable 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Boolean 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verifiable represents if this 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</a:rPr>
                        <a:t>Requirement 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entity is provable (within realistic cost and schedule) that the system meets the requirement. 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32998840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4517009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1D96A-67A7-7E98-90B1-B73CE532F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Quality Checker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261B3E-3424-30CF-1664-9D83EA89A0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4920343" cy="5213350"/>
          </a:xfrm>
        </p:spPr>
        <p:txBody>
          <a:bodyPr>
            <a:normAutofit/>
          </a:bodyPr>
          <a:lstStyle/>
          <a:p>
            <a:r>
              <a:rPr lang="en-US" sz="2800" dirty="0"/>
              <a:t>Quality score will update based on manual entries for attributes</a:t>
            </a:r>
          </a:p>
          <a:p>
            <a:r>
              <a:rPr lang="en-US" sz="2800" dirty="0"/>
              <a:t>Will auto-generate based on the quality of requirements</a:t>
            </a:r>
          </a:p>
          <a:p>
            <a:r>
              <a:rPr lang="en-US" sz="2800" dirty="0"/>
              <a:t>Recommendations are made to improve requirements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66798B-4F15-4A3B-17A7-18622B7FFE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677" y="1635791"/>
            <a:ext cx="6515555" cy="422776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0831388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5EE885-4B86-0FE8-F75B-04C2014D1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Intelligence Dashboard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298E2CF-71CD-8599-2282-486BEBF2A8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9773" y="1061455"/>
            <a:ext cx="9172453" cy="452163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6197292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AE7B5-9699-E419-268E-29D6F8A63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Report Generation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1A41A7-A5D2-C7CE-27D6-69342FC352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0200" y="1713328"/>
            <a:ext cx="5167707" cy="2111829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z="2800" dirty="0"/>
              <a:t>Document are necessary to communicate with stakeholders</a:t>
            </a:r>
          </a:p>
          <a:p>
            <a:endParaRPr lang="en-US" sz="2800" dirty="0"/>
          </a:p>
          <a:p>
            <a:r>
              <a:rPr lang="en-US" sz="2800" dirty="0"/>
              <a:t>Purpose of a model is to facilitate construction of SE artifacts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FF27C5-3465-953B-4A48-995B870D0D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4862" y="1216185"/>
            <a:ext cx="5858327" cy="521794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9170058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5D8A6-B0AA-CD7A-C071-56C3497D1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4 Lab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FB3F2C-8628-EA4E-CA50-6FBE3A9E7A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0200" y="1066801"/>
            <a:ext cx="8686478" cy="4698999"/>
          </a:xfrm>
        </p:spPr>
        <p:txBody>
          <a:bodyPr>
            <a:noAutofit/>
          </a:bodyPr>
          <a:lstStyle/>
          <a:p>
            <a:r>
              <a:rPr lang="en-US" sz="2400" dirty="0"/>
              <a:t>Create a Requirements Document</a:t>
            </a:r>
          </a:p>
          <a:p>
            <a:r>
              <a:rPr lang="en-US" sz="2400" dirty="0"/>
              <a:t>Create Requirements</a:t>
            </a:r>
          </a:p>
          <a:p>
            <a:r>
              <a:rPr lang="en-US" sz="2400" dirty="0"/>
              <a:t>Add customized Label to the project</a:t>
            </a:r>
          </a:p>
          <a:p>
            <a:r>
              <a:rPr lang="en-US" sz="2400" dirty="0"/>
              <a:t>Add a Label to entities</a:t>
            </a:r>
          </a:p>
          <a:p>
            <a:r>
              <a:rPr lang="en-US" sz="2400" dirty="0"/>
              <a:t>Modify columns for Requirements Document</a:t>
            </a:r>
          </a:p>
          <a:p>
            <a:r>
              <a:rPr lang="en-US" sz="2400" dirty="0"/>
              <a:t>Run the Quality Checker for Requirements</a:t>
            </a:r>
          </a:p>
          <a:p>
            <a:r>
              <a:rPr lang="en-US" sz="2400" dirty="0"/>
              <a:t>Generate a Risk for Requirements</a:t>
            </a:r>
          </a:p>
          <a:p>
            <a:r>
              <a:rPr lang="en-US" sz="2400" dirty="0"/>
              <a:t>Generate a Test Case for Requirements</a:t>
            </a:r>
          </a:p>
        </p:txBody>
      </p:sp>
    </p:spTree>
    <p:extLst>
      <p:ext uri="{BB962C8B-B14F-4D97-AF65-F5344CB8AC3E}">
        <p14:creationId xmlns:p14="http://schemas.microsoft.com/office/powerpoint/2010/main" val="178682965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71825-F7A4-F155-8069-D6BB02D92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Lifecycle Management Framework (LMF)</a:t>
            </a:r>
          </a:p>
        </p:txBody>
      </p:sp>
    </p:spTree>
    <p:extLst>
      <p:ext uri="{BB962C8B-B14F-4D97-AF65-F5344CB8AC3E}">
        <p14:creationId xmlns:p14="http://schemas.microsoft.com/office/powerpoint/2010/main" val="87870141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98265-DBAB-EEA8-FBBF-035C4040D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LMF Mission Domain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A28CE87-634F-924B-545E-C03CC5D9F0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661" y="1579563"/>
            <a:ext cx="5295900" cy="4351338"/>
          </a:xfrm>
        </p:spPr>
        <p:txBody>
          <a:bodyPr>
            <a:normAutofit/>
          </a:bodyPr>
          <a:lstStyle/>
          <a:p>
            <a:r>
              <a:rPr lang="en-US" sz="2800" dirty="0"/>
              <a:t>Creates the </a:t>
            </a:r>
            <a:r>
              <a:rPr lang="en-US" sz="2800" b="1" dirty="0"/>
              <a:t>mission value </a:t>
            </a:r>
            <a:r>
              <a:rPr lang="en-US" sz="2800" dirty="0"/>
              <a:t>and provides the context for Who, What, Where, Why, and How</a:t>
            </a:r>
          </a:p>
          <a:p>
            <a:endParaRPr lang="en-US" sz="2800" dirty="0"/>
          </a:p>
          <a:p>
            <a:r>
              <a:rPr lang="en-US" sz="2800" i="1" dirty="0"/>
              <a:t>After </a:t>
            </a:r>
            <a:r>
              <a:rPr lang="en-US" sz="2800" dirty="0"/>
              <a:t>the Mission Domain, the Value Domain </a:t>
            </a:r>
            <a:r>
              <a:rPr lang="en-US" sz="2800" b="1" dirty="0"/>
              <a:t>realizes</a:t>
            </a:r>
            <a:r>
              <a:rPr lang="en-US" sz="2800" dirty="0"/>
              <a:t> the mission value</a:t>
            </a:r>
          </a:p>
          <a:p>
            <a:endParaRPr lang="en-US" sz="28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258DF1D-2C56-C565-C23D-99C86B9D5C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6960" y="1579563"/>
            <a:ext cx="5295900" cy="45974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8999102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F3DE7-DD95-B232-E534-7F5407794F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Lifecycle Stakeholder Questions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9FC7E9-4B6E-E8A9-1E1C-2F0BE00C90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5758" y="1099551"/>
            <a:ext cx="9160484" cy="465889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6168101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9F064-8570-D5D9-85D1-886C4B264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Mission Domain Focus Areas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60D7AE79-05B2-7628-3B29-4C85093C5C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89801" y="1966542"/>
            <a:ext cx="5371999" cy="292491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B8A2B0F-EF9F-6F3C-DB22-07CB07E74E85}"/>
              </a:ext>
            </a:extLst>
          </p:cNvPr>
          <p:cNvSpPr txBox="1"/>
          <p:nvPr/>
        </p:nvSpPr>
        <p:spPr>
          <a:xfrm>
            <a:off x="330200" y="945092"/>
            <a:ext cx="5885405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Enterprise Focus</a:t>
            </a:r>
            <a:r>
              <a:rPr lang="en-US" sz="2000" dirty="0"/>
              <a:t>—serves as the focal point for concerns of the organization(s) undertaking the mission and include the Enterprise Architecture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Design Focus</a:t>
            </a:r>
            <a:r>
              <a:rPr lang="en-US" sz="2000" dirty="0"/>
              <a:t>—the focal point for design concerns including infrastructure and technologies that enable the mission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User Focus</a:t>
            </a:r>
            <a:r>
              <a:rPr lang="en-US" sz="2000" dirty="0"/>
              <a:t>—the focal point for all aspects of the user/customer experience including ongoing operations and continuous delivery of capabilities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Implementation Focus</a:t>
            </a:r>
            <a:r>
              <a:rPr lang="en-US" sz="2000" dirty="0"/>
              <a:t>—the focal point for all activities and infrastructure needed to turn a design into a product, including procurement, manufacturing, and testing</a:t>
            </a:r>
          </a:p>
        </p:txBody>
      </p:sp>
    </p:spTree>
    <p:extLst>
      <p:ext uri="{BB962C8B-B14F-4D97-AF65-F5344CB8AC3E}">
        <p14:creationId xmlns:p14="http://schemas.microsoft.com/office/powerpoint/2010/main" val="427526793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1EA2D6-3CBB-E463-3061-2DCCEFB64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CF48E-7133-72D4-5447-3FDAADEFF8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LMF System Domain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2D8D95-F617-CD77-DD55-C1E0ECFAD3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833" y="1253331"/>
            <a:ext cx="5547167" cy="4351338"/>
          </a:xfrm>
        </p:spPr>
        <p:txBody>
          <a:bodyPr>
            <a:noAutofit/>
          </a:bodyPr>
          <a:lstStyle/>
          <a:p>
            <a:r>
              <a:rPr lang="en-US" sz="2800" dirty="0"/>
              <a:t>Completed </a:t>
            </a:r>
            <a:r>
              <a:rPr lang="en-US" sz="2800" i="1" dirty="0"/>
              <a:t>after </a:t>
            </a:r>
            <a:r>
              <a:rPr lang="en-US" sz="2800" dirty="0"/>
              <a:t>the Value Domain</a:t>
            </a:r>
          </a:p>
          <a:p>
            <a:r>
              <a:rPr lang="en-US" sz="2800" dirty="0"/>
              <a:t>Provides the context for all SE processes needed to turn the stakeholder needs into capabilities that </a:t>
            </a:r>
            <a:r>
              <a:rPr lang="en-US" sz="2800" b="1" dirty="0"/>
              <a:t>deliver value</a:t>
            </a:r>
          </a:p>
          <a:p>
            <a:r>
              <a:rPr lang="en-US" sz="2800" dirty="0"/>
              <a:t>This includes designing, building, testing, and delivering all </a:t>
            </a:r>
            <a:r>
              <a:rPr lang="en-US" sz="2800" b="1" dirty="0"/>
              <a:t>systems</a:t>
            </a:r>
          </a:p>
          <a:p>
            <a:endParaRPr lang="en-US" sz="2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0E2BEF0-D0AB-A547-8DFE-4A288B4B75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7267" y="1253331"/>
            <a:ext cx="5295900" cy="45974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6491155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EFDF0F-2469-F57C-DEB5-A3BE142935B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sz="2400" b="1" dirty="0"/>
              <a:t>Opportunity Viewpoint</a:t>
            </a:r>
            <a:r>
              <a:rPr lang="en-US" sz="2400" dirty="0"/>
              <a:t>—looks at the situation from the standpoint of </a:t>
            </a:r>
            <a:r>
              <a:rPr lang="en-US" sz="2400" b="1" dirty="0"/>
              <a:t>what</a:t>
            </a:r>
            <a:r>
              <a:rPr lang="en-US" sz="2400" dirty="0"/>
              <a:t> opportunities does the enterprise have or what problems need to be solved</a:t>
            </a:r>
          </a:p>
          <a:p>
            <a:r>
              <a:rPr lang="en-US" sz="2400" b="1" dirty="0"/>
              <a:t>Solution Viewpoint</a:t>
            </a:r>
            <a:r>
              <a:rPr lang="en-US" sz="2400" dirty="0"/>
              <a:t>—examines and determine solutions to the problem defined by the opportunity viewpoint</a:t>
            </a:r>
          </a:p>
          <a:p>
            <a:r>
              <a:rPr lang="en-US" sz="2400" b="1" dirty="0"/>
              <a:t>Execution Viewpoint</a:t>
            </a:r>
            <a:r>
              <a:rPr lang="en-US" sz="2400" dirty="0"/>
              <a:t>—includes the practical, programmatic, and enterprise efforts needed to turn the solution perspective into reality</a:t>
            </a:r>
          </a:p>
          <a:p>
            <a:r>
              <a:rPr lang="en-US" sz="2400" b="1" dirty="0"/>
              <a:t>DevOps Viewpoint</a:t>
            </a:r>
            <a:r>
              <a:rPr lang="en-US" sz="2400" dirty="0"/>
              <a:t>—leverages the capabilities supplied by the execution viewpoint to implement the envisioned solution</a:t>
            </a: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F004E5E-8EB7-2006-445A-B2CA861D9BC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096000" y="1690688"/>
            <a:ext cx="5788634" cy="393833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ECA4D53-6DAC-06AE-4C27-8D2B7D1C4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Domain Viewpoints</a:t>
            </a:r>
          </a:p>
        </p:txBody>
      </p:sp>
    </p:spTree>
    <p:extLst>
      <p:ext uri="{BB962C8B-B14F-4D97-AF65-F5344CB8AC3E}">
        <p14:creationId xmlns:p14="http://schemas.microsoft.com/office/powerpoint/2010/main" val="176097609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259826-FC4E-9077-4F9A-5FE90514CC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74650" y="945092"/>
            <a:ext cx="11225938" cy="4783904"/>
          </a:xfrm>
        </p:spPr>
        <p:txBody>
          <a:bodyPr>
            <a:noAutofit/>
          </a:bodyPr>
          <a:lstStyle/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Opportunity Viewpoint Evidence</a:t>
            </a:r>
          </a:p>
          <a:p>
            <a:pPr lvl="2"/>
            <a:r>
              <a:rPr lang="en-US" sz="2000" dirty="0"/>
              <a:t>Scope Model</a:t>
            </a:r>
          </a:p>
          <a:p>
            <a:pPr lvl="2"/>
            <a:r>
              <a:rPr lang="en-US" sz="2000" dirty="0"/>
              <a:t>Requirements Model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Solution Viewpoint Evidence</a:t>
            </a:r>
          </a:p>
          <a:p>
            <a:pPr lvl="2"/>
            <a:r>
              <a:rPr lang="en-US" sz="2000" dirty="0"/>
              <a:t>Design solution analyses models</a:t>
            </a:r>
          </a:p>
          <a:p>
            <a:pPr lvl="2"/>
            <a:r>
              <a:rPr lang="en-US" sz="2000" dirty="0"/>
              <a:t>Detailed Functional and Physical Architecture Models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Execution Viewpoint Evidence</a:t>
            </a:r>
          </a:p>
          <a:p>
            <a:pPr lvl="2"/>
            <a:r>
              <a:rPr lang="en-US" sz="2000" dirty="0"/>
              <a:t>Cost and Schedule Models</a:t>
            </a:r>
          </a:p>
          <a:p>
            <a:pPr lvl="2"/>
            <a:r>
              <a:rPr lang="en-US" sz="2000" dirty="0"/>
              <a:t>Risk Models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DevOps Viewpoint Evidence</a:t>
            </a:r>
          </a:p>
          <a:p>
            <a:pPr lvl="2"/>
            <a:r>
              <a:rPr lang="en-US" sz="2000" dirty="0"/>
              <a:t>V&amp;V Planning Models</a:t>
            </a:r>
          </a:p>
          <a:p>
            <a:pPr lvl="2"/>
            <a:r>
              <a:rPr lang="en-US" sz="2000" dirty="0" err="1"/>
              <a:t>ConOps</a:t>
            </a:r>
            <a:r>
              <a:rPr lang="en-US" sz="2000" dirty="0"/>
              <a:t> Models</a:t>
            </a:r>
          </a:p>
          <a:p>
            <a:endParaRPr lang="en-US" sz="20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F20DE20-3630-5ABE-E953-D359A34DE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Domain Deliverables</a:t>
            </a:r>
          </a:p>
        </p:txBody>
      </p:sp>
    </p:spTree>
    <p:extLst>
      <p:ext uri="{BB962C8B-B14F-4D97-AF65-F5344CB8AC3E}">
        <p14:creationId xmlns:p14="http://schemas.microsoft.com/office/powerpoint/2010/main" val="277888704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FE7B1FE-29F9-4DE9-B1EB-6CA16ED5D2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416" y="255644"/>
            <a:ext cx="11619508" cy="543996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5921476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EE761-1EB3-5A67-B000-F0CA00305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Mission Systems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B13CDF-A226-AB19-0380-89366A0681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6073" y="1257300"/>
            <a:ext cx="5351585" cy="4351338"/>
          </a:xfrm>
        </p:spPr>
        <p:txBody>
          <a:bodyPr>
            <a:normAutofit/>
          </a:bodyPr>
          <a:lstStyle/>
          <a:p>
            <a:r>
              <a:rPr lang="en-US" sz="2800" dirty="0"/>
              <a:t>Answers the question “What is the system?”</a:t>
            </a:r>
          </a:p>
          <a:p>
            <a:endParaRPr lang="en-US" sz="2800" dirty="0"/>
          </a:p>
          <a:p>
            <a:r>
              <a:rPr lang="en-US" sz="2800" dirty="0"/>
              <a:t>This physical architecture connects top-down </a:t>
            </a:r>
            <a:r>
              <a:rPr lang="en-US" sz="2800" b="1" dirty="0"/>
              <a:t>System</a:t>
            </a:r>
            <a:r>
              <a:rPr lang="en-US" sz="2800" dirty="0"/>
              <a:t> </a:t>
            </a:r>
            <a:r>
              <a:rPr lang="en-US" sz="2800" b="1" dirty="0"/>
              <a:t>Design</a:t>
            </a:r>
            <a:r>
              <a:rPr lang="en-US" sz="2800" dirty="0"/>
              <a:t> to bottom-up </a:t>
            </a:r>
            <a:r>
              <a:rPr lang="en-US" sz="2800" b="1" dirty="0"/>
              <a:t>System</a:t>
            </a:r>
            <a:r>
              <a:rPr lang="en-US" sz="2800" dirty="0"/>
              <a:t> </a:t>
            </a:r>
            <a:r>
              <a:rPr lang="en-US" sz="2800" b="1" dirty="0"/>
              <a:t>Implementation</a:t>
            </a:r>
            <a:endParaRPr lang="en-US" sz="2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0D8D26-B05A-BB62-7901-3979B2DD1D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3394" y="1257300"/>
            <a:ext cx="3009900" cy="43434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2594300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897FD-2394-AFEB-4FDB-FD81D64BD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Mission Value Stream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7B8E46-B982-E761-20CF-32213B9DC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385" y="1476556"/>
            <a:ext cx="3817122" cy="3904888"/>
          </a:xfrm>
        </p:spPr>
        <p:txBody>
          <a:bodyPr>
            <a:noAutofit/>
          </a:bodyPr>
          <a:lstStyle/>
          <a:p>
            <a:r>
              <a:rPr lang="en-US" sz="2400" dirty="0"/>
              <a:t>Answers the question “What does the system together with the enterprise do?” </a:t>
            </a:r>
          </a:p>
          <a:p>
            <a:endParaRPr lang="en-US" sz="2400" dirty="0"/>
          </a:p>
          <a:p>
            <a:r>
              <a:rPr lang="en-US" sz="2400" dirty="0"/>
              <a:t>This functional architecture connects the Enterprise to the Users and defines the </a:t>
            </a:r>
            <a:r>
              <a:rPr lang="en-US" sz="2400" b="1" dirty="0"/>
              <a:t>sequence of capabilities</a:t>
            </a:r>
            <a:endParaRPr lang="en-US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9D80A1-B054-7962-DCA8-02237B20D7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6507" y="2084377"/>
            <a:ext cx="7772400" cy="313472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7574648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16965-7458-8877-F64A-E488330E1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LMF Approach</a:t>
            </a:r>
          </a:p>
        </p:txBody>
      </p:sp>
      <p:pic>
        <p:nvPicPr>
          <p:cNvPr id="4" name="Content Placeholder 4" descr="A diagram of a diagram&#10;&#10;AI-generated content may be incorrect.">
            <a:extLst>
              <a:ext uri="{FF2B5EF4-FFF2-40B4-BE49-F238E27FC236}">
                <a16:creationId xmlns:a16="http://schemas.microsoft.com/office/drawing/2014/main" id="{77DDE29B-C869-C5A0-ACA5-6FBC916A83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2405" y="1103775"/>
            <a:ext cx="9607189" cy="442903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22872817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E10F0-72C1-E632-AE2C-AC4FD94C0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Minimum Viable Model (MVM)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6D300-9846-B67D-5BA7-1B3A389773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108938" cy="4351338"/>
          </a:xfrm>
        </p:spPr>
        <p:txBody>
          <a:bodyPr>
            <a:normAutofit/>
          </a:bodyPr>
          <a:lstStyle/>
          <a:p>
            <a:r>
              <a:rPr lang="en-US" sz="2400" dirty="0"/>
              <a:t>What does the system do?</a:t>
            </a:r>
          </a:p>
          <a:p>
            <a:pPr lvl="1"/>
            <a:r>
              <a:rPr lang="en-US" sz="2000" dirty="0"/>
              <a:t>Detailed Functional Architectures</a:t>
            </a:r>
          </a:p>
          <a:p>
            <a:pPr marL="457200" lvl="1" indent="0">
              <a:buNone/>
            </a:pPr>
            <a:endParaRPr lang="en-US" sz="2000" dirty="0"/>
          </a:p>
          <a:p>
            <a:r>
              <a:rPr lang="en-US" sz="2400" dirty="0"/>
              <a:t>What is the system?</a:t>
            </a:r>
          </a:p>
          <a:p>
            <a:pPr lvl="1"/>
            <a:r>
              <a:rPr lang="en-US" sz="2000" dirty="0"/>
              <a:t>Detailed Physical Architectures</a:t>
            </a:r>
          </a:p>
          <a:p>
            <a:pPr lvl="1"/>
            <a:r>
              <a:rPr lang="en-US" sz="2000" dirty="0"/>
              <a:t>Interface Architecture 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D8F5B5-51A5-D462-C382-90E421E643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2470880"/>
            <a:ext cx="6394938" cy="228185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0682358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736E3-874D-DD1C-259B-2F529FD09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Structural Architecture</a:t>
            </a:r>
          </a:p>
        </p:txBody>
      </p:sp>
    </p:spTree>
    <p:extLst>
      <p:ext uri="{BB962C8B-B14F-4D97-AF65-F5344CB8AC3E}">
        <p14:creationId xmlns:p14="http://schemas.microsoft.com/office/powerpoint/2010/main" val="275800767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21111-7277-7F59-E141-B5FCBC421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LML Asset Diagram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25F15E-424B-AA5A-B954-4B2C9665A8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1897" y="1122745"/>
            <a:ext cx="5491317" cy="4082668"/>
          </a:xfrm>
        </p:spPr>
        <p:txBody>
          <a:bodyPr>
            <a:noAutofit/>
          </a:bodyPr>
          <a:lstStyle/>
          <a:p>
            <a:pPr algn="l" rtl="0" fontAlgn="base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Shows the structural composition of a system and item flow between the components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Montserrat" pitchFamily="2" charset="77"/>
              </a:rPr>
              <a:t>​</a:t>
            </a:r>
          </a:p>
          <a:p>
            <a:pPr algn="l" rtl="0" fontAlgn="base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sz="2400" b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Connection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- specifies the means for relating </a:t>
            </a:r>
            <a:r>
              <a:rPr lang="en-US" sz="2400" b="0" i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Asset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instances to each other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Montserrat" pitchFamily="2" charset="77"/>
              </a:rPr>
              <a:t>​</a:t>
            </a:r>
          </a:p>
          <a:p>
            <a:pPr algn="l" rtl="0" fontAlgn="base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sz="2400" b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Conduit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- specifies the means for physically transporting </a:t>
            </a:r>
            <a:r>
              <a:rPr lang="en-US" sz="2400" b="0" i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Input/Output 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entities between </a:t>
            </a:r>
            <a:r>
              <a:rPr lang="en-US" sz="2400" b="0" i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Asset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entities.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Montserrat" pitchFamily="2" charset="77"/>
              </a:rPr>
              <a:t>​</a:t>
            </a:r>
          </a:p>
          <a:p>
            <a:pPr algn="l" rtl="0" fontAlgn="base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sz="2400" b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Asset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- specifies an object, person, or organization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Montserrat" pitchFamily="2" charset="77"/>
              </a:rPr>
              <a:t>​</a:t>
            </a:r>
          </a:p>
          <a:p>
            <a:pPr algn="l" rtl="0" fontAlgn="base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sz="2400" b="1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Resources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- specifies a consumable or producible </a:t>
            </a:r>
            <a:r>
              <a:rPr lang="en-US" sz="2400" b="0" i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Asset</a:t>
            </a:r>
            <a:endParaRPr lang="en-US" sz="2400" b="0" i="0" dirty="0">
              <a:solidFill>
                <a:srgbClr val="000000"/>
              </a:solidFill>
              <a:effectLst/>
              <a:latin typeface="Montserrat" pitchFamily="2" charset="77"/>
            </a:endParaRP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D09031B-A263-F82A-7261-3B94143AC8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6805" y="1809903"/>
            <a:ext cx="7572375" cy="355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251147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 descr="A diagram of a system&#10;&#10;AI-generated content may be incorrect.">
            <a:extLst>
              <a:ext uri="{FF2B5EF4-FFF2-40B4-BE49-F238E27FC236}">
                <a16:creationId xmlns:a16="http://schemas.microsoft.com/office/drawing/2014/main" id="{93D916DC-2770-B833-7D8F-9C142C6D115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9149" y="2385005"/>
            <a:ext cx="7127950" cy="2087985"/>
          </a:xfr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B9CC7AF-93FF-9C07-ADC0-03018ACBB2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45026" y="1616176"/>
            <a:ext cx="4594123" cy="3625645"/>
          </a:xfrm>
        </p:spPr>
        <p:txBody>
          <a:bodyPr>
            <a:normAutofit/>
          </a:bodyPr>
          <a:lstStyle/>
          <a:p>
            <a:r>
              <a:rPr lang="en-US" sz="2400" dirty="0"/>
              <a:t>Shows the high-level system architecture</a:t>
            </a:r>
          </a:p>
          <a:p>
            <a:r>
              <a:rPr lang="en-US" sz="2400" dirty="0"/>
              <a:t>Simplifies complex systems by showing very basic relationship</a:t>
            </a:r>
          </a:p>
          <a:p>
            <a:r>
              <a:rPr lang="en-US" sz="2400" dirty="0"/>
              <a:t>Easy to read and understand</a:t>
            </a:r>
          </a:p>
          <a:p>
            <a:r>
              <a:rPr lang="en-US" sz="2400" dirty="0"/>
              <a:t>Most general element is </a:t>
            </a:r>
            <a:r>
              <a:rPr lang="en-US" sz="2400" i="1" dirty="0"/>
              <a:t>typically</a:t>
            </a:r>
            <a:r>
              <a:rPr lang="en-US" sz="2400" dirty="0"/>
              <a:t> at the top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E57FF6-D32B-A3C9-2F8E-FEB1B05BF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Hierarchy Diagram</a:t>
            </a:r>
          </a:p>
        </p:txBody>
      </p:sp>
    </p:spTree>
    <p:extLst>
      <p:ext uri="{BB962C8B-B14F-4D97-AF65-F5344CB8AC3E}">
        <p14:creationId xmlns:p14="http://schemas.microsoft.com/office/powerpoint/2010/main" val="341077315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8B11505-1E12-3642-8D9F-31908ED6CC3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4400" y="1735563"/>
            <a:ext cx="5867400" cy="3386873"/>
          </a:xfr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1C79D93-1A91-6871-7AFA-4FBA96301D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0200" y="1270729"/>
            <a:ext cx="5269375" cy="2826709"/>
          </a:xfrm>
        </p:spPr>
        <p:txBody>
          <a:bodyPr>
            <a:noAutofit/>
          </a:bodyPr>
          <a:lstStyle/>
          <a:p>
            <a:r>
              <a:rPr lang="en-US" sz="2400" dirty="0"/>
              <a:t>Communicates high-level system structure of classes for a particular </a:t>
            </a:r>
            <a:r>
              <a:rPr lang="en-US" sz="2400" i="1" dirty="0"/>
              <a:t>Asset</a:t>
            </a:r>
          </a:p>
          <a:p>
            <a:endParaRPr lang="en-US" sz="2400" i="1" dirty="0"/>
          </a:p>
          <a:p>
            <a:r>
              <a:rPr lang="en-US" sz="2400" dirty="0"/>
              <a:t>Can show attributes and operations</a:t>
            </a:r>
          </a:p>
          <a:p>
            <a:endParaRPr lang="en-US" sz="2400" dirty="0"/>
          </a:p>
          <a:p>
            <a:r>
              <a:rPr lang="en-US" sz="2400" dirty="0"/>
              <a:t>Not concerned with interactions between components</a:t>
            </a:r>
          </a:p>
          <a:p>
            <a:endParaRPr lang="en-US" sz="2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DE86C3-DCA6-13E0-3DC0-1D1EF3F947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Diagram</a:t>
            </a:r>
          </a:p>
        </p:txBody>
      </p:sp>
    </p:spTree>
    <p:extLst>
      <p:ext uri="{BB962C8B-B14F-4D97-AF65-F5344CB8AC3E}">
        <p14:creationId xmlns:p14="http://schemas.microsoft.com/office/powerpoint/2010/main" val="296713410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5567362-886A-9256-F3F0-214EEEA4657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6250" y="1143000"/>
            <a:ext cx="5219700" cy="52197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B0F1D8-55C7-9128-177A-02CD33E2E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I2 Diagram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405C78C-6D18-811E-4BAF-C39B9864B2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67000" y="2042652"/>
            <a:ext cx="4815348" cy="4815348"/>
          </a:xfrm>
          <a:prstGeom prst="rect">
            <a:avLst/>
          </a:prstGeom>
        </p:spPr>
      </p:pic>
      <p:pic>
        <p:nvPicPr>
          <p:cNvPr id="10" name="Picture 9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B640E75E-666E-BD98-9A5F-B0571183774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2299" y="1522156"/>
            <a:ext cx="4461387" cy="446138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C11D826-6345-4CE0-4484-061497F6A8A4}"/>
              </a:ext>
            </a:extLst>
          </p:cNvPr>
          <p:cNvSpPr txBox="1"/>
          <p:nvPr/>
        </p:nvSpPr>
        <p:spPr>
          <a:xfrm>
            <a:off x="476250" y="1143000"/>
            <a:ext cx="561975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Focused on information exchange between components to enhance understanding of interdependencies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Rows and columns represent different components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Shows potential communication channels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Facilitates communication planning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Identifies communication bottlenecks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878709877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F8EB836-0922-B6C7-0572-12701A3B695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5768" y="1222392"/>
            <a:ext cx="7175234" cy="4541770"/>
          </a:xfr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26291A-C09E-DF03-F8D7-ABFABB099C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4858" y="1093838"/>
            <a:ext cx="5867400" cy="5219700"/>
          </a:xfrm>
        </p:spPr>
        <p:txBody>
          <a:bodyPr>
            <a:normAutofit/>
          </a:bodyPr>
          <a:lstStyle/>
          <a:p>
            <a:r>
              <a:rPr lang="en-US" sz="2400" dirty="0"/>
              <a:t>Shows physical connections, interactions, and information exchange</a:t>
            </a:r>
          </a:p>
          <a:p>
            <a:endParaRPr lang="en-US" sz="2400" dirty="0"/>
          </a:p>
          <a:p>
            <a:r>
              <a:rPr lang="en-US" sz="2400" dirty="0"/>
              <a:t>Provides clarity of information flow</a:t>
            </a:r>
          </a:p>
          <a:p>
            <a:endParaRPr lang="en-US" sz="2400" dirty="0"/>
          </a:p>
          <a:p>
            <a:r>
              <a:rPr lang="en-US" sz="2400" dirty="0"/>
              <a:t>Represents input/outputs between components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936AAC-0273-2972-2E6B-DCF6C8DC2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Physical I/O Diagram</a:t>
            </a:r>
          </a:p>
        </p:txBody>
      </p:sp>
    </p:spTree>
    <p:extLst>
      <p:ext uri="{BB962C8B-B14F-4D97-AF65-F5344CB8AC3E}">
        <p14:creationId xmlns:p14="http://schemas.microsoft.com/office/powerpoint/2010/main" val="20996091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60C6D-F176-0B6F-8B7C-C97055B72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5 Lab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CF0AEF-1715-D774-6F7E-C3CD7A1766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Create an Asset Diagram</a:t>
            </a:r>
          </a:p>
          <a:p>
            <a:r>
              <a:rPr lang="en-US" sz="2400" dirty="0"/>
              <a:t>Create a Hierarchy Diagram</a:t>
            </a:r>
          </a:p>
          <a:p>
            <a:r>
              <a:rPr lang="en-US" sz="2400" dirty="0"/>
              <a:t>Create a Layer Diagram</a:t>
            </a:r>
          </a:p>
          <a:p>
            <a:r>
              <a:rPr lang="en-US" sz="2400" dirty="0"/>
              <a:t>Create a Risk Matrix</a:t>
            </a:r>
          </a:p>
          <a:p>
            <a:r>
              <a:rPr lang="en-US" sz="2400" dirty="0"/>
              <a:t>See the relationships created between Assets and other entities</a:t>
            </a:r>
          </a:p>
        </p:txBody>
      </p:sp>
    </p:spTree>
    <p:extLst>
      <p:ext uri="{BB962C8B-B14F-4D97-AF65-F5344CB8AC3E}">
        <p14:creationId xmlns:p14="http://schemas.microsoft.com/office/powerpoint/2010/main" val="47957517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592F2-CE7E-02D6-DEF7-D0DED2C70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F4889-54B1-2DBD-C25A-8BEE83599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Functional Architecture</a:t>
            </a:r>
          </a:p>
        </p:txBody>
      </p:sp>
    </p:spTree>
    <p:extLst>
      <p:ext uri="{BB962C8B-B14F-4D97-AF65-F5344CB8AC3E}">
        <p14:creationId xmlns:p14="http://schemas.microsoft.com/office/powerpoint/2010/main" val="184431451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3F43DE2-84B5-4F4C-8D00-E338B820D2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2400" y="1143000"/>
            <a:ext cx="4785745" cy="52197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Use Case Diagrams capture the high-level functions of a system</a:t>
            </a:r>
            <a:endParaRPr lang="en-US" dirty="0">
              <a:ea typeface="Calibri"/>
              <a:cs typeface="Calibri"/>
            </a:endParaRPr>
          </a:p>
          <a:p>
            <a:r>
              <a:rPr lang="en-US" dirty="0"/>
              <a:t>Use cases refine stakeholder needs</a:t>
            </a:r>
          </a:p>
          <a:p>
            <a:r>
              <a:rPr lang="en-US" dirty="0"/>
              <a:t>Often created early in the MBSE process to begin the functional decomposition of the architecture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121E8CF-A497-4D39-8EEB-974823916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/>
                <a:cs typeface="Arial"/>
              </a:rPr>
              <a:t>Use Case Diagram Purpose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9D76972-80C4-96D8-EA08-8C8A8CF67F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9713" y="1491417"/>
            <a:ext cx="6038894" cy="423865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2308330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F8343-ADC0-44A5-AD06-CD8DA1A0F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ACE4B38-B5D0-4ED4-890D-A911B18967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05668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Use Cases represent the high-level, user-facing, behaviors of the system.</a:t>
            </a:r>
            <a:endParaRPr lang="en-US" dirty="0">
              <a:ea typeface="Calibri"/>
              <a:cs typeface="Calibri"/>
            </a:endParaRPr>
          </a:p>
          <a:p>
            <a:r>
              <a:rPr lang="en-US" dirty="0"/>
              <a:t>Use Cases should be written as short, verb phrases</a:t>
            </a:r>
          </a:p>
          <a:p>
            <a:r>
              <a:rPr lang="en-US" dirty="0"/>
              <a:t>Use Cases should be traced back to the stakeholder needs using the Refine relationship of Requirements.</a:t>
            </a:r>
          </a:p>
          <a:p>
            <a:r>
              <a:rPr lang="en-US" dirty="0"/>
              <a:t>Use Cases are often decomposed into behavior diagrams</a:t>
            </a:r>
            <a:endParaRPr lang="en-US" dirty="0">
              <a:ea typeface="Calibri"/>
              <a:cs typeface="Calibri"/>
            </a:endParaRPr>
          </a:p>
        </p:txBody>
      </p:sp>
      <p:pic>
        <p:nvPicPr>
          <p:cNvPr id="3" name="Picture 2" descr="A white oval with black text&#10;&#10;AI-generated content may be incorrect.">
            <a:extLst>
              <a:ext uri="{FF2B5EF4-FFF2-40B4-BE49-F238E27FC236}">
                <a16:creationId xmlns:a16="http://schemas.microsoft.com/office/drawing/2014/main" id="{F98D199C-59F9-AB75-E03F-0F073EE029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9570" y="2852528"/>
            <a:ext cx="4088541" cy="208229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1446509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14D995-08E6-482D-BB07-AD371592B8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2400" y="1143000"/>
            <a:ext cx="5867400" cy="52197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600" dirty="0"/>
              <a:t>Actors represent the stakeholders and external entities that will act upon the system.</a:t>
            </a:r>
          </a:p>
          <a:p>
            <a:r>
              <a:rPr lang="en-US" sz="2600" dirty="0"/>
              <a:t>Actors are represented by stick figures but can be non-human entities.</a:t>
            </a:r>
            <a:endParaRPr lang="en-US" sz="2600" dirty="0">
              <a:ea typeface="Calibri"/>
              <a:cs typeface="Calibri"/>
            </a:endParaRPr>
          </a:p>
          <a:p>
            <a:endParaRPr lang="en-US" sz="2600" dirty="0">
              <a:ea typeface="Calibri"/>
              <a:cs typeface="Calibri"/>
            </a:endParaRPr>
          </a:p>
          <a:p>
            <a:pPr lvl="1"/>
            <a:endParaRPr lang="en-US" sz="2600" dirty="0">
              <a:ea typeface="Calibri"/>
              <a:cs typeface="Calibri"/>
            </a:endParaRPr>
          </a:p>
          <a:p>
            <a:pPr lvl="1"/>
            <a:endParaRPr lang="en-US" sz="26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27E752-112D-4A5B-8897-2BA57626AA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0" y="0"/>
            <a:ext cx="10134599" cy="952500"/>
          </a:xfrm>
        </p:spPr>
        <p:txBody>
          <a:bodyPr anchor="ctr">
            <a:normAutofit/>
          </a:bodyPr>
          <a:lstStyle/>
          <a:p>
            <a:r>
              <a:rPr lang="en-US" dirty="0"/>
              <a:t>Actors</a:t>
            </a:r>
          </a:p>
        </p:txBody>
      </p:sp>
      <p:pic>
        <p:nvPicPr>
          <p:cNvPr id="3" name="Picture 2" descr="A blue cross with black lines&#10;&#10;AI-generated content may be incorrect.">
            <a:extLst>
              <a:ext uri="{FF2B5EF4-FFF2-40B4-BE49-F238E27FC236}">
                <a16:creationId xmlns:a16="http://schemas.microsoft.com/office/drawing/2014/main" id="{1F5E0C30-ED3E-0D0D-FCD1-AC2AE5AFAD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2617" y="1783644"/>
            <a:ext cx="2386471" cy="4048478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6425770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347C98-1F26-4067-BC50-3F45496B18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2400" y="1143000"/>
            <a:ext cx="5867400" cy="52197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System boundaries represent a delineation between external actors and the internal use cases.</a:t>
            </a:r>
          </a:p>
          <a:p>
            <a:r>
              <a:rPr lang="en-US" dirty="0"/>
              <a:t>Use Cases should be placed inside the shape of the system boundary and the actors should be place around the border.</a:t>
            </a:r>
          </a:p>
        </p:txBody>
      </p:sp>
      <p:pic>
        <p:nvPicPr>
          <p:cNvPr id="6" name="Content Placeholder 5" descr="A diagram of a phone context&#10;&#10;AI-generated content may be incorrect.">
            <a:extLst>
              <a:ext uri="{FF2B5EF4-FFF2-40B4-BE49-F238E27FC236}">
                <a16:creationId xmlns:a16="http://schemas.microsoft.com/office/drawing/2014/main" id="{D6F7FF6E-D400-52E5-B97E-EAA10857C6F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979097" y="1317879"/>
            <a:ext cx="5867400" cy="4869941"/>
          </a:xfr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F1F7E7A-1E3D-42D6-B52E-A66980C9AA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0" y="0"/>
            <a:ext cx="10134599" cy="952500"/>
          </a:xfrm>
        </p:spPr>
        <p:txBody>
          <a:bodyPr anchor="ctr">
            <a:normAutofit/>
          </a:bodyPr>
          <a:lstStyle/>
          <a:p>
            <a:r>
              <a:rPr lang="en-US" dirty="0">
                <a:latin typeface="Arial"/>
                <a:cs typeface="Arial"/>
              </a:rPr>
              <a:t>System Boundaries</a:t>
            </a:r>
          </a:p>
        </p:txBody>
      </p:sp>
    </p:spTree>
    <p:extLst>
      <p:ext uri="{BB962C8B-B14F-4D97-AF65-F5344CB8AC3E}">
        <p14:creationId xmlns:p14="http://schemas.microsoft.com/office/powerpoint/2010/main" val="375585614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ABF5B3-8BBB-4C1D-A5AE-54E284B4EA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2399" y="1143000"/>
            <a:ext cx="11887199" cy="2159493"/>
          </a:xfrm>
        </p:spPr>
        <p:txBody>
          <a:bodyPr>
            <a:normAutofit/>
          </a:bodyPr>
          <a:lstStyle/>
          <a:p>
            <a:r>
              <a:rPr lang="en-US" dirty="0"/>
              <a:t>Use Cases are related to Actors through Association relationships.</a:t>
            </a:r>
          </a:p>
          <a:p>
            <a:r>
              <a:rPr lang="en-US" dirty="0"/>
              <a:t>Associations denote which use cases an actor is able to invoke on the system.</a:t>
            </a:r>
          </a:p>
          <a:p>
            <a:r>
              <a:rPr lang="en-US" dirty="0"/>
              <a:t>Actors can be associated with any number of use cases and use cases can be associated to any number of actors.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7AC25F-27D3-4C8F-B22C-3CC18A578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Associations</a:t>
            </a:r>
          </a:p>
        </p:txBody>
      </p:sp>
      <p:pic>
        <p:nvPicPr>
          <p:cNvPr id="7" name="Picture 6" descr="A white oval with a black arrow pointing to a white oval&#10;&#10;AI-generated content may be incorrect.">
            <a:extLst>
              <a:ext uri="{FF2B5EF4-FFF2-40B4-BE49-F238E27FC236}">
                <a16:creationId xmlns:a16="http://schemas.microsoft.com/office/drawing/2014/main" id="{67E820D2-998E-AC37-443C-8EE6D397E0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9497" y="3425537"/>
            <a:ext cx="8453004" cy="23622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3220575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52D115-3A0E-45E3-B4F5-26A2DDCB024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/>
              <a:t>Includes</a:t>
            </a:r>
          </a:p>
          <a:p>
            <a:pPr lvl="1"/>
            <a:r>
              <a:rPr lang="en-US" dirty="0"/>
              <a:t>The includes relationship shows that one use case will include the steps of another use case.</a:t>
            </a:r>
          </a:p>
          <a:p>
            <a:pPr lvl="1"/>
            <a:r>
              <a:rPr lang="en-US" dirty="0"/>
              <a:t>Whenever the base use case executes, the included use case must execute</a:t>
            </a:r>
            <a:endParaRPr lang="en-US" dirty="0">
              <a:ea typeface="Calibri"/>
              <a:cs typeface="Calibri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41F519-965E-4178-A25E-7B5CE81B54C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/>
              <a:t>Extends</a:t>
            </a:r>
          </a:p>
          <a:p>
            <a:pPr lvl="1"/>
            <a:r>
              <a:rPr lang="en-US" dirty="0"/>
              <a:t>The extends relationship shows that one use case can extend another</a:t>
            </a:r>
            <a:endParaRPr lang="en-US" dirty="0">
              <a:ea typeface="Calibri"/>
              <a:cs typeface="Calibri"/>
            </a:endParaRPr>
          </a:p>
          <a:p>
            <a:pPr lvl="1"/>
            <a:r>
              <a:rPr lang="en-US" dirty="0"/>
              <a:t>When the base use case executes, the extended use case may or may not execute</a:t>
            </a:r>
            <a:endParaRPr lang="en-US" dirty="0">
              <a:ea typeface="Calibri"/>
              <a:cs typeface="Calibri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E92807-1561-4C35-97BA-D8474349E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Includes and Extends</a:t>
            </a:r>
          </a:p>
        </p:txBody>
      </p:sp>
      <p:pic>
        <p:nvPicPr>
          <p:cNvPr id="5" name="Picture 4" descr="A diagram of a flowchart&#10;&#10;AI-generated content may be incorrect.">
            <a:extLst>
              <a:ext uri="{FF2B5EF4-FFF2-40B4-BE49-F238E27FC236}">
                <a16:creationId xmlns:a16="http://schemas.microsoft.com/office/drawing/2014/main" id="{82DC099C-22E3-D6C4-98BE-F586AC6D17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9761" y="3429866"/>
            <a:ext cx="4705350" cy="268605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 descr="A diagram of a phone&#10;&#10;AI-generated content may be incorrect.">
            <a:extLst>
              <a:ext uri="{FF2B5EF4-FFF2-40B4-BE49-F238E27FC236}">
                <a16:creationId xmlns:a16="http://schemas.microsoft.com/office/drawing/2014/main" id="{A4E59FC4-30BB-87F9-27A6-A7DF6FCB9E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466" y="3431229"/>
            <a:ext cx="4548897" cy="267875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0010375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3D88D-51B3-492C-7734-4EDBC1D00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LML Constructs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405481-5E64-E981-B463-592593AA44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Sequential </a:t>
            </a:r>
          </a:p>
          <a:p>
            <a:endParaRPr lang="en-US" sz="2400" dirty="0"/>
          </a:p>
          <a:p>
            <a:r>
              <a:rPr lang="en-US" sz="2400" dirty="0"/>
              <a:t>Parallel </a:t>
            </a:r>
          </a:p>
          <a:p>
            <a:endParaRPr lang="en-US" sz="2400" dirty="0"/>
          </a:p>
          <a:p>
            <a:r>
              <a:rPr lang="en-US" sz="2400" dirty="0"/>
              <a:t>Selection</a:t>
            </a:r>
          </a:p>
          <a:p>
            <a:pPr marL="0" indent="0">
              <a:buNone/>
            </a:pPr>
            <a:endParaRPr lang="en-US" sz="2400" dirty="0"/>
          </a:p>
          <a:p>
            <a:r>
              <a:rPr lang="en-US" sz="2400" dirty="0"/>
              <a:t>Loop</a:t>
            </a:r>
          </a:p>
          <a:p>
            <a:endParaRPr lang="en-US" sz="2400" dirty="0"/>
          </a:p>
          <a:p>
            <a:r>
              <a:rPr lang="en-US" sz="2400" b="1" dirty="0"/>
              <a:t>Synchronization</a:t>
            </a:r>
          </a:p>
          <a:p>
            <a:endParaRPr lang="en-US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6EEB88-B7FB-BE0E-6D73-014CF53A98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444869"/>
            <a:ext cx="4508500" cy="46482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27437954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66595-5838-34D6-12AA-648D33706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LML Action Diagram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26D759-5399-C0BF-3A9F-9C512D584F13}"/>
              </a:ext>
            </a:extLst>
          </p:cNvPr>
          <p:cNvSpPr txBox="1"/>
          <p:nvPr/>
        </p:nvSpPr>
        <p:spPr>
          <a:xfrm>
            <a:off x="428017" y="1166842"/>
            <a:ext cx="612842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 fontAlgn="base"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Shows functional flow (i.e., behavior)</a:t>
            </a:r>
          </a:p>
          <a:p>
            <a:pPr algn="l" rtl="0" fontAlgn="base">
              <a:buFont typeface="Arial" panose="020B0604020202020204" pitchFamily="34" charset="0"/>
              <a:buChar char="•"/>
            </a:pPr>
            <a:endParaRPr lang="en-US" sz="2400" b="0" i="0" dirty="0">
              <a:solidFill>
                <a:srgbClr val="000000"/>
              </a:solidFill>
              <a:effectLst/>
              <a:latin typeface="Montserrat" pitchFamily="2" charset="77"/>
            </a:endParaRPr>
          </a:p>
          <a:p>
            <a:pPr algn="l" rtl="0" fontAlgn="base"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Uses the following classes: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Montserrat" pitchFamily="2" charset="77"/>
              </a:rPr>
              <a:t>​</a:t>
            </a:r>
          </a:p>
          <a:p>
            <a:pPr lvl="1" fontAlgn="base"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</a:t>
            </a:r>
            <a:r>
              <a:rPr lang="en-US" sz="2400" b="1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Action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(rounded rectangle) - specifies the mechanism by which inputs are transformed into outputs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Montserrat" pitchFamily="2" charset="77"/>
              </a:rPr>
              <a:t>​</a:t>
            </a:r>
          </a:p>
          <a:p>
            <a:pPr lvl="1" fontAlgn="base"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</a:t>
            </a:r>
            <a:r>
              <a:rPr lang="en-US" sz="2400" b="1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Input/Output 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(parallelogram) - specifies the information, data, or object input to, trigger, or output from an </a:t>
            </a:r>
            <a:r>
              <a:rPr lang="en-US" sz="2400" b="0" i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Action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Montserrat" pitchFamily="2" charset="77"/>
              </a:rPr>
              <a:t>​</a:t>
            </a:r>
          </a:p>
          <a:p>
            <a:pPr lvl="1" fontAlgn="base"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</a:t>
            </a:r>
            <a:r>
              <a:rPr lang="en-US" sz="2400" b="1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Resource 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(hexagon) - specifies a consumable or producible </a:t>
            </a:r>
            <a:r>
              <a:rPr lang="en-US" sz="2400" b="0" i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Asset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Montserrat" pitchFamily="2" charset="77"/>
              </a:rPr>
              <a:t>​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50E44A-53A1-5D31-9676-152F7DF2BD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3016" y="1225619"/>
            <a:ext cx="5090967" cy="440675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1023534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D68DE3-079D-DB87-12F7-814BB09A2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Relationships in LML Action Diagrams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795BB2-B460-67E4-42F6-7E6553A137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935" y="2660946"/>
            <a:ext cx="10820130" cy="296129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C13D6E2-B324-E0C4-7799-D1A94E09E1F6}"/>
              </a:ext>
            </a:extLst>
          </p:cNvPr>
          <p:cNvSpPr txBox="1"/>
          <p:nvPr/>
        </p:nvSpPr>
        <p:spPr>
          <a:xfrm>
            <a:off x="525828" y="1363081"/>
            <a:ext cx="101691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/>
              <a:t>Seizes</a:t>
            </a:r>
            <a:r>
              <a:rPr lang="en-US" sz="2400" dirty="0"/>
              <a:t> - between resources and 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/>
              <a:t>Consumes</a:t>
            </a:r>
            <a:r>
              <a:rPr lang="en-US" sz="2400" dirty="0"/>
              <a:t> – between resources and 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/>
              <a:t>Flow </a:t>
            </a:r>
            <a:r>
              <a:rPr lang="en-US" sz="2400" dirty="0"/>
              <a:t>– between actions</a:t>
            </a:r>
          </a:p>
        </p:txBody>
      </p:sp>
    </p:spTree>
    <p:extLst>
      <p:ext uri="{BB962C8B-B14F-4D97-AF65-F5344CB8AC3E}">
        <p14:creationId xmlns:p14="http://schemas.microsoft.com/office/powerpoint/2010/main" val="14424807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4D97A9-994D-4FED-C1A8-295BC4CA631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Provides a visual representation of system interactions</a:t>
            </a:r>
          </a:p>
          <a:p>
            <a:endParaRPr lang="en-US" sz="2400" dirty="0"/>
          </a:p>
          <a:p>
            <a:r>
              <a:rPr lang="en-US" sz="2400" dirty="0"/>
              <a:t>Rows and columns list the same system components</a:t>
            </a:r>
          </a:p>
          <a:p>
            <a:endParaRPr lang="en-US" sz="2400" dirty="0"/>
          </a:p>
          <a:p>
            <a:r>
              <a:rPr lang="en-US" sz="2400" dirty="0"/>
              <a:t>Intersection cells show how components interact</a:t>
            </a:r>
          </a:p>
        </p:txBody>
      </p:sp>
      <p:pic>
        <p:nvPicPr>
          <p:cNvPr id="6" name="Content Placeholder 5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BF364A69-4974-E543-D4DF-129E9D34EA3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7467" y="1701124"/>
            <a:ext cx="3927239" cy="3927239"/>
          </a:xfr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1A7DFD5-204C-D769-C841-88EC11F6C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N2 Diagram</a:t>
            </a:r>
          </a:p>
        </p:txBody>
      </p:sp>
    </p:spTree>
    <p:extLst>
      <p:ext uri="{BB962C8B-B14F-4D97-AF65-F5344CB8AC3E}">
        <p14:creationId xmlns:p14="http://schemas.microsoft.com/office/powerpoint/2010/main" val="237611160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EEF4E2B-D92A-EB6B-C7B9-4C55D3DF95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0200" y="1066801"/>
            <a:ext cx="4473620" cy="4749799"/>
          </a:xfrm>
        </p:spPr>
        <p:txBody>
          <a:bodyPr>
            <a:normAutofit/>
          </a:bodyPr>
          <a:lstStyle/>
          <a:p>
            <a:r>
              <a:rPr lang="en-US" sz="2400" dirty="0"/>
              <a:t>Shows data flow, system control, and functional flow of lifecycle processes</a:t>
            </a:r>
          </a:p>
          <a:p>
            <a:endParaRPr lang="en-US" sz="2400" dirty="0"/>
          </a:p>
          <a:p>
            <a:r>
              <a:rPr lang="en-US" sz="2400" dirty="0"/>
              <a:t>Provides descriptions of enterprise operations</a:t>
            </a:r>
          </a:p>
          <a:p>
            <a:endParaRPr lang="en-US" sz="2400" dirty="0"/>
          </a:p>
          <a:p>
            <a:r>
              <a:rPr lang="en-US" sz="2400" dirty="0"/>
              <a:t>Promotes consistency of element usages and interpretations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C253CD-02A6-43E6-8511-2BAE329F8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IDEF0 Diagram</a:t>
            </a:r>
          </a:p>
        </p:txBody>
      </p:sp>
      <p:pic>
        <p:nvPicPr>
          <p:cNvPr id="11" name="Picture 10" descr="A diagram of a process&#10;&#10;AI-generated content may be incorrect.">
            <a:extLst>
              <a:ext uri="{FF2B5EF4-FFF2-40B4-BE49-F238E27FC236}">
                <a16:creationId xmlns:a16="http://schemas.microsoft.com/office/drawing/2014/main" id="{4DC3E024-C867-8997-0513-EFD0817C77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6850" y="1054100"/>
            <a:ext cx="6844950" cy="47498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8851636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AE5D570-A6F7-4DFC-1839-B49D13D581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0200" y="1066802"/>
            <a:ext cx="4615287" cy="890788"/>
          </a:xfrm>
        </p:spPr>
        <p:txBody>
          <a:bodyPr>
            <a:normAutofit/>
          </a:bodyPr>
          <a:lstStyle/>
          <a:p>
            <a:r>
              <a:rPr lang="en-US" sz="2400" dirty="0"/>
              <a:t>Input/Output and Control Mechanisms (ICOM)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B624375-5E1F-5D30-28E6-2A4B50C445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ICOM (A0) Diagram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EFB4AE-3B19-8E9E-2650-16A88FA095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977" y="2580761"/>
            <a:ext cx="9362046" cy="169647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31625995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DC2E1-C668-C4F0-EE61-5B4AD8712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LML Constructs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6E2CA7-109D-507D-4B88-5DE8FE3459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5672668" cy="5213350"/>
          </a:xfrm>
        </p:spPr>
        <p:txBody>
          <a:bodyPr>
            <a:normAutofit/>
          </a:bodyPr>
          <a:lstStyle/>
          <a:p>
            <a:r>
              <a:rPr lang="en-US" sz="2400" dirty="0"/>
              <a:t>All actions are rectangles</a:t>
            </a:r>
          </a:p>
          <a:p>
            <a:endParaRPr lang="en-US" sz="2400" dirty="0"/>
          </a:p>
          <a:p>
            <a:r>
              <a:rPr lang="en-US" sz="2400" dirty="0"/>
              <a:t>Specialized actions (i.e., constructs) have a diamond overlay</a:t>
            </a:r>
          </a:p>
          <a:p>
            <a:pPr lvl="1"/>
            <a:r>
              <a:rPr lang="en-US" sz="2400" dirty="0"/>
              <a:t>Allows easy identification of decision points</a:t>
            </a:r>
          </a:p>
          <a:p>
            <a:pPr lvl="1"/>
            <a:r>
              <a:rPr lang="en-US" sz="2400" dirty="0"/>
              <a:t>Can allocate these decision points to the performer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0E5D45-DB08-66E6-07C1-16FC59AEBF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288" y="1143000"/>
            <a:ext cx="4337845" cy="504128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1253394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3503A-EED9-5BFD-0FA2-699B506A1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E6FBAE-3DC1-84D0-2D91-266977DCC2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3922890" cy="5213350"/>
          </a:xfrm>
        </p:spPr>
        <p:txBody>
          <a:bodyPr>
            <a:normAutofit/>
          </a:bodyPr>
          <a:lstStyle/>
          <a:p>
            <a:r>
              <a:rPr lang="en-US" sz="2400" dirty="0"/>
              <a:t>Requires an action to complete prior to the subsequent action</a:t>
            </a:r>
          </a:p>
          <a:p>
            <a:endParaRPr lang="en-US" sz="240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6D6F320-070D-3BC3-C38D-C463731C49C3}"/>
              </a:ext>
            </a:extLst>
          </p:cNvPr>
          <p:cNvGrpSpPr/>
          <p:nvPr/>
        </p:nvGrpSpPr>
        <p:grpSpPr>
          <a:xfrm>
            <a:off x="4075290" y="2023555"/>
            <a:ext cx="7665923" cy="3452240"/>
            <a:chOff x="2969961" y="1721599"/>
            <a:chExt cx="8285829" cy="4056152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7789243-9E38-50C3-B935-E1E2327C6D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69961" y="1721599"/>
              <a:ext cx="8285829" cy="405615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C5E05193-1079-D205-0BFD-9A054DB5089B}"/>
                </a:ext>
              </a:extLst>
            </p:cNvPr>
            <p:cNvSpPr/>
            <p:nvPr/>
          </p:nvSpPr>
          <p:spPr>
            <a:xfrm>
              <a:off x="3770489" y="3749675"/>
              <a:ext cx="2754489" cy="1262592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24295530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F2ABF-095A-AC27-526F-85D888218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E7CA97-042B-6696-B64C-3430141F8B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5254488" cy="5213350"/>
          </a:xfrm>
        </p:spPr>
        <p:txBody>
          <a:bodyPr>
            <a:normAutofit/>
          </a:bodyPr>
          <a:lstStyle/>
          <a:p>
            <a:r>
              <a:rPr lang="en-US" sz="2400" dirty="0"/>
              <a:t>Actions to be performed in parallel</a:t>
            </a:r>
          </a:p>
          <a:p>
            <a:endParaRPr lang="en-US" sz="2400" dirty="0"/>
          </a:p>
          <a:p>
            <a:r>
              <a:rPr lang="en-US" sz="2400" dirty="0"/>
              <a:t>More than two branches are created</a:t>
            </a:r>
          </a:p>
          <a:p>
            <a:endParaRPr lang="en-US" sz="2400" dirty="0"/>
          </a:p>
          <a:p>
            <a:r>
              <a:rPr lang="en-US" sz="2400" dirty="0"/>
              <a:t>More than one action can be placed on a branch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D5F369-0AD6-4655-8F5B-9CA256FA8C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1549" y="1316279"/>
            <a:ext cx="4864354" cy="473429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8F07432-A7A5-BDCE-1989-3E094F267946}"/>
              </a:ext>
            </a:extLst>
          </p:cNvPr>
          <p:cNvSpPr/>
          <p:nvPr/>
        </p:nvSpPr>
        <p:spPr>
          <a:xfrm>
            <a:off x="7382933" y="1391477"/>
            <a:ext cx="2652889" cy="4577681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720118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3499A-8478-1D97-F719-622DBFC6CA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7EC561-1DD8-B1A0-4930-5C45D714A9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3919805" cy="5213350"/>
          </a:xfrm>
        </p:spPr>
        <p:txBody>
          <a:bodyPr>
            <a:normAutofit/>
          </a:bodyPr>
          <a:lstStyle/>
          <a:p>
            <a:r>
              <a:rPr lang="en-US" sz="2400" dirty="0"/>
              <a:t>OR node</a:t>
            </a:r>
          </a:p>
          <a:p>
            <a:endParaRPr lang="en-US" sz="2400" dirty="0"/>
          </a:p>
          <a:p>
            <a:r>
              <a:rPr lang="en-US" sz="2400" dirty="0"/>
              <a:t>Name should be a question</a:t>
            </a:r>
          </a:p>
          <a:p>
            <a:endParaRPr lang="en-US" sz="2400" dirty="0"/>
          </a:p>
          <a:p>
            <a:r>
              <a:rPr lang="en-US" sz="2400" dirty="0"/>
              <a:t>Yes/No are default conditions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294361C-ACAC-22EB-63C9-8DFEAABA5E74}"/>
              </a:ext>
            </a:extLst>
          </p:cNvPr>
          <p:cNvGrpSpPr/>
          <p:nvPr/>
        </p:nvGrpSpPr>
        <p:grpSpPr>
          <a:xfrm>
            <a:off x="3625698" y="1600634"/>
            <a:ext cx="8285829" cy="4056152"/>
            <a:chOff x="3625698" y="1600634"/>
            <a:chExt cx="8285829" cy="4056152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059A4EE-517E-DD05-56C6-B9F699823C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625698" y="1600634"/>
              <a:ext cx="8285829" cy="405615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F96FBECB-D495-E01D-5A93-3FDC1B7723E5}"/>
                </a:ext>
              </a:extLst>
            </p:cNvPr>
            <p:cNvSpPr/>
            <p:nvPr/>
          </p:nvSpPr>
          <p:spPr>
            <a:xfrm>
              <a:off x="7134578" y="3628710"/>
              <a:ext cx="2020711" cy="1262592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AF35F46-025E-F68C-00DA-65DD57B8DDB7}"/>
                </a:ext>
              </a:extLst>
            </p:cNvPr>
            <p:cNvCxnSpPr/>
            <p:nvPr/>
          </p:nvCxnSpPr>
          <p:spPr>
            <a:xfrm>
              <a:off x="7800622" y="2788356"/>
              <a:ext cx="869245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30B06492-4537-8B6A-35A0-12C4E2637251}"/>
                </a:ext>
              </a:extLst>
            </p:cNvPr>
            <p:cNvCxnSpPr/>
            <p:nvPr/>
          </p:nvCxnSpPr>
          <p:spPr>
            <a:xfrm>
              <a:off x="7800622" y="5469467"/>
              <a:ext cx="869245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27312432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5A1ED6-7C22-9770-20D8-72483E674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A85F3E-EB8C-245A-37FE-8DA963FD0B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4697897" cy="5213350"/>
          </a:xfrm>
        </p:spPr>
        <p:txBody>
          <a:bodyPr>
            <a:normAutofit/>
          </a:bodyPr>
          <a:lstStyle/>
          <a:p>
            <a:r>
              <a:rPr lang="en-US" sz="2400" dirty="0"/>
              <a:t>The SYNC point represents the decision on whether to wait for the completion of Action A and Action B prior to starting Action C</a:t>
            </a:r>
          </a:p>
          <a:p>
            <a:endParaRPr lang="en-US" sz="2400" dirty="0"/>
          </a:p>
          <a:p>
            <a:r>
              <a:rPr lang="en-US" sz="2400" dirty="0"/>
              <a:t>Typically occurs when Action A and Action B are performed by different entities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910DE50-9099-01B3-81A6-BEEA74262185}"/>
              </a:ext>
            </a:extLst>
          </p:cNvPr>
          <p:cNvGrpSpPr/>
          <p:nvPr/>
        </p:nvGrpSpPr>
        <p:grpSpPr>
          <a:xfrm>
            <a:off x="5034844" y="1945783"/>
            <a:ext cx="6220178" cy="3365853"/>
            <a:chOff x="5034844" y="1945783"/>
            <a:chExt cx="6220178" cy="3365853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C29DF7C-7573-88EB-ADAE-7F872858CD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34844" y="1945783"/>
              <a:ext cx="6220178" cy="336585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1145BAD0-5A49-0B2D-FFA9-CA8668E06771}"/>
                </a:ext>
              </a:extLst>
            </p:cNvPr>
            <p:cNvSpPr/>
            <p:nvPr/>
          </p:nvSpPr>
          <p:spPr>
            <a:xfrm>
              <a:off x="7360356" y="3118379"/>
              <a:ext cx="1794932" cy="1069799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65303148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E9F4F-3D96-BD29-6F1C-75AFA472F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4583F6-B8FF-0A06-6EB3-57641FA889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5487348" cy="5213350"/>
          </a:xfrm>
        </p:spPr>
        <p:txBody>
          <a:bodyPr>
            <a:normAutofit/>
          </a:bodyPr>
          <a:lstStyle/>
          <a:p>
            <a:r>
              <a:rPr lang="en-US" sz="2400" dirty="0"/>
              <a:t>Represents conditions to enter and exit the LOOP</a:t>
            </a:r>
          </a:p>
          <a:p>
            <a:endParaRPr lang="en-US" sz="2400" dirty="0"/>
          </a:p>
          <a:p>
            <a:r>
              <a:rPr lang="en-US" sz="2400" dirty="0"/>
              <a:t>Can set a range for iterations or have conditional entry/exit criteria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EA562CB-0476-E73B-E7CE-0FA56F332E85}"/>
              </a:ext>
            </a:extLst>
          </p:cNvPr>
          <p:cNvGrpSpPr/>
          <p:nvPr/>
        </p:nvGrpSpPr>
        <p:grpSpPr>
          <a:xfrm>
            <a:off x="6795570" y="1143000"/>
            <a:ext cx="5154456" cy="4843112"/>
            <a:chOff x="6795570" y="1143000"/>
            <a:chExt cx="5154456" cy="484311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54B363F-2342-F868-745A-F5D7CD2619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95570" y="1143000"/>
              <a:ext cx="5154456" cy="484311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DF36C5A5-BAC7-5289-8BB7-176047AE9D81}"/>
                </a:ext>
              </a:extLst>
            </p:cNvPr>
            <p:cNvSpPr/>
            <p:nvPr/>
          </p:nvSpPr>
          <p:spPr>
            <a:xfrm>
              <a:off x="7352087" y="3003178"/>
              <a:ext cx="2020711" cy="1262592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BC863BF7-7508-F70D-E182-4F6370ABCF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974" y="3895973"/>
            <a:ext cx="6215621" cy="209013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0079705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5562B-8304-388B-8E75-CC9CA0857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Traceability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76FC72-9427-15FB-BA77-C2FE21EC07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4663820" cy="5213350"/>
          </a:xfrm>
        </p:spPr>
        <p:txBody>
          <a:bodyPr>
            <a:normAutofit/>
          </a:bodyPr>
          <a:lstStyle/>
          <a:p>
            <a:r>
              <a:rPr lang="en-US" sz="2400" dirty="0"/>
              <a:t>LML action diagrams do not contain </a:t>
            </a:r>
            <a:r>
              <a:rPr lang="en-US" sz="2400" dirty="0" err="1"/>
              <a:t>swimlanes</a:t>
            </a:r>
            <a:endParaRPr lang="en-US" sz="2400" dirty="0"/>
          </a:p>
          <a:p>
            <a:r>
              <a:rPr lang="en-US" sz="2400" dirty="0"/>
              <a:t>Assets </a:t>
            </a:r>
            <a:r>
              <a:rPr lang="en-US" sz="2400" i="1" dirty="0"/>
              <a:t>perform</a:t>
            </a:r>
            <a:r>
              <a:rPr lang="en-US" sz="2400" dirty="0"/>
              <a:t> actions</a:t>
            </a:r>
          </a:p>
          <a:p>
            <a:r>
              <a:rPr lang="en-US" sz="2400" b="1" dirty="0"/>
              <a:t>Branch Asset </a:t>
            </a:r>
            <a:r>
              <a:rPr lang="en-US" sz="2400" dirty="0"/>
              <a:t>can be assigned to branches</a:t>
            </a:r>
          </a:p>
          <a:p>
            <a:r>
              <a:rPr lang="en-US" sz="2400" dirty="0"/>
              <a:t>Relationship can be created in the entity view or a traceability matrix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BE8FD3E-D925-5B43-B5F9-8D1DFCB0E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082" y="1959440"/>
            <a:ext cx="7177517" cy="358047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0917786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4724F-CFEE-DA7D-6469-BADA5683E8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Traceability Matrix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30A4D3-5B7D-5465-1935-0C8732B85C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172" y="1306902"/>
            <a:ext cx="10141655" cy="424419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82009847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755504-E24C-7264-83AE-01CC7A41F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SysML</a:t>
            </a:r>
            <a:r>
              <a:rPr lang="en-US" dirty="0"/>
              <a:t> Activity Diagram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370772-71D5-D210-76E1-DD8F95C4BC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3726702" cy="5213350"/>
          </a:xfrm>
        </p:spPr>
        <p:txBody>
          <a:bodyPr>
            <a:normAutofit/>
          </a:bodyPr>
          <a:lstStyle/>
          <a:p>
            <a:r>
              <a:rPr lang="en-US" sz="2400" dirty="0"/>
              <a:t>Innoslate supports SysML activity diagrams</a:t>
            </a:r>
          </a:p>
          <a:p>
            <a:endParaRPr lang="en-US" sz="2400" dirty="0"/>
          </a:p>
          <a:p>
            <a:r>
              <a:rPr lang="en-US" sz="2400" b="1" dirty="0"/>
              <a:t>Automatically generated </a:t>
            </a:r>
            <a:r>
              <a:rPr lang="en-US" sz="2400" dirty="0"/>
              <a:t>based on LML Action Diagram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263D14-0760-095B-C3F1-E7824E0A51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9398" y="1718332"/>
            <a:ext cx="7719102" cy="406268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0754440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19ABF0-0020-D17C-AE5C-0C78FCE2C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LML Mapping to v2.0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6F064F9-E70E-A391-A990-7F83439F6E4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64816586"/>
              </p:ext>
            </p:extLst>
          </p:nvPr>
        </p:nvGraphicFramePr>
        <p:xfrm>
          <a:off x="2027311" y="1777300"/>
          <a:ext cx="3207434" cy="3303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77704">
                  <a:extLst>
                    <a:ext uri="{9D8B030D-6E8A-4147-A177-3AD203B41FA5}">
                      <a16:colId xmlns:a16="http://schemas.microsoft.com/office/drawing/2014/main" val="876915099"/>
                    </a:ext>
                  </a:extLst>
                </a:gridCol>
                <a:gridCol w="2229730">
                  <a:extLst>
                    <a:ext uri="{9D8B030D-6E8A-4147-A177-3AD203B41FA5}">
                      <a16:colId xmlns:a16="http://schemas.microsoft.com/office/drawing/2014/main" val="510283859"/>
                    </a:ext>
                  </a:extLst>
                </a:gridCol>
              </a:tblGrid>
              <a:tr h="103003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LML v2.0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SysML v2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1462590"/>
                  </a:ext>
                </a:extLst>
              </a:tr>
              <a:tr h="103003">
                <a:tc rowSpan="12"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>
                          <a:effectLst/>
                        </a:rPr>
                        <a:t>Action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AcceptActionUsage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2215654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ActionDefinition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7477575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ActionUsage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304656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ForkNode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1392695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IncludeUseCaseUsage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6358284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Interaction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992940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JoinNode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54358069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MergeNode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94846376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PerformActionUsage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9120365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Step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8189009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SuccessionAsUsage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0035481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UseCaseDefinition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8488813"/>
                  </a:ext>
                </a:extLst>
              </a:tr>
              <a:tr h="103003">
                <a:tc rowSpan="2"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Asset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PartDefinition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5270461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PartUsage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69701470"/>
                  </a:ext>
                </a:extLst>
              </a:tr>
              <a:tr h="103003">
                <a:tc rowSpan="5"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Characteristic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AttributeDefinition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5196283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AttributeUsage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3159609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EnumerationDefinition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51756878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EnumerationUsage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7177220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>
                          <a:effectLst/>
                        </a:rPr>
                        <a:t>Feature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63495645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DCED29C-456C-309C-FD2D-B9E7AFA98D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0169255"/>
              </p:ext>
            </p:extLst>
          </p:nvPr>
        </p:nvGraphicFramePr>
        <p:xfrm>
          <a:off x="6720840" y="1356317"/>
          <a:ext cx="4258162" cy="414536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9600">
                  <a:extLst>
                    <a:ext uri="{9D8B030D-6E8A-4147-A177-3AD203B41FA5}">
                      <a16:colId xmlns:a16="http://schemas.microsoft.com/office/drawing/2014/main" val="1744912072"/>
                    </a:ext>
                  </a:extLst>
                </a:gridCol>
                <a:gridCol w="2378562">
                  <a:extLst>
                    <a:ext uri="{9D8B030D-6E8A-4147-A177-3AD203B41FA5}">
                      <a16:colId xmlns:a16="http://schemas.microsoft.com/office/drawing/2014/main" val="1111168116"/>
                    </a:ext>
                  </a:extLst>
                </a:gridCol>
              </a:tblGrid>
              <a:tr h="103003">
                <a:tc rowSpan="5"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>
                          <a:effectLst/>
                        </a:rPr>
                        <a:t>Connection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1050"/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30871571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ConnectionDefinition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0679491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ConnectionUsage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8836876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FlowConnectionDefinition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34627908"/>
                  </a:ext>
                </a:extLst>
              </a:tr>
              <a:tr h="18643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SuccessionFlowConnectionUsage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2071857"/>
                  </a:ext>
                </a:extLst>
              </a:tr>
              <a:tr h="77111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Decision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DecisionNode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1471677"/>
                  </a:ext>
                </a:extLst>
              </a:tr>
              <a:tr h="103003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Dependency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>
                          <a:effectLst/>
                        </a:rPr>
                        <a:t>Dependency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09163251"/>
                  </a:ext>
                </a:extLst>
              </a:tr>
              <a:tr h="103003">
                <a:tc rowSpan="3"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>
                          <a:effectLst/>
                        </a:rPr>
                        <a:t>Equation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FeatureReferenceExpression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96405971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NullExpression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7819168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OperatorExpression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06733892"/>
                  </a:ext>
                </a:extLst>
              </a:tr>
              <a:tr h="103003">
                <a:tc rowSpan="3"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Input_Output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ItemDefinition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4778085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ItemFlow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67063740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ItemUsage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320725"/>
                  </a:ext>
                </a:extLst>
              </a:tr>
              <a:tr h="103003">
                <a:tc rowSpan="3"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>
                          <a:effectLst/>
                        </a:rPr>
                        <a:t>Measure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AssertConstraintUsage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5479569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CalculationUsage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6056248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ConstraintDefinition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62402132"/>
                  </a:ext>
                </a:extLst>
              </a:tr>
              <a:tr h="103003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Port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PortDefinition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2460480"/>
                  </a:ext>
                </a:extLst>
              </a:tr>
              <a:tr h="103003">
                <a:tc rowSpan="3"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>
                          <a:effectLst/>
                        </a:rPr>
                        <a:t>Requirement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RequirementUsage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8474273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SatisfyRequirementUsage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11691417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VerificationCaseDefinition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4927388"/>
                  </a:ext>
                </a:extLst>
              </a:tr>
              <a:tr h="186436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Requirement</a:t>
                      </a:r>
                      <a:br>
                        <a:rPr lang="en-US" sz="1050" u="none" strike="noStrike">
                          <a:effectLst/>
                        </a:rPr>
                      </a:br>
                      <a:r>
                        <a:rPr lang="en-US" sz="1050" u="none" strike="noStrike">
                          <a:effectLst/>
                        </a:rPr>
                        <a:t>Verification Requirement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>
                          <a:effectLst/>
                        </a:rPr>
                        <a:t>RequirementVerification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4054163"/>
                  </a:ext>
                </a:extLst>
              </a:tr>
              <a:tr h="103003">
                <a:tc rowSpan="3"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Statement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>
                          <a:effectLst/>
                        </a:rPr>
                        <a:t>Comment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2521544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ReferenceUsage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43559753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TextualRepresentation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30560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95414883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260703-7F4D-59AC-7CA9-6F2A862A9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Mob 6 Lab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3CFDAA-03A3-2D68-8F74-40705FA869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Create an LML Action Diagram</a:t>
            </a:r>
          </a:p>
          <a:p>
            <a:r>
              <a:rPr lang="en-US" sz="2400" dirty="0"/>
              <a:t>Represent control logic</a:t>
            </a:r>
          </a:p>
          <a:p>
            <a:r>
              <a:rPr lang="en-US" sz="2400" dirty="0"/>
              <a:t>Show inputs, outputs, and resources within the context of system behavior</a:t>
            </a:r>
          </a:p>
          <a:p>
            <a:r>
              <a:rPr lang="en-US" sz="2400" dirty="0"/>
              <a:t>Elaborate Test Case behavior</a:t>
            </a:r>
          </a:p>
          <a:p>
            <a:r>
              <a:rPr lang="en-US" sz="2400" dirty="0"/>
              <a:t>Create an LML Spider Diagram </a:t>
            </a:r>
          </a:p>
        </p:txBody>
      </p:sp>
    </p:spTree>
    <p:extLst>
      <p:ext uri="{BB962C8B-B14F-4D97-AF65-F5344CB8AC3E}">
        <p14:creationId xmlns:p14="http://schemas.microsoft.com/office/powerpoint/2010/main" val="4077847537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F4D5BE-A91A-104B-E5FD-92EB0717D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930" b="1" dirty="0"/>
              <a:t>Simulation with </a:t>
            </a:r>
            <a:r>
              <a:rPr lang="en-US" sz="2930" b="1" dirty="0" err="1"/>
              <a:t>Innoslate</a:t>
            </a:r>
            <a:endParaRPr lang="en-US" sz="2930" b="1" dirty="0"/>
          </a:p>
        </p:txBody>
      </p:sp>
    </p:spTree>
    <p:extLst>
      <p:ext uri="{BB962C8B-B14F-4D97-AF65-F5344CB8AC3E}">
        <p14:creationId xmlns:p14="http://schemas.microsoft.com/office/powerpoint/2010/main" val="91041215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5D281-29E5-3535-81AE-F8DC100FC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Simulation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536EC1-9090-49DE-2072-86792346D6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6022623" cy="5213350"/>
          </a:xfrm>
        </p:spPr>
        <p:txBody>
          <a:bodyPr>
            <a:normAutofit/>
          </a:bodyPr>
          <a:lstStyle/>
          <a:p>
            <a:r>
              <a:rPr lang="en-US" b="1" dirty="0"/>
              <a:t>Discrete Event </a:t>
            </a:r>
            <a:r>
              <a:rPr lang="en-US" dirty="0"/>
              <a:t>- specific occurrence that happens at a particular point in time, which causes a change in the state of a system</a:t>
            </a:r>
          </a:p>
          <a:p>
            <a:endParaRPr lang="en-US" dirty="0"/>
          </a:p>
          <a:p>
            <a:r>
              <a:rPr lang="en-US" b="1" dirty="0"/>
              <a:t>Monte Carlo </a:t>
            </a:r>
            <a:r>
              <a:rPr lang="en-US" dirty="0"/>
              <a:t>- a technique that uses random sampling to model and analyze complex systems or processes.</a:t>
            </a:r>
          </a:p>
          <a:p>
            <a:pPr lvl="1"/>
            <a:r>
              <a:rPr lang="en-US" dirty="0"/>
              <a:t>Each event represents one possible scenario based on random inputs, </a:t>
            </a:r>
          </a:p>
          <a:p>
            <a:pPr lvl="1"/>
            <a:r>
              <a:rPr lang="en-US" dirty="0"/>
              <a:t>Helps estimate probabilities, averages, or distributions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DD8C500-E1E3-4AE1-A16A-9C09579635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5878" y="2291821"/>
            <a:ext cx="3547164" cy="227435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2459669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653439-63FB-CC85-AB7E-7B22833B6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Discrete Event Simulation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9D338E8-4227-1FC8-19A5-DC0403A71C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7077" y="1210733"/>
            <a:ext cx="4337845" cy="504128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513842177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49C49-F794-A1FD-2C82-DF2F8416A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Discrete Event Simulation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189C609-E1B2-BAE5-6CF9-5AFE6200335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062403" y="1647825"/>
            <a:ext cx="4025169" cy="471487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44979BE-6467-34A2-835B-FAB69F56CACC}"/>
              </a:ext>
            </a:extLst>
          </p:cNvPr>
          <p:cNvSpPr/>
          <p:nvPr/>
        </p:nvSpPr>
        <p:spPr>
          <a:xfrm>
            <a:off x="914400" y="5475110"/>
            <a:ext cx="4289778" cy="903112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E34D6FB-21C1-016A-8DE6-081E45C582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6011" y="1647825"/>
            <a:ext cx="4951589" cy="442315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3122848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972BA-5D13-A63C-45C6-796893243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Discrete Event Simulation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6D1C9-1984-D642-9537-484379940B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943601" cy="5213350"/>
          </a:xfrm>
        </p:spPr>
        <p:txBody>
          <a:bodyPr/>
          <a:lstStyle/>
          <a:p>
            <a:r>
              <a:rPr lang="en-US" b="1"/>
              <a:t>Status</a:t>
            </a:r>
            <a:r>
              <a:rPr lang="en-US"/>
              <a:t> – shows which action is currently executing</a:t>
            </a:r>
          </a:p>
          <a:p>
            <a:r>
              <a:rPr lang="en-US"/>
              <a:t>Time Simulation</a:t>
            </a:r>
          </a:p>
          <a:p>
            <a:pPr lvl="1"/>
            <a:r>
              <a:rPr lang="en-US"/>
              <a:t>Default time of each action to complete is 1 hour</a:t>
            </a:r>
          </a:p>
          <a:p>
            <a:pPr lvl="1"/>
            <a:r>
              <a:rPr lang="en-US"/>
              <a:t>Evaluating long-term effects of decisions</a:t>
            </a:r>
          </a:p>
          <a:p>
            <a:r>
              <a:rPr lang="en-US"/>
              <a:t>Cost Simulation</a:t>
            </a:r>
          </a:p>
          <a:p>
            <a:pPr lvl="1"/>
            <a:r>
              <a:rPr lang="en-US"/>
              <a:t>No default cost</a:t>
            </a:r>
          </a:p>
          <a:p>
            <a:pPr lvl="1"/>
            <a:r>
              <a:rPr lang="en-US"/>
              <a:t>More informed decision-making</a:t>
            </a:r>
          </a:p>
          <a:p>
            <a:pPr lvl="1"/>
            <a:r>
              <a:rPr lang="en-US"/>
              <a:t>Budget planning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7A3744-5343-EEAE-BD6D-88FFB70CCE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1872" y="1344687"/>
            <a:ext cx="5345995" cy="461020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919825074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45ABD13-CBF7-C7E9-B75B-02A6E013F1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 Action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3077B3-48BE-3D74-360C-28DBE5CE9F33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rPr lang="en-US" dirty="0"/>
              <a:t>LOOP Action</a:t>
            </a:r>
          </a:p>
        </p:txBody>
      </p:sp>
      <p:pic>
        <p:nvPicPr>
          <p:cNvPr id="6" name="Content Placeholder 6">
            <a:extLst>
              <a:ext uri="{FF2B5EF4-FFF2-40B4-BE49-F238E27FC236}">
                <a16:creationId xmlns:a16="http://schemas.microsoft.com/office/drawing/2014/main" id="{522290D2-0DC5-2407-4690-74159C79C56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304800" y="1989070"/>
            <a:ext cx="5638800" cy="240360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010A90C-F81C-C53C-D5D7-DE71D7742474}"/>
              </a:ext>
            </a:extLst>
          </p:cNvPr>
          <p:cNvPicPr>
            <a:picLocks noGrp="1" noChangeAspect="1"/>
          </p:cNvPicPr>
          <p:nvPr>
            <p:ph sz="half" idx="11"/>
          </p:nvPr>
        </p:nvPicPr>
        <p:blipFill>
          <a:blip r:embed="rId3"/>
          <a:stretch>
            <a:fillRect/>
          </a:stretch>
        </p:blipFill>
        <p:spPr>
          <a:xfrm>
            <a:off x="6248400" y="2003760"/>
            <a:ext cx="5621338" cy="237422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00575149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9A457-41DF-FBAC-8C91-C14BFB7D5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Simulation Deadlock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36125B-7B5D-507B-3D0F-6A7FF2A7CA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4950178" cy="5213350"/>
          </a:xfrm>
        </p:spPr>
        <p:txBody>
          <a:bodyPr/>
          <a:lstStyle/>
          <a:p>
            <a:r>
              <a:rPr lang="en-US">
                <a:solidFill>
                  <a:srgbClr val="000000"/>
                </a:solidFill>
              </a:rPr>
              <a:t>C</a:t>
            </a:r>
            <a:r>
              <a:rPr lang="en-US" b="0" i="0">
                <a:solidFill>
                  <a:srgbClr val="000000"/>
                </a:solidFill>
                <a:effectLst/>
              </a:rPr>
              <a:t>arefully manage the relationships between </a:t>
            </a:r>
            <a:r>
              <a:rPr lang="en-US" b="0" i="1">
                <a:solidFill>
                  <a:srgbClr val="000000"/>
                </a:solidFill>
                <a:effectLst/>
              </a:rPr>
              <a:t>Actions</a:t>
            </a:r>
            <a:r>
              <a:rPr lang="en-US" b="0" i="0">
                <a:solidFill>
                  <a:srgbClr val="000000"/>
                </a:solidFill>
                <a:effectLst/>
              </a:rPr>
              <a:t>, </a:t>
            </a:r>
            <a:r>
              <a:rPr lang="en-US" b="0" i="1">
                <a:solidFill>
                  <a:srgbClr val="000000"/>
                </a:solidFill>
                <a:effectLst/>
              </a:rPr>
              <a:t>Resources, </a:t>
            </a:r>
            <a:r>
              <a:rPr lang="en-US" b="0">
                <a:solidFill>
                  <a:srgbClr val="000000"/>
                </a:solidFill>
                <a:effectLst/>
              </a:rPr>
              <a:t>and</a:t>
            </a:r>
            <a:r>
              <a:rPr lang="en-US" b="0" i="1">
                <a:solidFill>
                  <a:srgbClr val="000000"/>
                </a:solidFill>
                <a:effectLst/>
              </a:rPr>
              <a:t> Inputs/Outputs</a:t>
            </a:r>
          </a:p>
          <a:p>
            <a:endParaRPr lang="en-US" b="0" i="1">
              <a:solidFill>
                <a:srgbClr val="000000"/>
              </a:solidFill>
              <a:effectLst/>
            </a:endParaRPr>
          </a:p>
          <a:p>
            <a:r>
              <a:rPr lang="en-US">
                <a:solidFill>
                  <a:srgbClr val="000000"/>
                </a:solidFill>
              </a:rPr>
              <a:t>E</a:t>
            </a:r>
            <a:r>
              <a:rPr lang="en-US" b="0" i="0">
                <a:solidFill>
                  <a:srgbClr val="000000"/>
                </a:solidFill>
                <a:effectLst/>
              </a:rPr>
              <a:t>nsure that the correct relationships (such as produces, consumes, or seizes) are established</a:t>
            </a: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A059801-7D8B-752E-0C05-7B570227EB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3032" y="2212975"/>
            <a:ext cx="6159500" cy="3073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67216360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95508-AB0A-98EE-B5DC-A792449AB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Debugging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997F56A-ED27-C8D1-6072-8D8506B71ED4}"/>
              </a:ext>
            </a:extLst>
          </p:cNvPr>
          <p:cNvGrpSpPr/>
          <p:nvPr/>
        </p:nvGrpSpPr>
        <p:grpSpPr>
          <a:xfrm>
            <a:off x="1370189" y="1823467"/>
            <a:ext cx="9451622" cy="3820665"/>
            <a:chOff x="1213554" y="1518667"/>
            <a:chExt cx="9451622" cy="3820665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5F770A74-4359-64E3-B52F-891A2AD1E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13554" y="1518667"/>
              <a:ext cx="9451622" cy="3820665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19898E58-71E7-69AD-C083-115A230F459C}"/>
                </a:ext>
              </a:extLst>
            </p:cNvPr>
            <p:cNvSpPr/>
            <p:nvPr/>
          </p:nvSpPr>
          <p:spPr>
            <a:xfrm>
              <a:off x="6287911" y="1614311"/>
              <a:ext cx="3567289" cy="1814688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90517327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54CB4-1A90-9731-F62C-CDF6690A7A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Additional Simulations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47D2FD-930D-ABF4-16BD-A33BBBE1D6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1850" y="1066792"/>
            <a:ext cx="2638989" cy="521335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0D93516-403C-4649-B4B8-C7F86ED6B9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212" y="1066792"/>
            <a:ext cx="3060700" cy="46863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B3C107C-8DE7-6315-F684-672304CB70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3777" y="1066792"/>
            <a:ext cx="2638989" cy="522322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76919317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EAA57-CC52-A381-C8F5-4BFF9C48A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42186" y="2527479"/>
            <a:ext cx="7907627" cy="762000"/>
          </a:xfrm>
        </p:spPr>
        <p:txBody>
          <a:bodyPr>
            <a:normAutofit/>
          </a:bodyPr>
          <a:lstStyle/>
          <a:p>
            <a:r>
              <a:rPr lang="en-US" b="1" dirty="0"/>
              <a:t>Module 8 – Project Management</a:t>
            </a:r>
          </a:p>
        </p:txBody>
      </p:sp>
    </p:spTree>
    <p:extLst>
      <p:ext uri="{BB962C8B-B14F-4D97-AF65-F5344CB8AC3E}">
        <p14:creationId xmlns:p14="http://schemas.microsoft.com/office/powerpoint/2010/main" val="2078893791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42D2E5-1F3C-2E0F-42AF-B84A61BE9A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Kanban 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E97954-3CE0-1F80-345F-90F548DC78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0200" y="1066801"/>
            <a:ext cx="4859986" cy="4698999"/>
          </a:xfrm>
        </p:spPr>
        <p:txBody>
          <a:bodyPr>
            <a:normAutofit/>
          </a:bodyPr>
          <a:lstStyle/>
          <a:p>
            <a:r>
              <a:rPr lang="en-US" sz="2400" dirty="0"/>
              <a:t>Provides visualization of a team’s workflow</a:t>
            </a:r>
          </a:p>
          <a:p>
            <a:endParaRPr lang="en-US" sz="2400" dirty="0"/>
          </a:p>
          <a:p>
            <a:r>
              <a:rPr lang="en-US" sz="2400" dirty="0"/>
              <a:t>Tasks are shown in columns based on status (e.g., open, in review, closed)</a:t>
            </a:r>
          </a:p>
          <a:p>
            <a:endParaRPr lang="en-US" sz="2400" dirty="0"/>
          </a:p>
          <a:p>
            <a:r>
              <a:rPr lang="en-US" sz="2400" dirty="0"/>
              <a:t>Helps teams manage work-in-progress (WIP)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A631697-E828-808A-D901-F935C3D024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3246" y="1574800"/>
            <a:ext cx="6591300" cy="37084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281189150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4D10E-1159-0B6E-5D38-E747D13F3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Kanban Board View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8017433-3AFE-0217-8E85-E680DEC42793}"/>
              </a:ext>
            </a:extLst>
          </p:cNvPr>
          <p:cNvGrpSpPr/>
          <p:nvPr/>
        </p:nvGrpSpPr>
        <p:grpSpPr>
          <a:xfrm>
            <a:off x="262854" y="894471"/>
            <a:ext cx="7809247" cy="762000"/>
            <a:chOff x="330200" y="1094704"/>
            <a:chExt cx="7809247" cy="762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DD6076E0-0BE8-7B91-EDA7-C5576A1F84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0200" y="1195590"/>
              <a:ext cx="7772400" cy="528109"/>
            </a:xfrm>
            <a:prstGeom prst="rect">
              <a:avLst/>
            </a:prstGeom>
          </p:spPr>
        </p:pic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4A800F84-3086-CFBF-3788-A47CE76A3113}"/>
                </a:ext>
              </a:extLst>
            </p:cNvPr>
            <p:cNvSpPr/>
            <p:nvPr/>
          </p:nvSpPr>
          <p:spPr>
            <a:xfrm>
              <a:off x="6005847" y="1094704"/>
              <a:ext cx="2133600" cy="762000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778605C9-C707-CAC1-37DF-6B93FAAE6E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049" y="2778614"/>
            <a:ext cx="5269158" cy="2348902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4C2CDDD0-FB7D-07A8-230A-AB680FE1B580}"/>
              </a:ext>
            </a:extLst>
          </p:cNvPr>
          <p:cNvGrpSpPr/>
          <p:nvPr/>
        </p:nvGrpSpPr>
        <p:grpSpPr>
          <a:xfrm>
            <a:off x="5892173" y="3909604"/>
            <a:ext cx="6083300" cy="2260601"/>
            <a:chOff x="5892173" y="2158077"/>
            <a:chExt cx="6083300" cy="2260601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F9DB7527-51AE-095C-D999-CA9723346824}"/>
                </a:ext>
              </a:extLst>
            </p:cNvPr>
            <p:cNvGrpSpPr/>
            <p:nvPr/>
          </p:nvGrpSpPr>
          <p:grpSpPr>
            <a:xfrm>
              <a:off x="5892173" y="2158077"/>
              <a:ext cx="6083300" cy="2260601"/>
              <a:chOff x="5778500" y="2158077"/>
              <a:chExt cx="6083300" cy="2260601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8BDE5865-DFE6-3AB1-1DC3-90BB3D60CA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778500" y="2158077"/>
                <a:ext cx="6083300" cy="2260600"/>
              </a:xfrm>
              <a:prstGeom prst="rect">
                <a:avLst/>
              </a:prstGeom>
            </p:spPr>
          </p:pic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47310C97-E9B1-5830-08CC-EBB92CED2BEB}"/>
                  </a:ext>
                </a:extLst>
              </p:cNvPr>
              <p:cNvSpPr/>
              <p:nvPr/>
            </p:nvSpPr>
            <p:spPr>
              <a:xfrm>
                <a:off x="5816600" y="2665928"/>
                <a:ext cx="2297090" cy="17527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A25EE7EC-D463-EFC3-10C0-5E6015C5584F}"/>
                  </a:ext>
                </a:extLst>
              </p:cNvPr>
              <p:cNvSpPr/>
              <p:nvPr/>
            </p:nvSpPr>
            <p:spPr>
              <a:xfrm>
                <a:off x="10463726" y="2665927"/>
                <a:ext cx="1398074" cy="17527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EEEF4792-CB79-2510-C7B8-3CC365288834}"/>
                </a:ext>
              </a:extLst>
            </p:cNvPr>
            <p:cNvSpPr/>
            <p:nvPr/>
          </p:nvSpPr>
          <p:spPr>
            <a:xfrm>
              <a:off x="8227363" y="3542302"/>
              <a:ext cx="2350036" cy="762000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F64EE827-9393-C12C-96E7-FFF6BB6951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2663" y="1801790"/>
            <a:ext cx="6629400" cy="6985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6DB23E-360C-EE29-8F56-ED0E3C06C889}"/>
              </a:ext>
            </a:extLst>
          </p:cNvPr>
          <p:cNvSpPr/>
          <p:nvPr/>
        </p:nvSpPr>
        <p:spPr>
          <a:xfrm>
            <a:off x="8666675" y="1782918"/>
            <a:ext cx="2823872" cy="698501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FBB4F5E9-BBB0-8B6D-7CBA-5A568ED2C188}"/>
              </a:ext>
            </a:extLst>
          </p:cNvPr>
          <p:cNvSpPr/>
          <p:nvPr/>
        </p:nvSpPr>
        <p:spPr>
          <a:xfrm>
            <a:off x="330200" y="3718953"/>
            <a:ext cx="2823872" cy="698501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88540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9F41D3-22B1-8BDE-76A6-1464E01340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Gantt Chart View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B6967BB-CEE4-13C6-2935-6F2BF10F344F}"/>
              </a:ext>
            </a:extLst>
          </p:cNvPr>
          <p:cNvGrpSpPr/>
          <p:nvPr/>
        </p:nvGrpSpPr>
        <p:grpSpPr>
          <a:xfrm>
            <a:off x="330200" y="881771"/>
            <a:ext cx="6883400" cy="762000"/>
            <a:chOff x="330200" y="881771"/>
            <a:chExt cx="6883400" cy="762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D18C4510-A7F8-476B-D662-24C8C71DF6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0200" y="945092"/>
              <a:ext cx="6883400" cy="609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C81B8EC5-6824-9091-C66C-69AD62A2422F}"/>
                </a:ext>
              </a:extLst>
            </p:cNvPr>
            <p:cNvSpPr/>
            <p:nvPr/>
          </p:nvSpPr>
          <p:spPr>
            <a:xfrm>
              <a:off x="5616529" y="881771"/>
              <a:ext cx="1597071" cy="762000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EDD948F-98E8-DC06-C153-BE212FA95A8F}"/>
              </a:ext>
            </a:extLst>
          </p:cNvPr>
          <p:cNvGrpSpPr/>
          <p:nvPr/>
        </p:nvGrpSpPr>
        <p:grpSpPr>
          <a:xfrm>
            <a:off x="5232489" y="2211597"/>
            <a:ext cx="6311901" cy="762000"/>
            <a:chOff x="5129458" y="1798749"/>
            <a:chExt cx="6311901" cy="762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BFAF555-A176-0140-88F1-8DD1533826F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29458" y="1893999"/>
              <a:ext cx="6311900" cy="5715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3FAD6A56-DD05-5C0C-6D56-9BC9CF9804D9}"/>
                </a:ext>
              </a:extLst>
            </p:cNvPr>
            <p:cNvSpPr/>
            <p:nvPr/>
          </p:nvSpPr>
          <p:spPr>
            <a:xfrm>
              <a:off x="8847787" y="1798749"/>
              <a:ext cx="2593572" cy="762000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48FD45B-633C-8E13-D68C-81E065FC9569}"/>
              </a:ext>
            </a:extLst>
          </p:cNvPr>
          <p:cNvGrpSpPr/>
          <p:nvPr/>
        </p:nvGrpSpPr>
        <p:grpSpPr>
          <a:xfrm>
            <a:off x="854656" y="2755900"/>
            <a:ext cx="3708400" cy="1346200"/>
            <a:chOff x="828898" y="2602605"/>
            <a:chExt cx="3708400" cy="134620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E590FB47-104F-178B-A625-21F5872BA86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8898" y="2602605"/>
              <a:ext cx="3708400" cy="13462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1A6866AB-8DD7-4472-EF8D-5B5B2DB915EC}"/>
                </a:ext>
              </a:extLst>
            </p:cNvPr>
            <p:cNvSpPr/>
            <p:nvPr/>
          </p:nvSpPr>
          <p:spPr>
            <a:xfrm>
              <a:off x="828898" y="2602605"/>
              <a:ext cx="2314531" cy="1346200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ED567E3C-8A85-AC50-D02D-9A51A17022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89400" y="4575324"/>
            <a:ext cx="7772400" cy="145596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827379373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814C1-DED3-DE26-93C3-2FFEB0915E6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Comments/Questions?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34F3FC2-5AA6-AF84-530D-1F3CE9BD3E6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4293265"/>
      </p:ext>
    </p:extLst>
  </p:cSld>
  <p:clrMapOvr>
    <a:masterClrMapping/>
  </p:clrMapOvr>
</p:sld>
</file>

<file path=ppt/theme/theme1.xml><?xml version="1.0" encoding="utf-8"?>
<a:theme xmlns:a="http://schemas.openxmlformats.org/drawingml/2006/main" name="LMO Templa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ustom 2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ntitled design.pptx" id="{7C100A20-DA42-4677-9681-91C9F8D50AAF}" vid="{F9C68B13-C98E-4983-B184-C772ECB8B83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LMO Template</Template>
  <TotalTime>3373</TotalTime>
  <Words>3729</Words>
  <Application>Microsoft Macintosh PowerPoint</Application>
  <PresentationFormat>Widescreen</PresentationFormat>
  <Paragraphs>676</Paragraphs>
  <Slides>122</Slides>
  <Notes>9</Notes>
  <HiddenSlides>6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122</vt:i4>
      </vt:variant>
    </vt:vector>
  </HeadingPairs>
  <TitlesOfParts>
    <vt:vector size="130" baseType="lpstr">
      <vt:lpstr>Aptos</vt:lpstr>
      <vt:lpstr>Aptos Narrow</vt:lpstr>
      <vt:lpstr>Arial</vt:lpstr>
      <vt:lpstr>Calibri</vt:lpstr>
      <vt:lpstr>Courier New</vt:lpstr>
      <vt:lpstr>Helvetica</vt:lpstr>
      <vt:lpstr>Montserrat</vt:lpstr>
      <vt:lpstr>LMO Template</vt:lpstr>
      <vt:lpstr>Leveraging Lifecycle Modeling to Integrate Systems Engineering and Project Management</vt:lpstr>
      <vt:lpstr>Agenda</vt:lpstr>
      <vt:lpstr>Instructor Background</vt:lpstr>
      <vt:lpstr>Rules of Engagement</vt:lpstr>
      <vt:lpstr>LML Open-source Resources</vt:lpstr>
      <vt:lpstr>INCOSE MBSE Definition</vt:lpstr>
      <vt:lpstr>MBSE Success</vt:lpstr>
      <vt:lpstr>LML Overview</vt:lpstr>
      <vt:lpstr>PowerPoint Presentation</vt:lpstr>
      <vt:lpstr>PowerPoint Presentation</vt:lpstr>
      <vt:lpstr>LML Metamodel</vt:lpstr>
      <vt:lpstr>Product Lifecycle</vt:lpstr>
      <vt:lpstr>Actions</vt:lpstr>
      <vt:lpstr>PowerPoint Presentation</vt:lpstr>
      <vt:lpstr>PowerPoint Presentation</vt:lpstr>
      <vt:lpstr>Connection</vt:lpstr>
      <vt:lpstr>Cost</vt:lpstr>
      <vt:lpstr>PowerPoint Presentation</vt:lpstr>
      <vt:lpstr>Location</vt:lpstr>
      <vt:lpstr>Risk</vt:lpstr>
      <vt:lpstr>Statement</vt:lpstr>
      <vt:lpstr>Time</vt:lpstr>
      <vt:lpstr>Predicate Triples</vt:lpstr>
      <vt:lpstr>LML Benefits</vt:lpstr>
      <vt:lpstr>LML Diagram Types</vt:lpstr>
      <vt:lpstr>Introduction to Innoslate</vt:lpstr>
      <vt:lpstr>Innoslate</vt:lpstr>
      <vt:lpstr>PowerPoint Presentation</vt:lpstr>
      <vt:lpstr>Dashboard View</vt:lpstr>
      <vt:lpstr>Adding Widgets</vt:lpstr>
      <vt:lpstr>Database View</vt:lpstr>
      <vt:lpstr>Filtering Database View</vt:lpstr>
      <vt:lpstr>Entity View</vt:lpstr>
      <vt:lpstr>Creating Relationships</vt:lpstr>
      <vt:lpstr>Transforming Entities</vt:lpstr>
      <vt:lpstr>Creating Diagrams from Entities</vt:lpstr>
      <vt:lpstr>Diagrams View</vt:lpstr>
      <vt:lpstr>Create New Diagram</vt:lpstr>
      <vt:lpstr>Create New View</vt:lpstr>
      <vt:lpstr>Documents View</vt:lpstr>
      <vt:lpstr>Import Analyzer</vt:lpstr>
      <vt:lpstr>Configure Import</vt:lpstr>
      <vt:lpstr>Select Import</vt:lpstr>
      <vt:lpstr>Customize Import</vt:lpstr>
      <vt:lpstr>Preview Import</vt:lpstr>
      <vt:lpstr>Schema Editor</vt:lpstr>
      <vt:lpstr>Innoslate Demo</vt:lpstr>
      <vt:lpstr>Requirements</vt:lpstr>
      <vt:lpstr>Requirements Management</vt:lpstr>
      <vt:lpstr>Requirements V&amp;V</vt:lpstr>
      <vt:lpstr>Creating Requirements</vt:lpstr>
      <vt:lpstr>Creating from Scratch</vt:lpstr>
      <vt:lpstr>Document Display Settings</vt:lpstr>
      <vt:lpstr>Additional Requirements Capabilities</vt:lpstr>
      <vt:lpstr>Acronym Extractor</vt:lpstr>
      <vt:lpstr>Acronym Extractor Results</vt:lpstr>
      <vt:lpstr>Auto Number</vt:lpstr>
      <vt:lpstr>Auto-Generate Risks</vt:lpstr>
      <vt:lpstr>Generate Test Cases</vt:lpstr>
      <vt:lpstr>Quality Score</vt:lpstr>
      <vt:lpstr>Requirement Attributes</vt:lpstr>
      <vt:lpstr>Quality Checker</vt:lpstr>
      <vt:lpstr>Intelligence Dashboard</vt:lpstr>
      <vt:lpstr>Report Generation</vt:lpstr>
      <vt:lpstr>Module 4 Lab Outcomes</vt:lpstr>
      <vt:lpstr>Lifecycle Management Framework (LMF)</vt:lpstr>
      <vt:lpstr>LMF Mission Domain</vt:lpstr>
      <vt:lpstr>Lifecycle Stakeholder Questions</vt:lpstr>
      <vt:lpstr>Mission Domain Focus Areas</vt:lpstr>
      <vt:lpstr>LMF System Domain</vt:lpstr>
      <vt:lpstr>System Domain Viewpoints</vt:lpstr>
      <vt:lpstr>System Domain Deliverables</vt:lpstr>
      <vt:lpstr>PowerPoint Presentation</vt:lpstr>
      <vt:lpstr>Mission Systems Architecture</vt:lpstr>
      <vt:lpstr>Mission Value Stream Architecture</vt:lpstr>
      <vt:lpstr>LMF Approach</vt:lpstr>
      <vt:lpstr>Minimum Viable Model (MVM)</vt:lpstr>
      <vt:lpstr>Structural Architecture</vt:lpstr>
      <vt:lpstr>LML Asset Diagram</vt:lpstr>
      <vt:lpstr>Hierarchy Diagram</vt:lpstr>
      <vt:lpstr>Class Diagram</vt:lpstr>
      <vt:lpstr>I2 Diagram</vt:lpstr>
      <vt:lpstr>Physical I/O Diagram</vt:lpstr>
      <vt:lpstr>Module 5 Lab Outcomes</vt:lpstr>
      <vt:lpstr>Functional Architecture</vt:lpstr>
      <vt:lpstr>Use Case Diagram Purpose</vt:lpstr>
      <vt:lpstr>Use Cases</vt:lpstr>
      <vt:lpstr>Actors</vt:lpstr>
      <vt:lpstr>System Boundaries</vt:lpstr>
      <vt:lpstr>Associations</vt:lpstr>
      <vt:lpstr>Includes and Extends</vt:lpstr>
      <vt:lpstr>LML Constructs</vt:lpstr>
      <vt:lpstr>LML Action Diagram</vt:lpstr>
      <vt:lpstr>Relationships in LML Action Diagrams</vt:lpstr>
      <vt:lpstr>N2 Diagram</vt:lpstr>
      <vt:lpstr>IDEF0 Diagram</vt:lpstr>
      <vt:lpstr>ICOM (A0) Diagram</vt:lpstr>
      <vt:lpstr>LML Constructs Overview</vt:lpstr>
      <vt:lpstr>Sequential</vt:lpstr>
      <vt:lpstr>Parallel</vt:lpstr>
      <vt:lpstr>Selection</vt:lpstr>
      <vt:lpstr>Synchronization</vt:lpstr>
      <vt:lpstr>Loop</vt:lpstr>
      <vt:lpstr>Traceability</vt:lpstr>
      <vt:lpstr>Traceability Matrix</vt:lpstr>
      <vt:lpstr>SysML Activity Diagram</vt:lpstr>
      <vt:lpstr>LML Mapping to v2.0</vt:lpstr>
      <vt:lpstr>Mob 6 Lab Outcomes</vt:lpstr>
      <vt:lpstr>Simulation with Innoslate</vt:lpstr>
      <vt:lpstr>Simulation</vt:lpstr>
      <vt:lpstr>Discrete Event Simulation</vt:lpstr>
      <vt:lpstr>Discrete Event Simulation</vt:lpstr>
      <vt:lpstr>Discrete Event Simulation</vt:lpstr>
      <vt:lpstr>PowerPoint Presentation</vt:lpstr>
      <vt:lpstr>Simulation Deadlock</vt:lpstr>
      <vt:lpstr>Debugging</vt:lpstr>
      <vt:lpstr>Additional Simulations</vt:lpstr>
      <vt:lpstr>Module 8 – Project Management</vt:lpstr>
      <vt:lpstr>Kanban Board</vt:lpstr>
      <vt:lpstr>Kanban Board View</vt:lpstr>
      <vt:lpstr>Gantt Chart View</vt:lpstr>
      <vt:lpstr>Comments/Questions?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Sarah Rudder</dc:creator>
  <cp:lastModifiedBy>Sarah Rudder</cp:lastModifiedBy>
  <cp:revision>33</cp:revision>
  <dcterms:created xsi:type="dcterms:W3CDTF">2025-08-07T17:59:12Z</dcterms:created>
  <dcterms:modified xsi:type="dcterms:W3CDTF">2025-09-10T00:52:44Z</dcterms:modified>
</cp:coreProperties>
</file>