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34_F7651A6C.xml" ContentType="application/vnd.ms-powerpoint.comments+xml"/>
  <Override PartName="/ppt/comments/modernComment_13A_FE3A4765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5"/>
  </p:notesMasterIdLst>
  <p:sldIdLst>
    <p:sldId id="405" r:id="rId2"/>
    <p:sldId id="406" r:id="rId3"/>
    <p:sldId id="409" r:id="rId4"/>
    <p:sldId id="408" r:id="rId5"/>
    <p:sldId id="397" r:id="rId6"/>
    <p:sldId id="351" r:id="rId7"/>
    <p:sldId id="352" r:id="rId8"/>
    <p:sldId id="269" r:id="rId9"/>
    <p:sldId id="399" r:id="rId10"/>
    <p:sldId id="353" r:id="rId11"/>
    <p:sldId id="354" r:id="rId12"/>
    <p:sldId id="357" r:id="rId13"/>
    <p:sldId id="359" r:id="rId14"/>
    <p:sldId id="400" r:id="rId15"/>
    <p:sldId id="401" r:id="rId16"/>
    <p:sldId id="363" r:id="rId17"/>
    <p:sldId id="308" r:id="rId18"/>
    <p:sldId id="403" r:id="rId19"/>
    <p:sldId id="311" r:id="rId20"/>
    <p:sldId id="312" r:id="rId21"/>
    <p:sldId id="313" r:id="rId22"/>
    <p:sldId id="314" r:id="rId23"/>
    <p:sldId id="293" r:id="rId24"/>
    <p:sldId id="284" r:id="rId25"/>
    <p:sldId id="402" r:id="rId26"/>
    <p:sldId id="264" r:id="rId27"/>
    <p:sldId id="410" r:id="rId28"/>
    <p:sldId id="286" r:id="rId29"/>
    <p:sldId id="287" r:id="rId30"/>
    <p:sldId id="304" r:id="rId31"/>
    <p:sldId id="288" r:id="rId32"/>
    <p:sldId id="320" r:id="rId33"/>
    <p:sldId id="305" r:id="rId34"/>
    <p:sldId id="306" r:id="rId35"/>
    <p:sldId id="307" r:id="rId36"/>
    <p:sldId id="319" r:id="rId37"/>
    <p:sldId id="289" r:id="rId38"/>
    <p:sldId id="309" r:id="rId39"/>
    <p:sldId id="302" r:id="rId40"/>
    <p:sldId id="290" r:id="rId41"/>
    <p:sldId id="291" r:id="rId42"/>
    <p:sldId id="297" r:id="rId43"/>
    <p:sldId id="298" r:id="rId44"/>
    <p:sldId id="299" r:id="rId45"/>
    <p:sldId id="300" r:id="rId46"/>
    <p:sldId id="322" r:id="rId47"/>
    <p:sldId id="365" r:id="rId48"/>
    <p:sldId id="366" r:id="rId49"/>
    <p:sldId id="367" r:id="rId50"/>
    <p:sldId id="368" r:id="rId51"/>
    <p:sldId id="369" r:id="rId52"/>
    <p:sldId id="370" r:id="rId53"/>
    <p:sldId id="371" r:id="rId54"/>
    <p:sldId id="372" r:id="rId55"/>
    <p:sldId id="373" r:id="rId56"/>
    <p:sldId id="374" r:id="rId57"/>
    <p:sldId id="375" r:id="rId58"/>
    <p:sldId id="376" r:id="rId59"/>
    <p:sldId id="377" r:id="rId60"/>
    <p:sldId id="378" r:id="rId61"/>
    <p:sldId id="379" r:id="rId62"/>
    <p:sldId id="380" r:id="rId63"/>
    <p:sldId id="381" r:id="rId64"/>
    <p:sldId id="407" r:id="rId65"/>
    <p:sldId id="256" r:id="rId66"/>
    <p:sldId id="258" r:id="rId67"/>
    <p:sldId id="358" r:id="rId68"/>
    <p:sldId id="332" r:id="rId69"/>
    <p:sldId id="323" r:id="rId70"/>
    <p:sldId id="333" r:id="rId71"/>
    <p:sldId id="404" r:id="rId72"/>
    <p:sldId id="263" r:id="rId73"/>
    <p:sldId id="330" r:id="rId74"/>
    <p:sldId id="331" r:id="rId75"/>
    <p:sldId id="259" r:id="rId76"/>
    <p:sldId id="350" r:id="rId77"/>
    <p:sldId id="348" r:id="rId78"/>
    <p:sldId id="325" r:id="rId79"/>
    <p:sldId id="292" r:id="rId80"/>
    <p:sldId id="326" r:id="rId81"/>
    <p:sldId id="327" r:id="rId82"/>
    <p:sldId id="328" r:id="rId83"/>
    <p:sldId id="411" r:id="rId84"/>
    <p:sldId id="349" r:id="rId85"/>
    <p:sldId id="335" r:id="rId86"/>
    <p:sldId id="336" r:id="rId87"/>
    <p:sldId id="337" r:id="rId88"/>
    <p:sldId id="262" r:id="rId89"/>
    <p:sldId id="338" r:id="rId90"/>
    <p:sldId id="265" r:id="rId91"/>
    <p:sldId id="340" r:id="rId92"/>
    <p:sldId id="295" r:id="rId93"/>
    <p:sldId id="296" r:id="rId94"/>
    <p:sldId id="294" r:id="rId95"/>
    <p:sldId id="339" r:id="rId96"/>
    <p:sldId id="341" r:id="rId97"/>
    <p:sldId id="342" r:id="rId98"/>
    <p:sldId id="343" r:id="rId99"/>
    <p:sldId id="344" r:id="rId100"/>
    <p:sldId id="301" r:id="rId101"/>
    <p:sldId id="303" r:id="rId102"/>
    <p:sldId id="346" r:id="rId103"/>
    <p:sldId id="347" r:id="rId104"/>
    <p:sldId id="412" r:id="rId105"/>
    <p:sldId id="398" r:id="rId106"/>
    <p:sldId id="386" r:id="rId107"/>
    <p:sldId id="388" r:id="rId108"/>
    <p:sldId id="389" r:id="rId109"/>
    <p:sldId id="390" r:id="rId110"/>
    <p:sldId id="391" r:id="rId111"/>
    <p:sldId id="392" r:id="rId112"/>
    <p:sldId id="393" r:id="rId113"/>
    <p:sldId id="394" r:id="rId1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 1 - Introduction to Course" id="{DD73C750-BC23-7041-A939-B154352879A5}">
          <p14:sldIdLst>
            <p14:sldId id="405"/>
            <p14:sldId id="406"/>
            <p14:sldId id="409"/>
            <p14:sldId id="408"/>
          </p14:sldIdLst>
        </p14:section>
        <p14:section name="Mod 2 - LML" id="{13098DDA-D240-3440-A8E0-41D0FA3873B8}">
          <p14:sldIdLst>
            <p14:sldId id="397"/>
            <p14:sldId id="351"/>
            <p14:sldId id="352"/>
            <p14:sldId id="269"/>
            <p14:sldId id="399"/>
            <p14:sldId id="353"/>
            <p14:sldId id="354"/>
            <p14:sldId id="357"/>
            <p14:sldId id="359"/>
            <p14:sldId id="400"/>
            <p14:sldId id="401"/>
            <p14:sldId id="363"/>
            <p14:sldId id="308"/>
            <p14:sldId id="403"/>
            <p14:sldId id="311"/>
            <p14:sldId id="312"/>
            <p14:sldId id="313"/>
            <p14:sldId id="314"/>
            <p14:sldId id="293"/>
            <p14:sldId id="284"/>
            <p14:sldId id="402"/>
          </p14:sldIdLst>
        </p14:section>
        <p14:section name="Mod 3 - Innoslate" id="{D2823390-947C-1E47-BCCB-30FA678BAA86}">
          <p14:sldIdLst>
            <p14:sldId id="264"/>
            <p14:sldId id="410"/>
            <p14:sldId id="286"/>
            <p14:sldId id="287"/>
            <p14:sldId id="304"/>
            <p14:sldId id="288"/>
            <p14:sldId id="320"/>
            <p14:sldId id="305"/>
            <p14:sldId id="306"/>
            <p14:sldId id="307"/>
            <p14:sldId id="319"/>
            <p14:sldId id="289"/>
            <p14:sldId id="309"/>
            <p14:sldId id="302"/>
            <p14:sldId id="290"/>
            <p14:sldId id="291"/>
            <p14:sldId id="297"/>
            <p14:sldId id="298"/>
            <p14:sldId id="299"/>
            <p14:sldId id="300"/>
            <p14:sldId id="322"/>
          </p14:sldIdLst>
        </p14:section>
        <p14:section name="Mod 4 - Requirements Management" id="{83A4B2E6-9330-C34B-96F7-91A4C1598D31}">
          <p14:sldIdLst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407"/>
          </p14:sldIdLst>
        </p14:section>
        <p14:section name="Mod 5 - LMF" id="{4ECCA245-2D74-3A41-A3AB-B5C6FBAB6BFB}">
          <p14:sldIdLst>
            <p14:sldId id="256"/>
            <p14:sldId id="258"/>
            <p14:sldId id="358"/>
            <p14:sldId id="332"/>
            <p14:sldId id="323"/>
            <p14:sldId id="333"/>
            <p14:sldId id="404"/>
            <p14:sldId id="263"/>
            <p14:sldId id="330"/>
            <p14:sldId id="331"/>
            <p14:sldId id="259"/>
            <p14:sldId id="350"/>
          </p14:sldIdLst>
        </p14:section>
        <p14:section name="Mod 5 - Structural Architecture" id="{3012E4FA-0E8F-B945-BEF4-263044D468E6}">
          <p14:sldIdLst>
            <p14:sldId id="348"/>
            <p14:sldId id="325"/>
            <p14:sldId id="292"/>
            <p14:sldId id="326"/>
            <p14:sldId id="327"/>
            <p14:sldId id="328"/>
            <p14:sldId id="411"/>
          </p14:sldIdLst>
        </p14:section>
        <p14:section name="Mod 6 - Functional Architecture" id="{061CA46B-9C74-4445-AC89-DDA8DE17A4FF}">
          <p14:sldIdLst>
            <p14:sldId id="349"/>
            <p14:sldId id="335"/>
            <p14:sldId id="336"/>
            <p14:sldId id="337"/>
            <p14:sldId id="262"/>
            <p14:sldId id="338"/>
            <p14:sldId id="265"/>
            <p14:sldId id="340"/>
            <p14:sldId id="295"/>
            <p14:sldId id="296"/>
            <p14:sldId id="294"/>
            <p14:sldId id="339"/>
            <p14:sldId id="341"/>
            <p14:sldId id="342"/>
            <p14:sldId id="343"/>
            <p14:sldId id="344"/>
            <p14:sldId id="301"/>
            <p14:sldId id="303"/>
            <p14:sldId id="346"/>
            <p14:sldId id="347"/>
            <p14:sldId id="412"/>
          </p14:sldIdLst>
        </p14:section>
        <p14:section name="Mod 7 - Simulation" id="{8E827614-1025-064D-B99A-7F8D3FDD0163}">
          <p14:sldIdLst>
            <p14:sldId id="398"/>
            <p14:sldId id="386"/>
            <p14:sldId id="388"/>
            <p14:sldId id="389"/>
            <p14:sldId id="390"/>
            <p14:sldId id="391"/>
            <p14:sldId id="392"/>
            <p14:sldId id="393"/>
            <p14:sldId id="3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04EB27E-7903-0427-82AF-A07C2AC83F8E}" name="Sarah Rudder" initials="SR" userId="926998adba382e54" providerId="Windows Live"/>
  <p188:author id="{964FFC82-870B-56AB-C864-FB885710DA81}" name="Sarah Rudder" initials="SR" userId="S::sarah.rudder@enolatech.com::686e44f2-4579-436a-8562-15623b034fd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02"/>
    <p:restoredTop sz="93962"/>
  </p:normalViewPr>
  <p:slideViewPr>
    <p:cSldViewPr snapToGrid="0">
      <p:cViewPr varScale="1">
        <p:scale>
          <a:sx n="97" d="100"/>
          <a:sy n="97" d="100"/>
        </p:scale>
        <p:origin x="2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microsoft.com/office/2018/10/relationships/authors" Target="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comments/modernComment_13A_FE3A476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A99AD9-79EF-E449-A0DB-D49C89B7BA0D}" authorId="{964FFC82-870B-56AB-C864-FB885710DA81}" status="resolved" created="2025-05-21T14:16:58.066">
    <pc:sldMkLst xmlns:pc="http://schemas.microsoft.com/office/powerpoint/2013/main/command">
      <pc:docMk/>
      <pc:sldMk cId="1563571254" sldId="314"/>
    </pc:sldMkLst>
    <p188:txBody>
      <a:bodyPr/>
      <a:lstStyle/>
      <a:p>
        <a:r>
          <a:rPr lang="en-US"/>
          <a:t>add gantt</a:t>
        </a:r>
      </a:p>
    </p188:txBody>
  </p188:cm>
</p188:cmLst>
</file>

<file path=ppt/comments/modernComment_134_F7651A6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BB0C8BD-0D65-9940-ABEF-8EC5DA488086}" authorId="{604EB27E-7903-0427-82AF-A07C2AC83F8E}" created="2025-08-09T14:12:51.675">
    <pc:sldMkLst xmlns:pc="http://schemas.microsoft.com/office/powerpoint/2013/main/command">
      <pc:docMk/>
      <pc:sldMk cId="3710286535" sldId="308"/>
    </pc:sldMkLst>
    <p188:txBody>
      <a:bodyPr/>
      <a:lstStyle/>
      <a:p>
        <a:r>
          <a:rPr lang="en-US"/>
          <a:t>add wbs example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34CF31-C051-1449-BBC4-9420D4017A70}" type="datetimeFigureOut">
              <a:rPr lang="en-US" smtClean="0"/>
              <a:t>8/9/25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EFF40-1C6B-F545-A07C-C7B89D13F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85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Conduit - </a:t>
            </a:r>
            <a:r>
              <a:rPr lang="en-US" sz="1200" u="none" strike="noStrike" dirty="0">
                <a:effectLst/>
              </a:rPr>
              <a:t>It has limitations (i.e., attributes) of capability and latency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u="none" strike="noStrike" dirty="0">
                <a:effectLst/>
              </a:rPr>
              <a:t>Dependency - </a:t>
            </a:r>
            <a:r>
              <a:rPr lang="en-US" sz="1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 defines the relationship a </a:t>
            </a:r>
            <a:r>
              <a:rPr lang="en-US" sz="12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lang="en-US" sz="1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depends on another </a:t>
            </a:r>
            <a:r>
              <a:rPr lang="en-US" sz="12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lang="en-US" sz="1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in order to Start or Finish. </a:t>
            </a:r>
            <a:endParaRPr lang="en-US" sz="1200" u="none" strike="noStrike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u="none" strike="noStrike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EFF40-1C6B-F545-A07C-C7B89D13FB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77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 example for </a:t>
            </a:r>
            <a:r>
              <a:rPr lang="en-US" dirty="0" err="1"/>
              <a:t>v&amp;v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F8CD2-4DEB-664A-A119-26EF42CEA1A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62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Solution viewpoint - </a:t>
            </a:r>
            <a:r>
              <a:rPr lang="en-US" sz="1200" dirty="0"/>
              <a:t>This includes the bulk of engineering design effort needed to define how the problem will be solved or opportunity realized.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Execution viewpoint - This includes all aspects of strategic project control and execution needed to put in place the infrastructure and organization that will develop and operate the solution.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DevOps viewpoint - This involves the tactical aspects of product development (including integration and verification) as well as operations and sustainment.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EFF40-1C6B-F545-A07C-C7B89D13FBBC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12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needed to deliver value to users/customers for a specific mission area (and return some form of compensation to the Enterprise in turn, in some cases indirectly e.g. government projects)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EFF40-1C6B-F545-A07C-C7B89D13FBBC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658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EB45D-82BD-C699-857F-DC8C5FA88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90610C-25DC-6A8C-D65F-B78DC385B2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F40A2-3660-1890-4D09-21D589A76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B06B9-3CAC-214D-96E2-A72379F73090}" type="datetimeFigureOut">
              <a:rPr lang="en-US" smtClean="0"/>
              <a:t>8/9/25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490F-FAAC-379C-74CA-2997AE921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BEF4D-828C-C199-80A6-CF924EF12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B0BB-7B91-8448-B02B-EB2E4D3DE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396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DA5BC-ED1F-51BC-9928-33FE4982B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E119A-A2F2-9978-2622-35D6DBE20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33A75-3C2F-6169-055A-5AD1D9E92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B06B9-3CAC-214D-96E2-A72379F73090}" type="datetimeFigureOut">
              <a:rPr lang="en-US" smtClean="0"/>
              <a:t>8/9/25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6AEF8-DDA2-062A-9C01-54E65E8BB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45AA9-BECA-E298-02C3-109F4DC6D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B0BB-7B91-8448-B02B-EB2E4D3DE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88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21140-8A2E-2819-1755-C3EFA8A92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CBAA2-BD96-8F64-B2BD-FA6A6D4C3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F5A2F-7A1F-84BF-6C0A-F3513C6B7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B06B9-3CAC-214D-96E2-A72379F73090}" type="datetimeFigureOut">
              <a:rPr lang="en-US" smtClean="0"/>
              <a:t>8/9/25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4DAEF-0B16-C6E5-D3EE-E3B35C6E5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22FA0-5B91-3C5B-D19E-62642DDC2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B0BB-7B91-8448-B02B-EB2E4D3DE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282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2C35C-ED1D-408C-2240-F14912751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DD807-5530-33AB-8B4D-7270A8D6C3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27B5C-CE36-C663-3C14-BF63A9CD43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EBB79-A142-EB06-7526-6A498174E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B06B9-3CAC-214D-96E2-A72379F73090}" type="datetimeFigureOut">
              <a:rPr lang="en-US" smtClean="0"/>
              <a:t>8/9/25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74C6D-7A4B-7470-83E7-493A128B9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2B3C5-2BF9-629F-C4C9-DBCA96026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B0BB-7B91-8448-B02B-EB2E4D3DE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39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35489-0AE3-AFD2-5C03-64D6CB1E6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8C705-853E-8015-E3A5-5C1F8D207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237B0-B531-E84D-DE42-4B67138F8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9E6749-C1F4-BCEB-FA50-43A0724814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E06D5F-D1D0-CB92-2BC3-65CDF595C8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F8DA79-912F-1350-758F-6FD4DF062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B06B9-3CAC-214D-96E2-A72379F73090}" type="datetimeFigureOut">
              <a:rPr lang="en-US" smtClean="0"/>
              <a:t>8/9/25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F89F2C-4F43-C81A-A8AD-B5DF2E65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B88D39-E434-1FAC-6D2A-C216997C3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B0BB-7B91-8448-B02B-EB2E4D3DE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35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8A583-E402-9BB5-0C6F-E6698FCE8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B014CC-D88D-68A6-1883-B17D23DB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B06B9-3CAC-214D-96E2-A72379F73090}" type="datetimeFigureOut">
              <a:rPr lang="en-US" smtClean="0"/>
              <a:t>8/9/25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959A94-4545-32F3-5526-E91F7AEC1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F977D5-072E-33AE-9297-237900324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B0BB-7B91-8448-B02B-EB2E4D3DE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14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E5FBB-41D3-DB92-1F3C-E75F5F896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B06B9-3CAC-214D-96E2-A72379F73090}" type="datetimeFigureOut">
              <a:rPr lang="en-US" smtClean="0"/>
              <a:t>8/9/25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54252E-1421-CC63-F356-9C578C740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6860E-2925-6BC0-2FBD-4EE227615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B0BB-7B91-8448-B02B-EB2E4D3DE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0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6099A-0655-A62B-5448-C74419968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B9BF6-3F3F-023C-FCA1-43F650F6A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68971F-B65B-CDD0-A0B9-0AF87C8F24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A2804-30D6-99C5-5DD9-CB3A6502D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B06B9-3CAC-214D-96E2-A72379F73090}" type="datetimeFigureOut">
              <a:rPr lang="en-US" smtClean="0"/>
              <a:t>8/9/25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FE8AD-9697-FC1C-286C-2B3716709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B4E4A-CB49-FAE0-2BC4-1E2F5CEC7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B0BB-7B91-8448-B02B-EB2E4D3DE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8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7E8AE-C750-B7C7-0E92-6B482D54D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9C654D-7EFA-8D18-5FBF-873565DB9C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6ADC46-9F19-93CB-9000-5332325E4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7F2EA-13BB-8164-03B0-31E97526D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B06B9-3CAC-214D-96E2-A72379F73090}" type="datetimeFigureOut">
              <a:rPr lang="en-US" smtClean="0"/>
              <a:t>8/9/25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6A46F-4933-A9F6-2547-0BBC406C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F6C92-BF6A-5169-CA54-6A279F60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B0BB-7B91-8448-B02B-EB2E4D3DE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79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2278F-1952-3B19-6D63-BCBC4076E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960A45-D790-682D-C3B2-52BD15CCD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E9343-B82E-AD13-4632-5F263BEFF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B06B9-3CAC-214D-96E2-A72379F73090}" type="datetimeFigureOut">
              <a:rPr lang="en-US" smtClean="0"/>
              <a:t>8/9/25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B6350-EB3A-6514-3E0C-0EDBB01D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08F1A-EF76-776C-0B46-9391FA7B1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B0BB-7B91-8448-B02B-EB2E4D3DE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21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325FD8-E291-E5B0-0BAB-173425EC97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51F56-5CE0-25AF-1595-DB54056EE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22054-E6AC-6E34-059E-879D79F40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B06B9-3CAC-214D-96E2-A72379F73090}" type="datetimeFigureOut">
              <a:rPr lang="en-US" smtClean="0"/>
              <a:t>8/9/25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02166-C43A-4A6B-8147-FDFE86AB3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7DB8C-1796-7C77-11D3-9C10C4149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B0BB-7B91-8448-B02B-EB2E4D3DE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07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FF6FDE-B9D8-0F3E-8781-42E2D575F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70656-0778-D411-941F-1E0464798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23F32-7C12-5630-B3DC-AE6A97EB5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3B06B9-3CAC-214D-96E2-A72379F73090}" type="datetimeFigureOut">
              <a:rPr lang="en-US" smtClean="0"/>
              <a:t>8/9/25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78C10-6638-DC9A-F617-6A8A954F0E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A8A83-AED2-18B1-722F-A92ED1E8D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1B0BB-7B91-8448-B02B-EB2E4D3DE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77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8/10/relationships/comments" Target="../comments/modernComment_134_F7651A6C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microsoft.com/office/2018/10/relationships/comments" Target="../comments/modernComment_13A_FE3A476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6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98420-979A-7018-2858-DDC62E372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Leveraging Lifecycle Modeling to Integrate Systems Engineering and Project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80619-7BCF-E6A3-5E8D-A4E053E1B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 Rudder, PE, CSEP</a:t>
            </a:r>
          </a:p>
          <a:p>
            <a:endParaRPr lang="en-US" dirty="0"/>
          </a:p>
        </p:txBody>
      </p:sp>
      <p:pic>
        <p:nvPicPr>
          <p:cNvPr id="4" name="Picture 2" descr="Lifecycle Modeling Organization Logo">
            <a:extLst>
              <a:ext uri="{FF2B5EF4-FFF2-40B4-BE49-F238E27FC236}">
                <a16:creationId xmlns:a16="http://schemas.microsoft.com/office/drawing/2014/main" id="{1C2B09E2-3FD3-67AD-A82A-20751F972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581" y="5143986"/>
            <a:ext cx="5083419" cy="1661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7392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51368-A21A-E5E9-FE14-87F8BF842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D2F4A-7ED7-EE90-8714-131437793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353" y="1602886"/>
            <a:ext cx="964223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8:00 Mod 2 - Overview of Lifecycle Modeling Language (LML)</a:t>
            </a:r>
          </a:p>
          <a:p>
            <a:pPr marL="0" lvl="1" indent="0">
              <a:buNone/>
            </a:pPr>
            <a:r>
              <a:rPr lang="en-US" dirty="0"/>
              <a:t>8:15 Mod 3 - Introduction to </a:t>
            </a:r>
            <a:r>
              <a:rPr lang="en-US" dirty="0" err="1"/>
              <a:t>Innoslate</a:t>
            </a:r>
            <a:endParaRPr lang="en-US" dirty="0"/>
          </a:p>
          <a:p>
            <a:pPr marL="0" lvl="1" indent="0">
              <a:buNone/>
            </a:pPr>
            <a:r>
              <a:rPr lang="en-US" dirty="0"/>
              <a:t>8:30 Mod 4 - Requirements Management (RM)</a:t>
            </a:r>
          </a:p>
          <a:p>
            <a:pPr marL="0" lvl="1" indent="0">
              <a:buNone/>
            </a:pPr>
            <a:r>
              <a:rPr lang="en-US" dirty="0"/>
              <a:t>8:45 Mod 4 – Lab</a:t>
            </a:r>
          </a:p>
          <a:p>
            <a:pPr marL="0" lvl="1" indent="0">
              <a:buNone/>
            </a:pPr>
            <a:r>
              <a:rPr lang="en-US" b="1" dirty="0"/>
              <a:t>9:30 BREAK</a:t>
            </a:r>
          </a:p>
          <a:p>
            <a:pPr marL="0" lvl="1" indent="0">
              <a:buNone/>
            </a:pPr>
            <a:r>
              <a:rPr lang="en-US" dirty="0"/>
              <a:t>9:45 Mod 5 – Lifecycle Management Framework (LMF)</a:t>
            </a:r>
          </a:p>
          <a:p>
            <a:pPr marL="0" lvl="1" indent="0">
              <a:buNone/>
            </a:pPr>
            <a:r>
              <a:rPr lang="en-US" dirty="0"/>
              <a:t>10:00 Mod 6 – Structural Architecture</a:t>
            </a:r>
          </a:p>
          <a:p>
            <a:pPr marL="0" lvl="1" indent="0">
              <a:buNone/>
            </a:pPr>
            <a:r>
              <a:rPr lang="en-US" dirty="0"/>
              <a:t>10:15 Mod 6 – Lab</a:t>
            </a:r>
          </a:p>
          <a:p>
            <a:pPr marL="0" lvl="1" indent="0">
              <a:buNone/>
            </a:pPr>
            <a:r>
              <a:rPr lang="en-US" b="1" dirty="0"/>
              <a:t>11:00 BREAK</a:t>
            </a:r>
          </a:p>
          <a:p>
            <a:pPr marL="0" lvl="1" indent="0">
              <a:buNone/>
            </a:pPr>
            <a:r>
              <a:rPr lang="en-US" dirty="0"/>
              <a:t>11:15 Mod 7 – Functional Architecture</a:t>
            </a:r>
          </a:p>
          <a:p>
            <a:pPr marL="0" indent="0">
              <a:buNone/>
            </a:pPr>
            <a:r>
              <a:rPr lang="en-US" sz="2400" dirty="0"/>
              <a:t>11:30 Mod 7 – Lab</a:t>
            </a:r>
          </a:p>
          <a:p>
            <a:pPr marL="0" indent="0">
              <a:buNone/>
            </a:pPr>
            <a:endParaRPr lang="en-US" dirty="0"/>
          </a:p>
          <a:p>
            <a:pPr marL="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995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248E6-AC41-E41C-4E55-6D77BE858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5E618-C234-B93A-03A8-4873692EF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68119" cy="3448740"/>
          </a:xfrm>
        </p:spPr>
        <p:txBody>
          <a:bodyPr/>
          <a:lstStyle/>
          <a:p>
            <a:r>
              <a:rPr lang="en-US" dirty="0"/>
              <a:t>Auburn University, B.S., Biosystems Engineering</a:t>
            </a:r>
          </a:p>
          <a:p>
            <a:r>
              <a:rPr lang="en-US" dirty="0"/>
              <a:t>University of Tennessee, M.S., Industrial and Systems Engineering</a:t>
            </a:r>
          </a:p>
          <a:p>
            <a:r>
              <a:rPr lang="en-US" dirty="0"/>
              <a:t>Colorado State University, PhD, Systems Engineering (current)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FA56D9-A8B7-C532-2C67-EDFD96ED1639}"/>
              </a:ext>
            </a:extLst>
          </p:cNvPr>
          <p:cNvSpPr txBox="1">
            <a:spLocks/>
          </p:cNvSpPr>
          <p:nvPr/>
        </p:nvSpPr>
        <p:spPr>
          <a:xfrm>
            <a:off x="5921415" y="1825624"/>
            <a:ext cx="4868119" cy="50323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Hanford Tank Waste Treatment and Immobilization Plant (WTP), Hanford WA</a:t>
            </a:r>
          </a:p>
          <a:p>
            <a:r>
              <a:rPr lang="en-US" dirty="0"/>
              <a:t>Uranium Processing Facility (UPF), Oak Ridge, TN</a:t>
            </a:r>
          </a:p>
          <a:p>
            <a:r>
              <a:rPr lang="en-US" dirty="0"/>
              <a:t>Raytheon Intelligence and Space (RIS), Richardson, TX</a:t>
            </a:r>
          </a:p>
          <a:p>
            <a:r>
              <a:rPr lang="en-US" dirty="0"/>
              <a:t>Collaborative Engagement Capability, Raytheon Missiles and Defense (RMD), St. Pete, FL</a:t>
            </a:r>
          </a:p>
        </p:txBody>
      </p:sp>
    </p:spTree>
    <p:extLst>
      <p:ext uri="{BB962C8B-B14F-4D97-AF65-F5344CB8AC3E}">
        <p14:creationId xmlns:p14="http://schemas.microsoft.com/office/powerpoint/2010/main" val="4069395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1556B-22DA-8FFF-6DA5-F011F2AE6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of Engagement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4E310-0E44-457B-16D9-22BAA9F05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Feel free to stop me at any time with questions</a:t>
            </a:r>
          </a:p>
          <a:p>
            <a:r>
              <a:rPr lang="en-US" dirty="0"/>
              <a:t>Please listen to the lecture portions prior to beginning the lab sections</a:t>
            </a:r>
          </a:p>
          <a:p>
            <a:r>
              <a:rPr lang="en-US" dirty="0"/>
              <a:t>Participate in the lab for a comprehensive learning experience</a:t>
            </a:r>
          </a:p>
          <a:p>
            <a:r>
              <a:rPr lang="en-US" dirty="0"/>
              <a:t>Follow-up questions can be directed to </a:t>
            </a:r>
            <a:r>
              <a:rPr lang="en-US" dirty="0" err="1"/>
              <a:t>sarah.rudder@enolatech.com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676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5FB67-4900-0BB5-BD23-DF64CA5E4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4920768" cy="2852737"/>
          </a:xfrm>
        </p:spPr>
        <p:txBody>
          <a:bodyPr/>
          <a:lstStyle/>
          <a:p>
            <a:r>
              <a:rPr lang="en-US" dirty="0"/>
              <a:t>Introduction to LML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D8DFE9-C0EA-343C-7345-807C1A2E7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223" y="2053004"/>
            <a:ext cx="32766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210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C73C1D-3BFF-445F-BD35-76608D54B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INCOSE MBSE Definition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1AF34B-964A-43CF-AD7A-0545A7B970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“Model-based systems engineering (MBSE) is the formalized application of modeling to support </a:t>
            </a:r>
            <a:r>
              <a:rPr lang="en-US">
                <a:solidFill>
                  <a:srgbClr val="FF0000"/>
                </a:solidFill>
              </a:rPr>
              <a:t>system requirements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design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analysis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verification</a:t>
            </a:r>
            <a:r>
              <a:rPr lang="en-US"/>
              <a:t> and </a:t>
            </a:r>
            <a:r>
              <a:rPr lang="en-US">
                <a:solidFill>
                  <a:srgbClr val="FF0000"/>
                </a:solidFill>
              </a:rPr>
              <a:t>validation</a:t>
            </a:r>
            <a:r>
              <a:rPr lang="en-US"/>
              <a:t> activities beginning in the conceptual design phase and continuing throughout development and later life cycle phases.”</a:t>
            </a:r>
          </a:p>
          <a:p>
            <a:pPr lvl="1"/>
            <a:r>
              <a:rPr lang="en-US"/>
              <a:t>INCOSE SE Vision 2020 (INCOSE-TP-2004-004-02, Sep 2007)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63B7E4-51EF-45F2-93C5-0FDB0516E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0319" y="1143000"/>
            <a:ext cx="5867400" cy="5219700"/>
          </a:xfrm>
        </p:spPr>
        <p:txBody>
          <a:bodyPr>
            <a:normAutofit fontScale="92500" lnSpcReduction="10000"/>
          </a:bodyPr>
          <a:lstStyle/>
          <a:p>
            <a:endParaRPr lang="en-US"/>
          </a:p>
        </p:txBody>
      </p:sp>
      <p:pic>
        <p:nvPicPr>
          <p:cNvPr id="1026" name="Picture 2" descr="INCOSE-logo-2016">
            <a:extLst>
              <a:ext uri="{FF2B5EF4-FFF2-40B4-BE49-F238E27FC236}">
                <a16:creationId xmlns:a16="http://schemas.microsoft.com/office/drawing/2014/main" id="{4115EEDE-F89B-4418-9F06-1E40B2774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125" y="1904353"/>
            <a:ext cx="5061788" cy="3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0473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B92B8-1E76-07C9-8497-7CA896B12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0"/>
            <a:ext cx="10134599" cy="952500"/>
          </a:xfrm>
        </p:spPr>
        <p:txBody>
          <a:bodyPr anchor="ctr">
            <a:normAutofit/>
          </a:bodyPr>
          <a:lstStyle/>
          <a:p>
            <a:r>
              <a:rPr lang="en-US"/>
              <a:t>MBSE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9457E-410B-1CE1-5852-61B3146306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25" y="2329404"/>
            <a:ext cx="5867400" cy="2199191"/>
          </a:xfrm>
        </p:spPr>
        <p:txBody>
          <a:bodyPr>
            <a:normAutofit lnSpcReduction="10000"/>
          </a:bodyPr>
          <a:lstStyle/>
          <a:p>
            <a:r>
              <a:rPr lang="en-US"/>
              <a:t>Modeling languages capture a formalized ontology (i.e., internal logic) to capture and connect relationships along with standards to facilitate data sharing between tools</a:t>
            </a:r>
          </a:p>
        </p:txBody>
      </p:sp>
    </p:spTree>
    <p:extLst>
      <p:ext uri="{BB962C8B-B14F-4D97-AF65-F5344CB8AC3E}">
        <p14:creationId xmlns:p14="http://schemas.microsoft.com/office/powerpoint/2010/main" val="589613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C73C1D-3BFF-445F-BD35-76608D54B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LML 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1AF34B-964A-43CF-AD7A-0545A7B970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LML is a standardized language for applying MBSE</a:t>
            </a:r>
          </a:p>
          <a:p>
            <a:r>
              <a:rPr lang="en-US">
                <a:ea typeface="Calibri"/>
                <a:cs typeface="Calibri"/>
              </a:rPr>
              <a:t>Documentation elements</a:t>
            </a:r>
          </a:p>
          <a:p>
            <a:r>
              <a:rPr lang="en-US">
                <a:ea typeface="Calibri"/>
                <a:cs typeface="Calibri"/>
              </a:rPr>
              <a:t>Program entities</a:t>
            </a:r>
          </a:p>
          <a:p>
            <a:r>
              <a:rPr lang="en-US">
                <a:ea typeface="Calibri"/>
                <a:cs typeface="Calibri"/>
              </a:rPr>
              <a:t>Physical Model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>
                <a:ea typeface="Calibri"/>
                <a:cs typeface="Calibri"/>
              </a:rPr>
              <a:t>Assets</a:t>
            </a:r>
          </a:p>
          <a:p>
            <a:r>
              <a:rPr lang="en-US">
                <a:ea typeface="Calibri"/>
                <a:cs typeface="Calibri"/>
              </a:rPr>
              <a:t>Functional Model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>
                <a:ea typeface="Calibri"/>
                <a:cs typeface="Calibri"/>
              </a:rPr>
              <a:t>Actions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>
                <a:ea typeface="Calibri"/>
                <a:cs typeface="Calibri"/>
              </a:rPr>
              <a:t>Inputs/Outputs</a:t>
            </a:r>
          </a:p>
          <a:p>
            <a:pPr lvl="1">
              <a:buFont typeface="Courier New" panose="05000000000000000000" pitchFamily="2" charset="2"/>
              <a:buChar char="o"/>
            </a:pPr>
            <a:endParaRPr lang="en-US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FD6EDE-D3B6-802C-6792-B65C3983B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5544" y="1944814"/>
            <a:ext cx="5944967" cy="391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966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D39F71-F5B7-8DF0-7DAE-6ACA95E12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72" y="902825"/>
            <a:ext cx="10834674" cy="522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642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5FAD7-35DA-8CC6-7F5F-271F61AE1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Six Goals of LML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2D23F4-EE09-BE74-394D-E3508C7CAA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664" y="1202801"/>
            <a:ext cx="5213350" cy="521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4443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4EB58-59D9-296F-999D-899458D17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LML Metamodel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732DF4-1E89-80ED-C457-046C6E668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754" y="1717513"/>
            <a:ext cx="7772400" cy="477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253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18D6-7434-BB67-3D43-F5728A596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Lifecycle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B966A-721C-1C53-A777-3DC87EDC6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1543"/>
            <a:ext cx="11938158" cy="207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48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E60E5-86DD-6681-2CDD-64F7FC83B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2C09E-0674-DC60-FAE6-B098FD078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04" y="1440728"/>
            <a:ext cx="5596329" cy="5213350"/>
          </a:xfrm>
        </p:spPr>
        <p:txBody>
          <a:bodyPr/>
          <a:lstStyle/>
          <a:p>
            <a:r>
              <a:rPr lang="en-US" sz="2800" u="none" strike="noStrike" dirty="0">
                <a:effectLst/>
              </a:rPr>
              <a:t>An </a:t>
            </a:r>
            <a:r>
              <a:rPr lang="en-US" sz="2800" b="1" u="none" strike="noStrike" dirty="0">
                <a:effectLst/>
              </a:rPr>
              <a:t>Action </a:t>
            </a:r>
            <a:r>
              <a:rPr lang="en-US" sz="2800" u="none" strike="noStrike" dirty="0">
                <a:effectLst/>
              </a:rPr>
              <a:t>entity specifies the mechanism by which inputs are transformed into outputs</a:t>
            </a:r>
          </a:p>
          <a:p>
            <a:endParaRPr lang="en-US" sz="2800" u="none" strike="noStrike" dirty="0">
              <a:effectLst/>
            </a:endParaRPr>
          </a:p>
          <a:p>
            <a:pPr lvl="1"/>
            <a:r>
              <a:rPr lang="en-US" dirty="0"/>
              <a:t>A </a:t>
            </a:r>
            <a:r>
              <a:rPr lang="en-US" b="1" dirty="0"/>
              <a:t>Task </a:t>
            </a:r>
            <a:r>
              <a:rPr lang="en-US" dirty="0"/>
              <a:t>entity specifies an Action that must be completed for a particular project. It serves as a "</a:t>
            </a:r>
            <a:r>
              <a:rPr lang="en-US" dirty="0" err="1"/>
              <a:t>ToDo</a:t>
            </a:r>
            <a:r>
              <a:rPr lang="en-US" dirty="0"/>
              <a:t>" for the Project</a:t>
            </a:r>
          </a:p>
          <a:p>
            <a:pPr lvl="1"/>
            <a:endParaRPr lang="en-US" dirty="0"/>
          </a:p>
          <a:p>
            <a:pPr lvl="1"/>
            <a:r>
              <a:rPr lang="en-US" sz="2400" dirty="0"/>
              <a:t>A </a:t>
            </a:r>
            <a:r>
              <a:rPr lang="en-US" sz="2400" b="1" dirty="0"/>
              <a:t>Test Case </a:t>
            </a:r>
            <a:r>
              <a:rPr lang="en-US" sz="2400" dirty="0"/>
              <a:t>entity specifies a verification or validation task, and its expected and actual results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Calibri"/>
            </a:endParaRPr>
          </a:p>
          <a:p>
            <a:pPr lvl="1"/>
            <a:endParaRPr lang="en-US" b="0" i="0" u="none" strike="noStrike" dirty="0">
              <a:solidFill>
                <a:srgbClr val="000000"/>
              </a:solidFill>
              <a:effectLst/>
              <a:latin typeface="Calibri"/>
            </a:endParaRPr>
          </a:p>
          <a:p>
            <a:endParaRPr lang="en-US" sz="2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480443B-A6B2-E77C-EF4F-F7BCAC3D0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572" y="1143000"/>
            <a:ext cx="5213350" cy="521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2753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3BD49-06F4-A002-AEA8-8076A6478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56381"/>
            <a:ext cx="5157787" cy="823912"/>
          </a:xfrm>
        </p:spPr>
        <p:txBody>
          <a:bodyPr/>
          <a:lstStyle/>
          <a:p>
            <a:r>
              <a:rPr lang="en-US" dirty="0"/>
              <a:t>Artifact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B4529-8392-B83C-2A34-35F65568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1250576"/>
            <a:ext cx="5157787" cy="3684588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Artifact </a:t>
            </a:r>
            <a:r>
              <a:rPr lang="en-US" dirty="0"/>
              <a:t>entity specifies a document or other source of information that is referenced by or generated in the knowledge base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Examples include: document, email, procedure, specification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63FF9-8CBE-9547-0E03-02CE9B308D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56381"/>
            <a:ext cx="5183188" cy="823912"/>
          </a:xfrm>
        </p:spPr>
        <p:txBody>
          <a:bodyPr/>
          <a:lstStyle/>
          <a:p>
            <a:r>
              <a:rPr lang="en-US" dirty="0"/>
              <a:t>Asset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0FAD34-2B31-7281-E0F8-5783BD7793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250576"/>
            <a:ext cx="5183188" cy="4939087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Asset</a:t>
            </a:r>
            <a:r>
              <a:rPr lang="en-US" dirty="0"/>
              <a:t> entity specifies an object, person, or organization that performs </a:t>
            </a:r>
            <a:r>
              <a:rPr lang="en-US" b="1" dirty="0"/>
              <a:t>Actions</a:t>
            </a:r>
            <a:r>
              <a:rPr lang="en-US" dirty="0"/>
              <a:t>, such as a system, subsystem, component, or element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Resource</a:t>
            </a:r>
            <a:r>
              <a:rPr lang="en-US" dirty="0"/>
              <a:t> entity specifies a consumable or producible </a:t>
            </a:r>
            <a:r>
              <a:rPr lang="en-US" b="1" dirty="0"/>
              <a:t>Asset</a:t>
            </a:r>
            <a:endParaRPr lang="en-US" b="1" dirty="0">
              <a:solidFill>
                <a:srgbClr val="000000"/>
              </a:solidFill>
              <a:latin typeface="Calibri"/>
            </a:endParaRPr>
          </a:p>
          <a:p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4AEA6C-BA8C-2ABF-ECD2-328FA24F1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97" y="4234021"/>
            <a:ext cx="4789416" cy="236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660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74812-674A-1107-C151-49FAA7497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213" y="466512"/>
            <a:ext cx="5157787" cy="823912"/>
          </a:xfrm>
        </p:spPr>
        <p:txBody>
          <a:bodyPr/>
          <a:lstStyle/>
          <a:p>
            <a:r>
              <a:rPr lang="en-US" dirty="0"/>
              <a:t>Characteristic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80BDD7-B3CA-5DAB-2DAF-F82D47609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8213" y="1290424"/>
            <a:ext cx="5157787" cy="368458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Characteristic </a:t>
            </a:r>
            <a:r>
              <a:rPr lang="en-US" dirty="0"/>
              <a:t>entity specifies or captures properties of an entity</a:t>
            </a:r>
          </a:p>
          <a:p>
            <a:endParaRPr lang="en-US" dirty="0"/>
          </a:p>
          <a:p>
            <a:r>
              <a:rPr lang="en-US" dirty="0"/>
              <a:t>Examples include: attribute, category, power, color, role, size, weight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55AA6D-4349-5F6A-0091-4D456C654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625" y="466512"/>
            <a:ext cx="5183188" cy="823912"/>
          </a:xfrm>
        </p:spPr>
        <p:txBody>
          <a:bodyPr/>
          <a:lstStyle/>
          <a:p>
            <a:r>
              <a:rPr lang="en-US" dirty="0"/>
              <a:t>Measure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50B279-4B63-0FC8-89B0-04641B7B4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625" y="1290424"/>
            <a:ext cx="5183188" cy="368458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Measure</a:t>
            </a:r>
            <a:r>
              <a:rPr lang="en-US" dirty="0"/>
              <a:t> entity specifies the set of measurements used to provide insight into the system definition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83D95A-DBB9-0CBF-7610-4E9E836CE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437" y="2558479"/>
            <a:ext cx="3181350" cy="404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069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21D03-4ECB-C5B7-677A-4FD848CDE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6F47F-9598-B1F4-4C84-BB355CEC4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5943601" cy="5213350"/>
          </a:xfrm>
        </p:spPr>
        <p:txBody>
          <a:bodyPr>
            <a:normAutofit/>
          </a:bodyPr>
          <a:lstStyle/>
          <a:p>
            <a:r>
              <a:rPr lang="en-US" sz="2800" u="none" strike="noStrike" dirty="0">
                <a:effectLst/>
              </a:rPr>
              <a:t>A </a:t>
            </a:r>
            <a:r>
              <a:rPr lang="en-US" sz="2800" b="1" u="none" strike="noStrike" dirty="0">
                <a:effectLst/>
              </a:rPr>
              <a:t>Connection </a:t>
            </a:r>
            <a:r>
              <a:rPr lang="en-US" sz="2800" u="none" strike="noStrike" dirty="0">
                <a:effectLst/>
              </a:rPr>
              <a:t>entity specifies the means for relating Asset instances to each other.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lvl="1"/>
            <a:r>
              <a:rPr lang="en-US" sz="2400" u="none" strike="noStrike" dirty="0">
                <a:effectLst/>
              </a:rPr>
              <a:t>A </a:t>
            </a:r>
            <a:r>
              <a:rPr lang="en-US" sz="2400" b="1" u="none" strike="noStrike" dirty="0">
                <a:effectLst/>
              </a:rPr>
              <a:t>Conduit </a:t>
            </a:r>
            <a:r>
              <a:rPr lang="en-US" sz="2400" u="none" strike="noStrike" dirty="0">
                <a:effectLst/>
              </a:rPr>
              <a:t>entity specifies the means for physically transporting </a:t>
            </a:r>
            <a:r>
              <a:rPr lang="en-US" sz="2400" b="1" u="none" strike="noStrike" dirty="0">
                <a:effectLst/>
              </a:rPr>
              <a:t>Input / Output </a:t>
            </a:r>
            <a:r>
              <a:rPr lang="en-US" sz="2400" u="none" strike="noStrike" dirty="0">
                <a:effectLst/>
              </a:rPr>
              <a:t>entities between </a:t>
            </a:r>
            <a:r>
              <a:rPr lang="en-US" sz="2400" b="1" u="none" strike="noStrike" dirty="0">
                <a:effectLst/>
              </a:rPr>
              <a:t>Asset </a:t>
            </a:r>
            <a:r>
              <a:rPr lang="en-US" sz="2400" u="none" strike="noStrike" dirty="0">
                <a:effectLst/>
              </a:rPr>
              <a:t>entities</a:t>
            </a:r>
          </a:p>
          <a:p>
            <a:pPr lvl="1"/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 </a:t>
            </a:r>
            <a:r>
              <a:rPr lang="en-US" sz="24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Dependency 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entity specifies a connection between two </a:t>
            </a:r>
            <a:r>
              <a:rPr lang="en-US" sz="24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Tasks</a:t>
            </a:r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in a </a:t>
            </a:r>
            <a:r>
              <a:rPr lang="en-US" sz="24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Gantt Chart</a:t>
            </a:r>
          </a:p>
          <a:p>
            <a:pPr lvl="1"/>
            <a:r>
              <a:rPr lang="en-US" sz="2400" u="none" strike="noStrike" dirty="0">
                <a:effectLst/>
              </a:rPr>
              <a:t>A </a:t>
            </a:r>
            <a:r>
              <a:rPr lang="en-US" sz="2400" b="1" u="none" strike="noStrike" dirty="0">
                <a:effectLst/>
              </a:rPr>
              <a:t>Logical </a:t>
            </a:r>
            <a:r>
              <a:rPr lang="en-US" sz="2400" u="none" strike="noStrike" dirty="0">
                <a:effectLst/>
              </a:rPr>
              <a:t>entity represents the abstraction of the relationship between two entities (e.g., </a:t>
            </a:r>
            <a:r>
              <a:rPr lang="en-US" sz="2400" b="1" u="none" strike="noStrike" dirty="0">
                <a:effectLst/>
              </a:rPr>
              <a:t>Asset </a:t>
            </a:r>
            <a:r>
              <a:rPr lang="en-US" sz="2400" u="none" strike="noStrike" dirty="0">
                <a:effectLst/>
              </a:rPr>
              <a:t>entities with the type “</a:t>
            </a:r>
            <a:r>
              <a:rPr lang="en-US" sz="2400" b="1" u="none" strike="noStrike" dirty="0">
                <a:effectLst/>
              </a:rPr>
              <a:t>Entity</a:t>
            </a:r>
            <a:r>
              <a:rPr lang="en-US" sz="2400" u="none" strike="noStrike" dirty="0">
                <a:effectLst/>
              </a:rPr>
              <a:t>”)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E8CA5C-3386-E68C-0436-43D8F05D3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63049"/>
            <a:ext cx="5825923" cy="335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14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B1B67-9C34-CA9D-51EC-BD4D1CF61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8E1E8-7033-5189-9C18-F362D4E71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17320"/>
            <a:ext cx="5446427" cy="5213350"/>
          </a:xfrm>
        </p:spPr>
        <p:txBody>
          <a:bodyPr/>
          <a:lstStyle/>
          <a:p>
            <a:r>
              <a:rPr lang="en-US" sz="2800" u="none" strike="noStrike" dirty="0">
                <a:effectLst/>
              </a:rPr>
              <a:t>A </a:t>
            </a:r>
            <a:r>
              <a:rPr lang="en-US" sz="2800" b="1" u="none" strike="noStrike" dirty="0">
                <a:effectLst/>
              </a:rPr>
              <a:t>Cost</a:t>
            </a:r>
            <a:r>
              <a:rPr lang="en-US" sz="2800" u="none" strike="noStrike" dirty="0">
                <a:effectLst/>
              </a:rPr>
              <a:t> entity specifies the outlay or expenditure made to achieve an objective associated with another entity</a:t>
            </a:r>
          </a:p>
          <a:p>
            <a:endParaRPr lang="en-US" sz="2800" u="none" strike="noStrike" dirty="0">
              <a:effectLst/>
            </a:endParaRPr>
          </a:p>
          <a:p>
            <a:r>
              <a:rPr lang="en-US" b="0" i="0" dirty="0">
                <a:solidFill>
                  <a:srgbClr val="000000"/>
                </a:solidFill>
                <a:latin typeface="Calibri" panose="020F0502020204030204" pitchFamily="34" charset="0"/>
              </a:rPr>
              <a:t>Types of cost include: earned value, actual, planned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6DFA07-5745-FEF4-C810-E4196142E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527" y="253755"/>
            <a:ext cx="3189165" cy="63002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05982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757A0-A117-ADE3-5822-99BC90530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213" y="357330"/>
            <a:ext cx="5157787" cy="823912"/>
          </a:xfrm>
        </p:spPr>
        <p:txBody>
          <a:bodyPr/>
          <a:lstStyle/>
          <a:p>
            <a:r>
              <a:rPr lang="en-US" dirty="0"/>
              <a:t>Decision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A3A1B-60D2-EB8F-74C3-55993BEB0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8213" y="1181242"/>
            <a:ext cx="5157787" cy="368458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Decision </a:t>
            </a:r>
            <a:r>
              <a:rPr lang="en-US" dirty="0"/>
              <a:t>entity specifies a challenge and its resolution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ADBACF-B3D5-50ED-992B-47FBC459D3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625" y="357330"/>
            <a:ext cx="5183188" cy="823912"/>
          </a:xfrm>
        </p:spPr>
        <p:txBody>
          <a:bodyPr/>
          <a:lstStyle/>
          <a:p>
            <a:r>
              <a:rPr lang="en-US" dirty="0"/>
              <a:t>Input/Output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9CEB00-1E76-10C4-A526-B88AA7B875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625" y="1181242"/>
            <a:ext cx="5183188" cy="3684588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Input/Output </a:t>
            </a:r>
            <a:r>
              <a:rPr lang="en-US" dirty="0"/>
              <a:t>entity specifies the information, data, or object input to, trigger, or output from an Action</a:t>
            </a:r>
          </a:p>
          <a:p>
            <a:r>
              <a:rPr lang="en-US" dirty="0">
                <a:solidFill>
                  <a:srgbClr val="000000"/>
                </a:solidFill>
                <a:latin typeface="Calibri"/>
              </a:rPr>
              <a:t>Can be logical or physical</a:t>
            </a:r>
          </a:p>
          <a:p>
            <a:r>
              <a:rPr lang="en-US" dirty="0">
                <a:solidFill>
                  <a:srgbClr val="000000"/>
                </a:solidFill>
                <a:latin typeface="Calibri"/>
              </a:rPr>
              <a:t>Types include items, data, energy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681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98B42-CB99-C7F7-C5DC-AEEE590CA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70D0F-870D-DB94-9BB3-133888EAB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4606978" cy="5213350"/>
          </a:xfrm>
        </p:spPr>
        <p:txBody>
          <a:bodyPr/>
          <a:lstStyle/>
          <a:p>
            <a:r>
              <a:rPr lang="en-US" sz="2800" u="none" strike="noStrike" dirty="0">
                <a:effectLst/>
              </a:rPr>
              <a:t>A </a:t>
            </a:r>
            <a:r>
              <a:rPr lang="en-US" sz="2800" b="1" u="none" strike="noStrike" dirty="0">
                <a:effectLst/>
              </a:rPr>
              <a:t>Location</a:t>
            </a:r>
            <a:r>
              <a:rPr lang="en-US" sz="2800" u="none" strike="noStrike" dirty="0">
                <a:effectLst/>
              </a:rPr>
              <a:t> entity specifies where an entity resides</a:t>
            </a:r>
          </a:p>
          <a:p>
            <a:pPr lvl="1"/>
            <a:r>
              <a:rPr lang="en-US" sz="2400" u="none" strike="noStrike" dirty="0">
                <a:effectLst/>
              </a:rPr>
              <a:t>An </a:t>
            </a:r>
            <a:r>
              <a:rPr lang="en-US" sz="2400" b="1" u="none" strike="noStrike" dirty="0">
                <a:effectLst/>
              </a:rPr>
              <a:t>Orbital </a:t>
            </a:r>
            <a:r>
              <a:rPr lang="en-US" sz="2400" u="none" strike="noStrike" dirty="0">
                <a:effectLst/>
              </a:rPr>
              <a:t>entity specifies a location along an orbit around a celestial body</a:t>
            </a:r>
          </a:p>
          <a:p>
            <a:pPr lvl="1"/>
            <a:endParaRPr lang="en-US" sz="2400" u="none" strike="noStrike" dirty="0">
              <a:effectLst/>
            </a:endParaRPr>
          </a:p>
          <a:p>
            <a:pPr lvl="1"/>
            <a:r>
              <a:rPr lang="en-US" sz="2400" u="none" strike="noStrike" dirty="0">
                <a:effectLst/>
              </a:rPr>
              <a:t>A </a:t>
            </a:r>
            <a:r>
              <a:rPr lang="en-US" sz="2400" b="1" u="none" strike="noStrike" dirty="0">
                <a:effectLst/>
              </a:rPr>
              <a:t>Physical</a:t>
            </a:r>
            <a:r>
              <a:rPr lang="en-US" sz="2400" u="none" strike="noStrike" dirty="0">
                <a:effectLst/>
              </a:rPr>
              <a:t> entity specifies a location on, above, or below the surface</a:t>
            </a:r>
          </a:p>
          <a:p>
            <a:pPr lvl="1"/>
            <a:endParaRPr lang="en-US" sz="2400" u="none" strike="noStrike" dirty="0">
              <a:effectLst/>
            </a:endParaRPr>
          </a:p>
          <a:p>
            <a:pPr lvl="1"/>
            <a:r>
              <a:rPr lang="en-US" sz="2400" u="none" strike="noStrike" dirty="0">
                <a:effectLst/>
              </a:rPr>
              <a:t>A </a:t>
            </a:r>
            <a:r>
              <a:rPr lang="en-US" sz="2400" b="1" u="none" strike="noStrike" dirty="0">
                <a:effectLst/>
              </a:rPr>
              <a:t>Virtual</a:t>
            </a:r>
            <a:r>
              <a:rPr lang="en-US" sz="2400" u="none" strike="noStrike" dirty="0">
                <a:effectLst/>
              </a:rPr>
              <a:t> entity specifies a location within a digital network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Calibri"/>
            </a:endParaRPr>
          </a:p>
          <a:p>
            <a:pPr lvl="1"/>
            <a:endParaRPr lang="en-US" b="0" i="0" u="none" strike="noStrike" dirty="0">
              <a:solidFill>
                <a:srgbClr val="000000"/>
              </a:solidFill>
              <a:effectLst/>
              <a:latin typeface="Calibri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EC3BB2-8B61-1ED7-F277-205C1F5AF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158" y="1143000"/>
            <a:ext cx="6488712" cy="458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73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61080-FB62-4797-B4B0-9727E47C8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71FBE-5D34-C296-1CF9-264730A38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5483903" cy="5213350"/>
          </a:xfrm>
        </p:spPr>
        <p:txBody>
          <a:bodyPr/>
          <a:lstStyle/>
          <a:p>
            <a:r>
              <a:rPr lang="en-US" sz="2800" u="none" strike="noStrike" dirty="0">
                <a:effectLst/>
              </a:rPr>
              <a:t>A </a:t>
            </a:r>
            <a:r>
              <a:rPr lang="en-US" sz="2800" b="1" u="none" strike="noStrike" dirty="0">
                <a:effectLst/>
              </a:rPr>
              <a:t>Risk</a:t>
            </a:r>
            <a:r>
              <a:rPr lang="en-US" sz="2800" u="none" strike="noStrike" dirty="0">
                <a:effectLst/>
              </a:rPr>
              <a:t> entity specifies the combined probability and consequence in achieving objectives</a:t>
            </a:r>
          </a:p>
          <a:p>
            <a:pPr lvl="1"/>
            <a:r>
              <a:rPr lang="en-US" b="1" i="0" dirty="0">
                <a:solidFill>
                  <a:srgbClr val="000000"/>
                </a:solidFill>
                <a:latin typeface="Calibri"/>
              </a:rPr>
              <a:t>Cost</a:t>
            </a:r>
          </a:p>
          <a:p>
            <a:pPr lvl="1"/>
            <a:endParaRPr lang="en-US" b="1" i="0" dirty="0">
              <a:solidFill>
                <a:srgbClr val="000000"/>
              </a:solidFill>
              <a:latin typeface="Calibri"/>
            </a:endParaRPr>
          </a:p>
          <a:p>
            <a:pPr lvl="1"/>
            <a:r>
              <a:rPr lang="en-US" b="1" u="none" strike="noStrike" dirty="0">
                <a:solidFill>
                  <a:srgbClr val="000000"/>
                </a:solidFill>
                <a:effectLst/>
                <a:latin typeface="Calibri"/>
              </a:rPr>
              <a:t>Technical</a:t>
            </a:r>
          </a:p>
          <a:p>
            <a:pPr lvl="1"/>
            <a:endParaRPr lang="en-US" b="1" u="none" strike="noStrike" dirty="0">
              <a:solidFill>
                <a:srgbClr val="000000"/>
              </a:solidFill>
              <a:effectLst/>
              <a:latin typeface="Calibri"/>
            </a:endParaRPr>
          </a:p>
          <a:p>
            <a:pPr lvl="1"/>
            <a:r>
              <a:rPr lang="en-US" b="1" i="0" dirty="0">
                <a:solidFill>
                  <a:srgbClr val="000000"/>
                </a:solidFill>
                <a:latin typeface="Calibri"/>
              </a:rPr>
              <a:t>Schedule </a:t>
            </a:r>
            <a:endParaRPr lang="en-US" b="1" i="0" u="none" strike="noStrike" dirty="0">
              <a:solidFill>
                <a:srgbClr val="000000"/>
              </a:solidFill>
              <a:effectLst/>
              <a:latin typeface="Calibri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821B6F-E343-AE1F-3339-3D0090C63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679" y="1559648"/>
            <a:ext cx="4898744" cy="4380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C06586-57FC-9126-1669-ACF006918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079" y="1712048"/>
            <a:ext cx="4898744" cy="438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48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66F83-9218-F081-76D2-681F4413E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8E01A-9406-5644-212A-F5FFF10DA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858" y="1497841"/>
            <a:ext cx="5881142" cy="5213350"/>
          </a:xfrm>
        </p:spPr>
        <p:txBody>
          <a:bodyPr>
            <a:normAutofit/>
          </a:bodyPr>
          <a:lstStyle/>
          <a:p>
            <a:r>
              <a:rPr lang="en-US" u="none" strike="noStrike" dirty="0">
                <a:effectLst/>
              </a:rPr>
              <a:t>A </a:t>
            </a:r>
            <a:r>
              <a:rPr lang="en-US" b="1" u="none" strike="noStrike" dirty="0">
                <a:effectLst/>
              </a:rPr>
              <a:t>Statement</a:t>
            </a:r>
            <a:r>
              <a:rPr lang="en-US" u="none" strike="noStrike" dirty="0">
                <a:effectLst/>
              </a:rPr>
              <a:t> entity specifies text referenced by the knowledge base and usually contained in an </a:t>
            </a:r>
            <a:r>
              <a:rPr lang="en-US" b="1" u="none" strike="noStrike" dirty="0">
                <a:effectLst/>
              </a:rPr>
              <a:t>Artifact</a:t>
            </a:r>
          </a:p>
          <a:p>
            <a:pPr lvl="1"/>
            <a:endParaRPr lang="en-US" sz="2800" b="0" i="0" u="none" strike="noStrike" dirty="0">
              <a:solidFill>
                <a:srgbClr val="000000"/>
              </a:solidFill>
              <a:effectLst/>
              <a:latin typeface="Calibri"/>
            </a:endParaRPr>
          </a:p>
          <a:p>
            <a:endParaRPr lang="en-US" b="0" i="0" u="none" strike="noStrike" dirty="0">
              <a:solidFill>
                <a:srgbClr val="000000"/>
              </a:solidFill>
              <a:effectLst/>
              <a:latin typeface="Calibri"/>
            </a:endParaRPr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8C1F206-CFA8-F71A-AAF1-D7EADF2474F7}"/>
              </a:ext>
            </a:extLst>
          </p:cNvPr>
          <p:cNvSpPr txBox="1">
            <a:spLocks/>
          </p:cNvSpPr>
          <p:nvPr/>
        </p:nvSpPr>
        <p:spPr>
          <a:xfrm>
            <a:off x="5982361" y="365125"/>
            <a:ext cx="5881142" cy="6346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800" dirty="0"/>
              <a:t>A </a:t>
            </a:r>
            <a:r>
              <a:rPr lang="en-US" sz="2800" b="1" dirty="0"/>
              <a:t>Requirement</a:t>
            </a:r>
            <a:r>
              <a:rPr lang="en-US" sz="2800" dirty="0"/>
              <a:t> entity identifies a capability, characteristic, or quality factor of a system that must exist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A </a:t>
            </a:r>
            <a:r>
              <a:rPr lang="en-US" sz="2800" b="1" dirty="0"/>
              <a:t>Verification Requirement </a:t>
            </a:r>
            <a:r>
              <a:rPr lang="en-US" sz="2800" dirty="0"/>
              <a:t>entity specifies what is required to confirm that a requirement is </a:t>
            </a:r>
            <a:r>
              <a:rPr lang="en-US" sz="2800" b="1" dirty="0"/>
              <a:t>satisfied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>
                <a:solidFill>
                  <a:srgbClr val="000000"/>
                </a:solidFill>
                <a:latin typeface="Calibri"/>
              </a:rPr>
              <a:t>Other types of of requirements include: functional, performance, safety</a:t>
            </a:r>
          </a:p>
          <a:p>
            <a:pPr lvl="1"/>
            <a:endParaRPr lang="en-US" dirty="0">
              <a:solidFill>
                <a:srgbClr val="000000"/>
              </a:solidFill>
              <a:latin typeface="Calibri"/>
            </a:endParaRPr>
          </a:p>
          <a:p>
            <a:endParaRPr lang="en-US" dirty="0">
              <a:solidFill>
                <a:srgbClr val="000000"/>
              </a:solidFill>
              <a:latin typeface="Calibri"/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6E7C56-193A-C31E-34EB-0CABED634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49" y="3651274"/>
            <a:ext cx="5444321" cy="227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0922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F667E-FFF6-B54E-06E5-42338D21D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188CE-86FF-0637-8D15-5105E32F6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79176"/>
            <a:ext cx="3827930" cy="5213350"/>
          </a:xfrm>
        </p:spPr>
        <p:txBody>
          <a:bodyPr/>
          <a:lstStyle/>
          <a:p>
            <a:r>
              <a:rPr lang="en-US" sz="2800" u="none" strike="noStrike" dirty="0">
                <a:effectLst/>
              </a:rPr>
              <a:t>A </a:t>
            </a:r>
            <a:r>
              <a:rPr lang="en-US" sz="2800" b="1" u="none" strike="noStrike" dirty="0">
                <a:effectLst/>
              </a:rPr>
              <a:t>Time </a:t>
            </a:r>
            <a:r>
              <a:rPr lang="en-US" sz="2800" u="none" strike="noStrike" dirty="0">
                <a:effectLst/>
              </a:rPr>
              <a:t>entity specifies a point or period when something occurs or during which an action, asset, process, or condition exists or continues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Calibri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4CAA72-26C8-67A3-4B3E-59E3FF99D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026" y="1384860"/>
            <a:ext cx="7796606" cy="408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2322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17787-2835-9427-0BC6-C44C44EFA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Predicate Triples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43ABA-CE52-8078-A9C0-9B9D4DDF6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639" y="1420665"/>
            <a:ext cx="4905738" cy="290813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LML relationships are based on a subject-predicate-object (SPO) approach</a:t>
            </a:r>
          </a:p>
          <a:p>
            <a:r>
              <a:rPr lang="en-US" dirty="0"/>
              <a:t>Each predicate has an inverse</a:t>
            </a:r>
          </a:p>
          <a:p>
            <a:r>
              <a:rPr lang="en-US" dirty="0"/>
              <a:t>Limits ambiguity for interpretation</a:t>
            </a:r>
          </a:p>
          <a:p>
            <a:r>
              <a:rPr lang="en-US" dirty="0"/>
              <a:t>Can account for multiplicity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C76214-9452-3457-0D37-634EF208FAEB}"/>
              </a:ext>
            </a:extLst>
          </p:cNvPr>
          <p:cNvSpPr txBox="1"/>
          <p:nvPr/>
        </p:nvSpPr>
        <p:spPr>
          <a:xfrm>
            <a:off x="349956" y="4436534"/>
            <a:ext cx="43913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Example:</a:t>
            </a:r>
          </a:p>
          <a:p>
            <a:r>
              <a:rPr lang="en-US" sz="2800"/>
              <a:t>Risk is caused by an action</a:t>
            </a:r>
          </a:p>
          <a:p>
            <a:r>
              <a:rPr lang="en-US" sz="2800"/>
              <a:t>An action causes a risk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9CD9BD-41B9-A200-C4C6-2F1C78C026E4}"/>
              </a:ext>
            </a:extLst>
          </p:cNvPr>
          <p:cNvGraphicFramePr>
            <a:graphicFrameLocks noGrp="1"/>
          </p:cNvGraphicFramePr>
          <p:nvPr/>
        </p:nvGraphicFramePr>
        <p:xfrm>
          <a:off x="6050198" y="4709009"/>
          <a:ext cx="496710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5287">
                  <a:extLst>
                    <a:ext uri="{9D8B030D-6E8A-4147-A177-3AD203B41FA5}">
                      <a16:colId xmlns:a16="http://schemas.microsoft.com/office/drawing/2014/main" val="3213546571"/>
                    </a:ext>
                  </a:extLst>
                </a:gridCol>
                <a:gridCol w="1890891">
                  <a:extLst>
                    <a:ext uri="{9D8B030D-6E8A-4147-A177-3AD203B41FA5}">
                      <a16:colId xmlns:a16="http://schemas.microsoft.com/office/drawing/2014/main" val="953369785"/>
                    </a:ext>
                  </a:extLst>
                </a:gridCol>
                <a:gridCol w="1540931">
                  <a:extLst>
                    <a:ext uri="{9D8B030D-6E8A-4147-A177-3AD203B41FA5}">
                      <a16:colId xmlns:a16="http://schemas.microsoft.com/office/drawing/2014/main" val="146890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Predicate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399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caused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736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27092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80DDCD2-051E-CCCF-2FA0-B3547E820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302" y="645804"/>
            <a:ext cx="3644900" cy="368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99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D8F1A-A9DF-0569-26C5-F6252A923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0"/>
            <a:ext cx="10134599" cy="952500"/>
          </a:xfrm>
        </p:spPr>
        <p:txBody>
          <a:bodyPr anchor="ctr">
            <a:normAutofit/>
          </a:bodyPr>
          <a:lstStyle/>
          <a:p>
            <a:r>
              <a:rPr lang="en-US"/>
              <a:t>LML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0CAF4-1C7A-DDDF-39BE-B7BF188B1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1143000"/>
            <a:ext cx="5867400" cy="5219700"/>
          </a:xfrm>
        </p:spPr>
        <p:txBody>
          <a:bodyPr>
            <a:normAutofit/>
          </a:bodyPr>
          <a:lstStyle/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A language that effectively communicates will reduce the cost of design</a:t>
            </a: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0" i="0" dirty="0">
              <a:effectLst/>
            </a:endParaRP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A simple ontology with common graphical notations facilitates understanding of design</a:t>
            </a: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0" i="0" dirty="0">
              <a:effectLst/>
            </a:endParaRP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LML </a:t>
            </a:r>
            <a:r>
              <a:rPr lang="en-US" dirty="0"/>
              <a:t>e</a:t>
            </a:r>
            <a:r>
              <a:rPr lang="en-US" b="0" i="0" u="none" strike="noStrike" dirty="0">
                <a:effectLst/>
              </a:rPr>
              <a:t>nables rapid product development to match pace with modern technology</a:t>
            </a:r>
            <a:endParaRPr lang="en-US" b="0" i="0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1CEA6-B362-EB00-6F32-DF5EC4656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169" y="1492250"/>
            <a:ext cx="5181600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38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31C06-E578-57DF-AB0E-A1A7C09BD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LML Diagram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FD871-E73B-A97B-C180-F65D7E5E2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9394" cy="4351338"/>
          </a:xfrm>
        </p:spPr>
        <p:txBody>
          <a:bodyPr/>
          <a:lstStyle/>
          <a:p>
            <a:r>
              <a:rPr lang="en-US" dirty="0"/>
              <a:t>Action </a:t>
            </a:r>
          </a:p>
          <a:p>
            <a:r>
              <a:rPr lang="en-US" dirty="0"/>
              <a:t>Spider</a:t>
            </a:r>
          </a:p>
          <a:p>
            <a:r>
              <a:rPr lang="en-US" dirty="0"/>
              <a:t>Asset</a:t>
            </a:r>
          </a:p>
          <a:p>
            <a:r>
              <a:rPr lang="en-US" dirty="0"/>
              <a:t>Interface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22690C-9748-6898-1F50-BE0C6C074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532" y="1516766"/>
            <a:ext cx="59309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3064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0812B-DAAD-89FC-6157-390870FF0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FFBF3-275C-9FB1-665A-45CF4FA7EA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</a:t>
            </a:r>
            <a:r>
              <a:rPr lang="en-US" dirty="0" err="1"/>
              <a:t>Innoslate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734F5B-056B-7A94-6A70-399A7F8F91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8650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B5C28-5E95-C238-39DB-620916C0A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Innoslate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7B3EA-7421-6B68-25B7-0EDBC5CED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 Innovations flagship tool that enables:</a:t>
            </a:r>
          </a:p>
          <a:p>
            <a:pPr lvl="1"/>
            <a:r>
              <a:rPr lang="en-US" dirty="0"/>
              <a:t>Requirements management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Systems engineering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Risk management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Project management</a:t>
            </a:r>
          </a:p>
        </p:txBody>
      </p:sp>
    </p:spTree>
    <p:extLst>
      <p:ext uri="{BB962C8B-B14F-4D97-AF65-F5344CB8AC3E}">
        <p14:creationId xmlns:p14="http://schemas.microsoft.com/office/powerpoint/2010/main" val="6655348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4B19EBF-4692-103D-4E14-684B46336625}"/>
              </a:ext>
            </a:extLst>
          </p:cNvPr>
          <p:cNvGrpSpPr/>
          <p:nvPr/>
        </p:nvGrpSpPr>
        <p:grpSpPr>
          <a:xfrm>
            <a:off x="1067160" y="1403853"/>
            <a:ext cx="10057679" cy="4387347"/>
            <a:chOff x="1067160" y="1403853"/>
            <a:chExt cx="10057679" cy="438734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AD16DEB-2134-C1E2-D49B-C7D806887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7160" y="1403853"/>
              <a:ext cx="10057679" cy="438734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43871A0F-F20F-2CD0-CACF-FF437E72C806}"/>
                </a:ext>
              </a:extLst>
            </p:cNvPr>
            <p:cNvSpPr/>
            <p:nvPr/>
          </p:nvSpPr>
          <p:spPr>
            <a:xfrm>
              <a:off x="8953995" y="1508166"/>
              <a:ext cx="2066306" cy="605642"/>
            </a:xfrm>
            <a:prstGeom prst="round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F469EB92-C502-1C45-A0B1-44054DDD8A75}"/>
                </a:ext>
              </a:extLst>
            </p:cNvPr>
            <p:cNvSpPr/>
            <p:nvPr/>
          </p:nvSpPr>
          <p:spPr>
            <a:xfrm>
              <a:off x="1365955" y="4841320"/>
              <a:ext cx="1501423" cy="808769"/>
            </a:xfrm>
            <a:prstGeom prst="round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1915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F410A-AA6C-0AFA-59E3-E1C391CAD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915DED-6F29-26C5-9873-33D330CFD3E0}"/>
              </a:ext>
            </a:extLst>
          </p:cNvPr>
          <p:cNvSpPr txBox="1"/>
          <p:nvPr/>
        </p:nvSpPr>
        <p:spPr>
          <a:xfrm>
            <a:off x="152401" y="1360271"/>
            <a:ext cx="38664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Add new </a:t>
            </a:r>
            <a:r>
              <a:rPr lang="en-US" sz="2800" b="1" dirty="0"/>
              <a:t>widgets</a:t>
            </a:r>
            <a:r>
              <a:rPr lang="en-US" sz="2800" dirty="0"/>
              <a:t> to personalize your dashboard 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Will only be for your project 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Recommend having the </a:t>
            </a:r>
            <a:r>
              <a:rPr lang="en-US" sz="2800" b="1" dirty="0"/>
              <a:t>Activity Feed </a:t>
            </a:r>
            <a:r>
              <a:rPr lang="en-US" sz="2800" dirty="0"/>
              <a:t>widget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0304310-8772-0DCE-CCD9-163067613498}"/>
              </a:ext>
            </a:extLst>
          </p:cNvPr>
          <p:cNvGrpSpPr/>
          <p:nvPr/>
        </p:nvGrpSpPr>
        <p:grpSpPr>
          <a:xfrm>
            <a:off x="4185355" y="1264355"/>
            <a:ext cx="7772400" cy="4792535"/>
            <a:chOff x="4185355" y="1264355"/>
            <a:chExt cx="7772400" cy="479253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F70146D-EBE8-A34B-A01C-9FB402429B41}"/>
                </a:ext>
              </a:extLst>
            </p:cNvPr>
            <p:cNvGrpSpPr/>
            <p:nvPr/>
          </p:nvGrpSpPr>
          <p:grpSpPr>
            <a:xfrm>
              <a:off x="4185355" y="1264355"/>
              <a:ext cx="7772400" cy="4696619"/>
              <a:chOff x="2209800" y="1298222"/>
              <a:chExt cx="7772400" cy="4696619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C8B6B9E6-4A9F-81CD-9527-5391A66552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209800" y="1394138"/>
                <a:ext cx="7772400" cy="4600703"/>
              </a:xfrm>
              <a:prstGeom prst="rect">
                <a:avLst/>
              </a:prstGeom>
              <a:ln>
                <a:solidFill>
                  <a:schemeClr val="accent4"/>
                </a:solidFill>
              </a:ln>
            </p:spPr>
          </p:pic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36D91719-3B09-3063-7C66-21E3C0EE960B}"/>
                  </a:ext>
                </a:extLst>
              </p:cNvPr>
              <p:cNvSpPr/>
              <p:nvPr/>
            </p:nvSpPr>
            <p:spPr>
              <a:xfrm>
                <a:off x="3115733" y="1298222"/>
                <a:ext cx="925689" cy="603995"/>
              </a:xfrm>
              <a:prstGeom prst="roundRect">
                <a:avLst/>
              </a:prstGeom>
              <a:noFill/>
              <a:ln w="762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4"/>
                  </a:solidFill>
                </a:endParaRPr>
              </a:p>
            </p:txBody>
          </p:sp>
        </p:grp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F39C1327-BF08-5F9B-61C5-1459D9B09857}"/>
                </a:ext>
              </a:extLst>
            </p:cNvPr>
            <p:cNvSpPr/>
            <p:nvPr/>
          </p:nvSpPr>
          <p:spPr>
            <a:xfrm>
              <a:off x="9172221" y="3129986"/>
              <a:ext cx="2556935" cy="2926904"/>
            </a:xfrm>
            <a:prstGeom prst="round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4B157BE2-41C8-D8F1-898C-F855DE5CF3FC}"/>
                </a:ext>
              </a:extLst>
            </p:cNvPr>
            <p:cNvSpPr/>
            <p:nvPr/>
          </p:nvSpPr>
          <p:spPr>
            <a:xfrm>
              <a:off x="11288889" y="2525991"/>
              <a:ext cx="530578" cy="397831"/>
            </a:xfrm>
            <a:prstGeom prst="round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33273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31374-3DC3-1F56-F2AF-01481D129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Widgets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591064-BEC2-42C0-EC90-C8928CC59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55245"/>
            <a:ext cx="5408789" cy="449329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D8EDA6-D6E5-4EF1-9264-85E5C08B1899}"/>
              </a:ext>
            </a:extLst>
          </p:cNvPr>
          <p:cNvSpPr txBox="1"/>
          <p:nvPr/>
        </p:nvSpPr>
        <p:spPr>
          <a:xfrm>
            <a:off x="152401" y="1286933"/>
            <a:ext cx="551462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Many options to personalize the </a:t>
            </a:r>
            <a:r>
              <a:rPr lang="en-US" sz="3200" b="1" dirty="0"/>
              <a:t>dashboard 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Does not affect teammates’ dashboard views</a:t>
            </a:r>
          </a:p>
        </p:txBody>
      </p:sp>
    </p:spTree>
    <p:extLst>
      <p:ext uri="{BB962C8B-B14F-4D97-AF65-F5344CB8AC3E}">
        <p14:creationId xmlns:p14="http://schemas.microsoft.com/office/powerpoint/2010/main" val="13813588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B5F5C-AD18-7690-C2C4-C4B7D04BD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View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975FA19-ADEA-53FB-E4A1-DFE4B6B0E6D1}"/>
              </a:ext>
            </a:extLst>
          </p:cNvPr>
          <p:cNvGrpSpPr/>
          <p:nvPr/>
        </p:nvGrpSpPr>
        <p:grpSpPr>
          <a:xfrm>
            <a:off x="4267199" y="1099216"/>
            <a:ext cx="7772400" cy="5288921"/>
            <a:chOff x="2074333" y="1140099"/>
            <a:chExt cx="7772400" cy="528892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5EEABEF-1A29-78D6-BEEF-274CA29D7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74333" y="1140099"/>
              <a:ext cx="7772400" cy="518740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05F7B484-1886-D9DC-E94D-B8A7B164BC78}"/>
                </a:ext>
              </a:extLst>
            </p:cNvPr>
            <p:cNvSpPr/>
            <p:nvPr/>
          </p:nvSpPr>
          <p:spPr>
            <a:xfrm>
              <a:off x="2074333" y="2819399"/>
              <a:ext cx="2599267" cy="3609621"/>
            </a:xfrm>
            <a:prstGeom prst="round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133A477-18C1-5EFB-180A-6A20DEB27708}"/>
              </a:ext>
            </a:extLst>
          </p:cNvPr>
          <p:cNvSpPr/>
          <p:nvPr/>
        </p:nvSpPr>
        <p:spPr>
          <a:xfrm>
            <a:off x="6096000" y="1099216"/>
            <a:ext cx="880533" cy="492078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CAEA12-B1CA-062F-F7A5-F0BBB0E24BE5}"/>
              </a:ext>
            </a:extLst>
          </p:cNvPr>
          <p:cNvSpPr txBox="1"/>
          <p:nvPr/>
        </p:nvSpPr>
        <p:spPr>
          <a:xfrm>
            <a:off x="152401" y="1173966"/>
            <a:ext cx="376484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Represents the actual data repository of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Provides an easy way to view entities based on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Queries</a:t>
            </a:r>
            <a:r>
              <a:rPr lang="en-US" sz="3200" dirty="0"/>
              <a:t> can be constructed to use as filters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318331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C5C78-58C8-AFAA-35F9-40A8EEDD2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Database 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FDFBA1-DD26-CF08-F31E-50C79B638051}"/>
              </a:ext>
            </a:extLst>
          </p:cNvPr>
          <p:cNvSpPr txBox="1"/>
          <p:nvPr/>
        </p:nvSpPr>
        <p:spPr>
          <a:xfrm>
            <a:off x="339156" y="1254868"/>
            <a:ext cx="11736135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Select the magnifying glass with a + sign to open the </a:t>
            </a:r>
            <a:r>
              <a:rPr lang="en-US" sz="3200" b="1" dirty="0"/>
              <a:t>Advanced Search Editor</a:t>
            </a:r>
            <a:endParaRPr lang="en-US" sz="3200" b="1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Gives </a:t>
            </a:r>
            <a:r>
              <a:rPr lang="en-US" sz="3200" i="1" dirty="0"/>
              <a:t>Query</a:t>
            </a:r>
            <a:r>
              <a:rPr lang="en-US" sz="3200" dirty="0"/>
              <a:t>, </a:t>
            </a:r>
            <a:r>
              <a:rPr lang="en-US" sz="3200" i="1" dirty="0"/>
              <a:t>Ordering</a:t>
            </a:r>
            <a:r>
              <a:rPr lang="en-US" sz="3200" dirty="0"/>
              <a:t>, and </a:t>
            </a:r>
            <a:r>
              <a:rPr lang="en-US" sz="3200" i="1" dirty="0"/>
              <a:t>Filter</a:t>
            </a:r>
            <a:r>
              <a:rPr lang="en-US" sz="3200" dirty="0"/>
              <a:t> options</a:t>
            </a:r>
            <a:endParaRPr lang="en-US" sz="3200" dirty="0">
              <a:ea typeface="Calibri"/>
              <a:cs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7371C82-8BC2-8C4C-F7A8-3044E8411E7C}"/>
              </a:ext>
            </a:extLst>
          </p:cNvPr>
          <p:cNvGrpSpPr/>
          <p:nvPr/>
        </p:nvGrpSpPr>
        <p:grpSpPr>
          <a:xfrm>
            <a:off x="800047" y="2928705"/>
            <a:ext cx="10591905" cy="3285888"/>
            <a:chOff x="339156" y="2304349"/>
            <a:chExt cx="11768537" cy="368545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4F2C7BA-F1F4-AA77-945F-A991316AE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9156" y="3731242"/>
              <a:ext cx="3872921" cy="698489"/>
            </a:xfrm>
            <a:prstGeom prst="rect">
              <a:avLst/>
            </a:prstGeom>
            <a:ln>
              <a:solidFill>
                <a:schemeClr val="accent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F247755-F015-71D5-AB47-17CA495F53F6}"/>
                </a:ext>
              </a:extLst>
            </p:cNvPr>
            <p:cNvGrpSpPr/>
            <p:nvPr/>
          </p:nvGrpSpPr>
          <p:grpSpPr>
            <a:xfrm>
              <a:off x="1892994" y="2320493"/>
              <a:ext cx="10214699" cy="3669307"/>
              <a:chOff x="1892994" y="2320493"/>
              <a:chExt cx="10214699" cy="3669307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1827CB35-373E-6841-A8D2-3DA1A55B79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47489" y="2320493"/>
                <a:ext cx="6660204" cy="3669307"/>
              </a:xfrm>
              <a:prstGeom prst="rect">
                <a:avLst/>
              </a:prstGeom>
              <a:ln>
                <a:solidFill>
                  <a:schemeClr val="accent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6" name="Rounded Rectangle 4">
                <a:extLst>
                  <a:ext uri="{FF2B5EF4-FFF2-40B4-BE49-F238E27FC236}">
                    <a16:creationId xmlns:a16="http://schemas.microsoft.com/office/drawing/2014/main" id="{289DA4CF-5939-D79F-BF93-0B718F6DF74E}"/>
                  </a:ext>
                </a:extLst>
              </p:cNvPr>
              <p:cNvSpPr/>
              <p:nvPr/>
            </p:nvSpPr>
            <p:spPr>
              <a:xfrm>
                <a:off x="1892994" y="3968461"/>
                <a:ext cx="382622" cy="373372"/>
              </a:xfrm>
              <a:prstGeom prst="roundRect">
                <a:avLst/>
              </a:prstGeom>
              <a:noFill/>
              <a:ln w="762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4"/>
                  </a:solidFill>
                </a:endParaRPr>
              </a:p>
            </p:txBody>
          </p:sp>
          <p:sp>
            <p:nvSpPr>
              <p:cNvPr id="7" name="Arrow: Right 6">
                <a:extLst>
                  <a:ext uri="{FF2B5EF4-FFF2-40B4-BE49-F238E27FC236}">
                    <a16:creationId xmlns:a16="http://schemas.microsoft.com/office/drawing/2014/main" id="{C52C69CD-0DA5-E2CC-D9C9-22A8F1D430EE}"/>
                  </a:ext>
                </a:extLst>
              </p:cNvPr>
              <p:cNvSpPr/>
              <p:nvPr/>
            </p:nvSpPr>
            <p:spPr>
              <a:xfrm>
                <a:off x="4377446" y="3838170"/>
                <a:ext cx="978408" cy="484632"/>
              </a:xfrm>
              <a:prstGeom prst="rightArrow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ounded Rectangle 4">
              <a:extLst>
                <a:ext uri="{FF2B5EF4-FFF2-40B4-BE49-F238E27FC236}">
                  <a16:creationId xmlns:a16="http://schemas.microsoft.com/office/drawing/2014/main" id="{AF252760-3FB6-ABB9-B233-AA8C8622AB57}"/>
                </a:ext>
              </a:extLst>
            </p:cNvPr>
            <p:cNvSpPr/>
            <p:nvPr/>
          </p:nvSpPr>
          <p:spPr>
            <a:xfrm>
              <a:off x="5364924" y="2304349"/>
              <a:ext cx="1424981" cy="292936"/>
            </a:xfrm>
            <a:prstGeom prst="round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  <p:sp>
          <p:nvSpPr>
            <p:cNvPr id="11" name="Rounded Rectangle 4">
              <a:extLst>
                <a:ext uri="{FF2B5EF4-FFF2-40B4-BE49-F238E27FC236}">
                  <a16:creationId xmlns:a16="http://schemas.microsoft.com/office/drawing/2014/main" id="{419298A3-F453-EA4B-C4F5-363E0934F77E}"/>
                </a:ext>
              </a:extLst>
            </p:cNvPr>
            <p:cNvSpPr/>
            <p:nvPr/>
          </p:nvSpPr>
          <p:spPr>
            <a:xfrm>
              <a:off x="5547320" y="2707499"/>
              <a:ext cx="649200" cy="292936"/>
            </a:xfrm>
            <a:prstGeom prst="round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  <p:sp>
          <p:nvSpPr>
            <p:cNvPr id="12" name="Rounded Rectangle 4">
              <a:extLst>
                <a:ext uri="{FF2B5EF4-FFF2-40B4-BE49-F238E27FC236}">
                  <a16:creationId xmlns:a16="http://schemas.microsoft.com/office/drawing/2014/main" id="{25D6F470-0BBF-1A5E-27F9-0DF1CD8FC448}"/>
                </a:ext>
              </a:extLst>
            </p:cNvPr>
            <p:cNvSpPr/>
            <p:nvPr/>
          </p:nvSpPr>
          <p:spPr>
            <a:xfrm>
              <a:off x="8832716" y="2698845"/>
              <a:ext cx="649200" cy="292936"/>
            </a:xfrm>
            <a:prstGeom prst="round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  <p:sp>
          <p:nvSpPr>
            <p:cNvPr id="13" name="Rounded Rectangle 4">
              <a:extLst>
                <a:ext uri="{FF2B5EF4-FFF2-40B4-BE49-F238E27FC236}">
                  <a16:creationId xmlns:a16="http://schemas.microsoft.com/office/drawing/2014/main" id="{4E4F89F8-CC15-8837-DD24-E8A24F5EB5A8}"/>
                </a:ext>
              </a:extLst>
            </p:cNvPr>
            <p:cNvSpPr/>
            <p:nvPr/>
          </p:nvSpPr>
          <p:spPr>
            <a:xfrm>
              <a:off x="5547320" y="4429731"/>
              <a:ext cx="736748" cy="292936"/>
            </a:xfrm>
            <a:prstGeom prst="round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63677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A4B6-4F56-22A6-B99F-D20F4148E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F5A1A8-FD9F-AE78-5A1C-B4525A443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699" y="1246011"/>
            <a:ext cx="3771900" cy="4953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DCC34D-5C5B-1E0D-D777-227C2C006B97}"/>
              </a:ext>
            </a:extLst>
          </p:cNvPr>
          <p:cNvSpPr txBox="1"/>
          <p:nvPr/>
        </p:nvSpPr>
        <p:spPr>
          <a:xfrm>
            <a:off x="406399" y="1287669"/>
            <a:ext cx="75183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ea typeface="Calibri" panose="020F0502020204030204"/>
                <a:cs typeface="Calibri" panose="020F0502020204030204"/>
              </a:rPr>
              <a:t>Select an entity to modify from the Database View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Calibri" panose="020F0502020204030204"/>
                <a:cs typeface="Calibri" panose="020F0502020204030204"/>
              </a:rPr>
              <a:t>Options depend on class type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Calibri" panose="020F0502020204030204"/>
                <a:cs typeface="Calibri" panose="020F0502020204030204"/>
              </a:rPr>
              <a:t>Select Open </a:t>
            </a:r>
            <a:r>
              <a:rPr lang="en-US" sz="2400" dirty="0">
                <a:ea typeface="Calibri" panose="020F0502020204030204"/>
                <a:cs typeface="Calibri" panose="020F0502020204030204"/>
                <a:sym typeface="Wingdings" panose="05000000000000000000" pitchFamily="2" charset="2"/>
              </a:rPr>
              <a:t> Entity View 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FC6A0D-962E-25A5-DBEA-9FC2F8E32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35" y="3111376"/>
            <a:ext cx="6288463" cy="24153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4D8530F-4ADE-FED1-2336-ABFFD0F49F4A}"/>
              </a:ext>
            </a:extLst>
          </p:cNvPr>
          <p:cNvSpPr/>
          <p:nvPr/>
        </p:nvSpPr>
        <p:spPr>
          <a:xfrm>
            <a:off x="406399" y="3842381"/>
            <a:ext cx="3026746" cy="476645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D825689E-AFE6-8F9E-2F7D-F971ED0ED213}"/>
              </a:ext>
            </a:extLst>
          </p:cNvPr>
          <p:cNvSpPr/>
          <p:nvPr/>
        </p:nvSpPr>
        <p:spPr>
          <a:xfrm>
            <a:off x="406399" y="3245866"/>
            <a:ext cx="1772597" cy="476645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8FE617A-2CCC-9119-8FD0-F819265CE77D}"/>
              </a:ext>
            </a:extLst>
          </p:cNvPr>
          <p:cNvSpPr/>
          <p:nvPr/>
        </p:nvSpPr>
        <p:spPr>
          <a:xfrm>
            <a:off x="7042826" y="3540868"/>
            <a:ext cx="963038" cy="48463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9814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9C267-DF99-57E1-855C-C5A553041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Relationships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8BB353-8809-CF74-F5A2-2AF09349C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1" y="1107588"/>
            <a:ext cx="2459850" cy="525165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CAC5CA-1B40-C6D1-6CB9-F843A8CE2521}"/>
              </a:ext>
            </a:extLst>
          </p:cNvPr>
          <p:cNvSpPr txBox="1"/>
          <p:nvPr/>
        </p:nvSpPr>
        <p:spPr>
          <a:xfrm>
            <a:off x="368299" y="1295399"/>
            <a:ext cx="7708899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200" dirty="0">
                <a:ea typeface="Calibri" panose="020F0502020204030204"/>
                <a:cs typeface="Calibri" panose="020F0502020204030204"/>
              </a:rPr>
              <a:t>Can </a:t>
            </a:r>
            <a:r>
              <a:rPr lang="en-US" sz="3200" b="1" dirty="0">
                <a:ea typeface="Calibri" panose="020F0502020204030204"/>
                <a:cs typeface="Calibri" panose="020F0502020204030204"/>
              </a:rPr>
              <a:t>add/delete </a:t>
            </a:r>
            <a:r>
              <a:rPr lang="en-US" sz="3200" dirty="0">
                <a:ea typeface="Calibri" panose="020F0502020204030204"/>
                <a:cs typeface="Calibri" panose="020F0502020204030204"/>
              </a:rPr>
              <a:t>LML allowable relationships within the database view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ea typeface="Calibri" panose="020F0502020204030204"/>
                <a:cs typeface="Calibri" panose="020F0502020204030204"/>
              </a:rPr>
              <a:t>Three views within this tab</a:t>
            </a:r>
          </a:p>
          <a:p>
            <a:pPr marL="742950" lvl="1" indent="-285750">
              <a:buFont typeface="Arial"/>
              <a:buChar char="•"/>
            </a:pPr>
            <a:r>
              <a:rPr lang="en-US" sz="3200" b="1" dirty="0">
                <a:ea typeface="Calibri" panose="020F0502020204030204"/>
                <a:cs typeface="Calibri" panose="020F0502020204030204"/>
              </a:rPr>
              <a:t>Pinned</a:t>
            </a:r>
            <a:r>
              <a:rPr lang="en-US" sz="3200" dirty="0">
                <a:ea typeface="Calibri" panose="020F0502020204030204"/>
                <a:cs typeface="Calibri" panose="020F0502020204030204"/>
              </a:rPr>
              <a:t> – shows relationships for each class set by the user</a:t>
            </a:r>
          </a:p>
          <a:p>
            <a:pPr marL="742950" lvl="1" indent="-285750">
              <a:buFont typeface="Arial"/>
              <a:buChar char="•"/>
            </a:pPr>
            <a:r>
              <a:rPr lang="en-US" sz="3200" b="1" dirty="0">
                <a:ea typeface="Calibri" panose="020F0502020204030204"/>
                <a:cs typeface="Calibri" panose="020F0502020204030204"/>
              </a:rPr>
              <a:t>Active</a:t>
            </a:r>
            <a:r>
              <a:rPr lang="en-US" sz="3200" dirty="0">
                <a:ea typeface="Calibri" panose="020F0502020204030204"/>
                <a:cs typeface="Calibri" panose="020F0502020204030204"/>
              </a:rPr>
              <a:t> - relationships which currently exist for this model entity</a:t>
            </a:r>
          </a:p>
          <a:p>
            <a:pPr marL="742950" lvl="1" indent="-285750">
              <a:buFont typeface="Arial"/>
              <a:buChar char="•"/>
            </a:pPr>
            <a:r>
              <a:rPr lang="en-US" sz="3200" b="1" dirty="0">
                <a:ea typeface="Calibri" panose="020F0502020204030204"/>
                <a:cs typeface="Calibri" panose="020F0502020204030204"/>
              </a:rPr>
              <a:t>All </a:t>
            </a:r>
            <a:r>
              <a:rPr lang="en-US" sz="3200" dirty="0">
                <a:ea typeface="Calibri" panose="020F0502020204030204"/>
                <a:cs typeface="Calibri" panose="020F0502020204030204"/>
              </a:rPr>
              <a:t>– every relationship possible for this class.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B97BC3-ABEF-5D4B-BAFD-598AE052D8E7}"/>
              </a:ext>
            </a:extLst>
          </p:cNvPr>
          <p:cNvSpPr/>
          <p:nvPr/>
        </p:nvSpPr>
        <p:spPr>
          <a:xfrm>
            <a:off x="8521429" y="1517515"/>
            <a:ext cx="2811293" cy="476655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E91360-DE5F-159A-634F-EB514B4C9899}"/>
              </a:ext>
            </a:extLst>
          </p:cNvPr>
          <p:cNvSpPr/>
          <p:nvPr/>
        </p:nvSpPr>
        <p:spPr>
          <a:xfrm>
            <a:off x="10379412" y="2896708"/>
            <a:ext cx="818039" cy="476655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C4CC97-6F94-C35D-B442-013528395BBC}"/>
              </a:ext>
            </a:extLst>
          </p:cNvPr>
          <p:cNvSpPr/>
          <p:nvPr/>
        </p:nvSpPr>
        <p:spPr>
          <a:xfrm>
            <a:off x="10379412" y="4170855"/>
            <a:ext cx="818039" cy="527605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283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5ECD0-3A00-83C4-BAB8-E48BC0B07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Entities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9F8179B-D846-A7E4-3150-579E01DA7F20}"/>
              </a:ext>
            </a:extLst>
          </p:cNvPr>
          <p:cNvGrpSpPr/>
          <p:nvPr/>
        </p:nvGrpSpPr>
        <p:grpSpPr>
          <a:xfrm>
            <a:off x="4888177" y="2084984"/>
            <a:ext cx="7151422" cy="2688031"/>
            <a:chOff x="4599591" y="2029883"/>
            <a:chExt cx="7592409" cy="279823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1291BC1-84BD-6781-4964-10DDBE6E3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99591" y="2029883"/>
              <a:ext cx="7440008" cy="279823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Rounded Rectangle 4">
              <a:extLst>
                <a:ext uri="{FF2B5EF4-FFF2-40B4-BE49-F238E27FC236}">
                  <a16:creationId xmlns:a16="http://schemas.microsoft.com/office/drawing/2014/main" id="{535C8761-50F5-AE97-B357-2D9F5E9A76D6}"/>
                </a:ext>
              </a:extLst>
            </p:cNvPr>
            <p:cNvSpPr/>
            <p:nvPr/>
          </p:nvSpPr>
          <p:spPr>
            <a:xfrm>
              <a:off x="8698088" y="4110371"/>
              <a:ext cx="3493912" cy="582789"/>
            </a:xfrm>
            <a:prstGeom prst="round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38539C1-7741-9EDC-CB3A-5D500D3830B2}"/>
              </a:ext>
            </a:extLst>
          </p:cNvPr>
          <p:cNvSpPr txBox="1"/>
          <p:nvPr/>
        </p:nvSpPr>
        <p:spPr>
          <a:xfrm>
            <a:off x="340468" y="1507787"/>
            <a:ext cx="410672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Ability to </a:t>
            </a:r>
            <a:r>
              <a:rPr lang="en-US" sz="2800" b="1" dirty="0"/>
              <a:t>transform</a:t>
            </a:r>
            <a:r>
              <a:rPr lang="en-US" sz="2800" dirty="0"/>
              <a:t> a model entity into another class type from the database 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New entity will not retain invalid attributes and relationships from the original entity</a:t>
            </a:r>
          </a:p>
        </p:txBody>
      </p:sp>
    </p:spTree>
    <p:extLst>
      <p:ext uri="{BB962C8B-B14F-4D97-AF65-F5344CB8AC3E}">
        <p14:creationId xmlns:p14="http://schemas.microsoft.com/office/powerpoint/2010/main" val="8487314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63EA-494C-9EC3-7EC4-6AC868718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Diagrams from Entities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776780C-3A38-941C-1361-9CE21C28BC47}"/>
              </a:ext>
            </a:extLst>
          </p:cNvPr>
          <p:cNvGrpSpPr/>
          <p:nvPr/>
        </p:nvGrpSpPr>
        <p:grpSpPr>
          <a:xfrm>
            <a:off x="6705815" y="1128408"/>
            <a:ext cx="5230024" cy="5080934"/>
            <a:chOff x="2347823" y="123363"/>
            <a:chExt cx="7344366" cy="661127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8543447-8B85-D538-D77F-51A41DC560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99810" y="123363"/>
              <a:ext cx="7192379" cy="6611273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  <p:sp>
          <p:nvSpPr>
            <p:cNvPr id="7" name="Rounded Rectangle 4">
              <a:extLst>
                <a:ext uri="{FF2B5EF4-FFF2-40B4-BE49-F238E27FC236}">
                  <a16:creationId xmlns:a16="http://schemas.microsoft.com/office/drawing/2014/main" id="{F1C0C2C0-ED4E-A735-37AB-561B36F17222}"/>
                </a:ext>
              </a:extLst>
            </p:cNvPr>
            <p:cNvSpPr/>
            <p:nvPr/>
          </p:nvSpPr>
          <p:spPr>
            <a:xfrm>
              <a:off x="2347823" y="3857395"/>
              <a:ext cx="3290976" cy="559837"/>
            </a:xfrm>
            <a:prstGeom prst="round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  <p:sp>
          <p:nvSpPr>
            <p:cNvPr id="8" name="Rounded Rectangle 4">
              <a:extLst>
                <a:ext uri="{FF2B5EF4-FFF2-40B4-BE49-F238E27FC236}">
                  <a16:creationId xmlns:a16="http://schemas.microsoft.com/office/drawing/2014/main" id="{F8685A3F-0D2B-2F04-C016-B6F3BA5221FA}"/>
                </a:ext>
              </a:extLst>
            </p:cNvPr>
            <p:cNvSpPr/>
            <p:nvPr/>
          </p:nvSpPr>
          <p:spPr>
            <a:xfrm>
              <a:off x="2347823" y="224376"/>
              <a:ext cx="1889880" cy="559837"/>
            </a:xfrm>
            <a:prstGeom prst="round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AC201CF-5D65-152C-6F4D-E5DDE3B9140F}"/>
              </a:ext>
            </a:extLst>
          </p:cNvPr>
          <p:cNvSpPr txBox="1"/>
          <p:nvPr/>
        </p:nvSpPr>
        <p:spPr>
          <a:xfrm>
            <a:off x="340468" y="1206039"/>
            <a:ext cx="6060332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Generates a diagram view based on the selected entity</a:t>
            </a:r>
            <a:endParaRPr lang="en-US" sz="3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68384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9736F-555C-DF38-28D2-03366D702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Diagrams View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BAF19F-E7F2-1DC1-B79F-31FD7EF3B77B}"/>
              </a:ext>
            </a:extLst>
          </p:cNvPr>
          <p:cNvGrpSpPr/>
          <p:nvPr/>
        </p:nvGrpSpPr>
        <p:grpSpPr>
          <a:xfrm>
            <a:off x="2661295" y="1229316"/>
            <a:ext cx="6869725" cy="4842173"/>
            <a:chOff x="2209800" y="952500"/>
            <a:chExt cx="7670470" cy="544918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6238C2-B28F-DF9B-25E6-F8BDA1C77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800" y="1062696"/>
              <a:ext cx="7670470" cy="533899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EA8815F8-2175-05A9-4386-070F558AC244}"/>
                </a:ext>
              </a:extLst>
            </p:cNvPr>
            <p:cNvSpPr/>
            <p:nvPr/>
          </p:nvSpPr>
          <p:spPr>
            <a:xfrm>
              <a:off x="4775199" y="952500"/>
              <a:ext cx="889331" cy="582789"/>
            </a:xfrm>
            <a:prstGeom prst="round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2FB891DE-8825-D47F-B897-F4ADA1F763FB}"/>
                </a:ext>
              </a:extLst>
            </p:cNvPr>
            <p:cNvSpPr/>
            <p:nvPr/>
          </p:nvSpPr>
          <p:spPr>
            <a:xfrm>
              <a:off x="6180666" y="3137605"/>
              <a:ext cx="3493912" cy="582789"/>
            </a:xfrm>
            <a:prstGeom prst="round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06009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69E79-A601-6936-C6E2-E298E5AC6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New Diagram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8CBBBC2-1E35-21B6-4159-7E99B5CB5D71}"/>
              </a:ext>
            </a:extLst>
          </p:cNvPr>
          <p:cNvGrpSpPr/>
          <p:nvPr/>
        </p:nvGrpSpPr>
        <p:grpSpPr>
          <a:xfrm>
            <a:off x="1085665" y="2837142"/>
            <a:ext cx="10015487" cy="2052171"/>
            <a:chOff x="1206243" y="2402914"/>
            <a:chExt cx="10015487" cy="205217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BCB3579-9AFC-552F-973A-AB8DB84D3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6243" y="2402914"/>
              <a:ext cx="10015487" cy="205217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Rounded Rectangle 4">
              <a:extLst>
                <a:ext uri="{FF2B5EF4-FFF2-40B4-BE49-F238E27FC236}">
                  <a16:creationId xmlns:a16="http://schemas.microsoft.com/office/drawing/2014/main" id="{082A97F5-E3B7-DF7B-9DC6-26372D2D71EF}"/>
                </a:ext>
              </a:extLst>
            </p:cNvPr>
            <p:cNvSpPr/>
            <p:nvPr/>
          </p:nvSpPr>
          <p:spPr>
            <a:xfrm>
              <a:off x="8917858" y="3895248"/>
              <a:ext cx="2143432" cy="470275"/>
            </a:xfrm>
            <a:prstGeom prst="round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092E912-9056-A0F4-A81F-44FD838B1E52}"/>
              </a:ext>
            </a:extLst>
          </p:cNvPr>
          <p:cNvSpPr txBox="1"/>
          <p:nvPr/>
        </p:nvSpPr>
        <p:spPr>
          <a:xfrm>
            <a:off x="875503" y="1449421"/>
            <a:ext cx="10291850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New diagrams can be created with new or existing model entities</a:t>
            </a:r>
            <a:endParaRPr lang="en-US" sz="3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25544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FB027-EEFF-0689-65FD-5353F2F90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New View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46127A3-948B-820A-4EC9-92C72CBE0B96}"/>
              </a:ext>
            </a:extLst>
          </p:cNvPr>
          <p:cNvGrpSpPr/>
          <p:nvPr/>
        </p:nvGrpSpPr>
        <p:grpSpPr>
          <a:xfrm>
            <a:off x="2713567" y="1301283"/>
            <a:ext cx="6764866" cy="4784905"/>
            <a:chOff x="1905001" y="1325033"/>
            <a:chExt cx="6764866" cy="478490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988C54F-AFC2-1C71-3BE4-C59DE72F6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5001" y="1325033"/>
              <a:ext cx="6764866" cy="478490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2B7C2E64-3458-9A4E-D82A-C7EAA27B6573}"/>
                </a:ext>
              </a:extLst>
            </p:cNvPr>
            <p:cNvSpPr/>
            <p:nvPr/>
          </p:nvSpPr>
          <p:spPr>
            <a:xfrm>
              <a:off x="2709333" y="4575528"/>
              <a:ext cx="3917245" cy="786694"/>
            </a:xfrm>
            <a:prstGeom prst="round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D5E5AF1B-EE49-580A-31C8-1BDF36A044FB}"/>
                </a:ext>
              </a:extLst>
            </p:cNvPr>
            <p:cNvSpPr/>
            <p:nvPr/>
          </p:nvSpPr>
          <p:spPr>
            <a:xfrm>
              <a:off x="2822909" y="1636888"/>
              <a:ext cx="1162070" cy="645584"/>
            </a:xfrm>
            <a:prstGeom prst="round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24944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AE327-28B6-938C-8ED4-54AFF4262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Documents 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3C2685-03B5-41D7-557D-A49E4AB70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241779"/>
            <a:ext cx="8223491" cy="457504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D22CDE3-7E59-B6FE-9942-467AE030DD95}"/>
              </a:ext>
            </a:extLst>
          </p:cNvPr>
          <p:cNvSpPr/>
          <p:nvPr/>
        </p:nvSpPr>
        <p:spPr>
          <a:xfrm>
            <a:off x="4775199" y="1162756"/>
            <a:ext cx="801512" cy="496711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4889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76852-9762-2DC8-84CE-E374685E5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 Analyzer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8A3596E-D957-C694-E068-DF38D643F3CA}"/>
              </a:ext>
            </a:extLst>
          </p:cNvPr>
          <p:cNvGrpSpPr/>
          <p:nvPr/>
        </p:nvGrpSpPr>
        <p:grpSpPr>
          <a:xfrm>
            <a:off x="451556" y="1117600"/>
            <a:ext cx="3747912" cy="4826706"/>
            <a:chOff x="7292621" y="1207911"/>
            <a:chExt cx="3747912" cy="482670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4DC7F43-2462-744C-2387-D97A9447F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74656" y="1297517"/>
              <a:ext cx="3429000" cy="47371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6822B485-CEC7-73FB-065B-566BC7571AAE}"/>
                </a:ext>
              </a:extLst>
            </p:cNvPr>
            <p:cNvSpPr/>
            <p:nvPr/>
          </p:nvSpPr>
          <p:spPr>
            <a:xfrm>
              <a:off x="7292621" y="5063772"/>
              <a:ext cx="3747912" cy="496711"/>
            </a:xfrm>
            <a:prstGeom prst="round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138BD529-6F61-9C28-F681-C3B0B2973202}"/>
                </a:ext>
              </a:extLst>
            </p:cNvPr>
            <p:cNvSpPr/>
            <p:nvPr/>
          </p:nvSpPr>
          <p:spPr>
            <a:xfrm>
              <a:off x="7337779" y="1207911"/>
              <a:ext cx="1569154" cy="857956"/>
            </a:xfrm>
            <a:prstGeom prst="round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B6E38DB-35C1-6271-3038-5C3EA21A8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468" y="2965206"/>
            <a:ext cx="7772400" cy="12211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387813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1034E-4C59-46A2-2FF5-8980480A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Import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F4F52A-2C7D-BB28-22CF-93894A20F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18" y="1271176"/>
            <a:ext cx="10517563" cy="475709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D33C3B8-4214-2A76-04F5-69F62175EAE5}"/>
              </a:ext>
            </a:extLst>
          </p:cNvPr>
          <p:cNvSpPr/>
          <p:nvPr/>
        </p:nvSpPr>
        <p:spPr>
          <a:xfrm>
            <a:off x="756357" y="1930399"/>
            <a:ext cx="1693331" cy="711201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9201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D5BB9-9548-722F-A46A-ABBF7FCF9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Import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6CC291-CC4C-086C-F3AB-0405D1842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72" y="2386190"/>
            <a:ext cx="11403055" cy="252871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96C9DE7-6485-91F5-8276-0CE79FFCE365}"/>
              </a:ext>
            </a:extLst>
          </p:cNvPr>
          <p:cNvSpPr/>
          <p:nvPr/>
        </p:nvSpPr>
        <p:spPr>
          <a:xfrm>
            <a:off x="1738489" y="3160888"/>
            <a:ext cx="1444978" cy="711201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7748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E0F2-22B7-7687-BD9F-D23B35EE3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Customize Import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B98CAF-D099-7CBD-C420-3121E7D2A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16" y="1591733"/>
            <a:ext cx="11293968" cy="422204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6A0D2DA-17A5-BCEB-05DE-C44F8451B70C}"/>
              </a:ext>
            </a:extLst>
          </p:cNvPr>
          <p:cNvSpPr/>
          <p:nvPr/>
        </p:nvSpPr>
        <p:spPr>
          <a:xfrm>
            <a:off x="2980268" y="2381955"/>
            <a:ext cx="1817510" cy="711201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3849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CCD0-960A-DB9E-29E8-BA69C10D6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 Import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FF67D5-E8FE-BC60-CD21-C5E5DEDD4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266" y="1585934"/>
            <a:ext cx="9017468" cy="425042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32E6590-8AA8-D202-31E1-CE752E674710}"/>
              </a:ext>
            </a:extLst>
          </p:cNvPr>
          <p:cNvSpPr/>
          <p:nvPr/>
        </p:nvSpPr>
        <p:spPr>
          <a:xfrm>
            <a:off x="6513691" y="2517421"/>
            <a:ext cx="1817510" cy="711201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4476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FD76-EFA3-1904-1CC2-4759E6325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Editor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FE4D6-565A-EA0B-9CD3-2C33B0EF7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4948239" cy="5213350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Most often used to add project or organization-specific </a:t>
            </a:r>
            <a:r>
              <a:rPr lang="en-US" sz="3600" b="1" dirty="0"/>
              <a:t>Labels</a:t>
            </a:r>
          </a:p>
          <a:p>
            <a:r>
              <a:rPr lang="en-US" sz="3600" dirty="0"/>
              <a:t>Recommended to not adjust </a:t>
            </a:r>
            <a:r>
              <a:rPr lang="en-US" sz="3600" b="1" dirty="0"/>
              <a:t>Classes</a:t>
            </a:r>
            <a:r>
              <a:rPr lang="en-US" sz="3600" dirty="0"/>
              <a:t> or </a:t>
            </a:r>
            <a:r>
              <a:rPr lang="en-US" sz="3600" b="1" dirty="0"/>
              <a:t>Relations</a:t>
            </a:r>
          </a:p>
          <a:p>
            <a:r>
              <a:rPr lang="en-US" sz="3600" b="1" dirty="0"/>
              <a:t>Workflow</a:t>
            </a:r>
            <a:r>
              <a:rPr lang="en-US" sz="3600" dirty="0"/>
              <a:t> management for change requests/issues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61F0D8-8948-BB61-F595-A5E8461B4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14" y="1744663"/>
            <a:ext cx="4737100" cy="35687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54914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FDB70-E0A4-C5BE-2035-76FAD4836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B7668-97A9-DEBD-50DC-D4917C4E4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6110749" cy="521335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solidFill>
                  <a:srgbClr val="000000"/>
                </a:solidFill>
              </a:rPr>
              <a:t>Requirements must be </a:t>
            </a:r>
            <a:r>
              <a:rPr lang="en-US" b="1" dirty="0">
                <a:solidFill>
                  <a:srgbClr val="000000"/>
                </a:solidFill>
              </a:rPr>
              <a:t>SMART</a:t>
            </a:r>
          </a:p>
          <a:p>
            <a:r>
              <a:rPr lang="en-US" dirty="0"/>
              <a:t>Define what the system must do </a:t>
            </a:r>
            <a:r>
              <a:rPr lang="en-US" b="1" dirty="0"/>
              <a:t>without a particular solution</a:t>
            </a:r>
          </a:p>
          <a:p>
            <a:r>
              <a:rPr lang="en-US" dirty="0"/>
              <a:t>Typically a “shall” statement</a:t>
            </a:r>
          </a:p>
          <a:p>
            <a:r>
              <a:rPr lang="en-US" dirty="0"/>
              <a:t>Can be derived from multiple sources</a:t>
            </a:r>
          </a:p>
          <a:p>
            <a:pPr lvl="1"/>
            <a:r>
              <a:rPr lang="en-US" dirty="0"/>
              <a:t>High-level requirements come from upper-tier documents such as a Contract or SOW</a:t>
            </a:r>
          </a:p>
          <a:p>
            <a:pPr lvl="1"/>
            <a:r>
              <a:rPr lang="en-US" dirty="0"/>
              <a:t>Low-level requirements are derived from high-level requirements and allocated to specify system components that will satisfy the design constraint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  <a:p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</p:txBody>
      </p:sp>
      <p:pic>
        <p:nvPicPr>
          <p:cNvPr id="4" name="Picture 3" descr="A white and blue text on a black background&#10;&#10;AI-generated content may be incorrect.">
            <a:extLst>
              <a:ext uri="{FF2B5EF4-FFF2-40B4-BE49-F238E27FC236}">
                <a16:creationId xmlns:a16="http://schemas.microsoft.com/office/drawing/2014/main" id="{DADF199B-9DB4-A3E9-F6AB-5F8D2A202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0845" y="1183695"/>
            <a:ext cx="4976812" cy="515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2278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21111-7277-7F59-E141-B5FCBC421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62" y="0"/>
            <a:ext cx="10134599" cy="952500"/>
          </a:xfrm>
        </p:spPr>
        <p:txBody>
          <a:bodyPr anchor="ctr">
            <a:normAutofit/>
          </a:bodyPr>
          <a:lstStyle/>
          <a:p>
            <a:r>
              <a:rPr lang="en-US" dirty="0"/>
              <a:t>Requirements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5F15E-424B-AA5A-B954-4B2C9665A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436" y="1197591"/>
            <a:ext cx="5867400" cy="5219700"/>
          </a:xfrm>
        </p:spPr>
        <p:txBody>
          <a:bodyPr>
            <a:normAutofit/>
          </a:bodyPr>
          <a:lstStyle/>
          <a:p>
            <a:r>
              <a:rPr lang="en-US" dirty="0"/>
              <a:t>Processes include requirements development, analysis, and tracking throughout the entire project lifecycle</a:t>
            </a:r>
          </a:p>
          <a:p>
            <a:r>
              <a:rPr lang="en-US" dirty="0"/>
              <a:t>Reduces project risk by minimizing scope creep, improving communication and collaboration, and ensuring stakeholder needs are met in design</a:t>
            </a:r>
          </a:p>
          <a:p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6F55B7-EF5C-3E9A-8907-912780AE8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299" y="1197591"/>
            <a:ext cx="48895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735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ED6AC-8930-C1BF-B5F5-2A6DACC90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912"/>
            <a:ext cx="10515600" cy="1325563"/>
          </a:xfrm>
        </p:spPr>
        <p:txBody>
          <a:bodyPr/>
          <a:lstStyle/>
          <a:p>
            <a:r>
              <a:rPr lang="en-US" dirty="0"/>
              <a:t>Requirements V&amp;V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0F93E-8F8B-4430-018D-4FD72BA8A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5856515" cy="5213350"/>
          </a:xfrm>
        </p:spPr>
        <p:txBody>
          <a:bodyPr/>
          <a:lstStyle/>
          <a:p>
            <a:r>
              <a:rPr lang="en-US" b="1" dirty="0"/>
              <a:t>Requirements verification </a:t>
            </a:r>
            <a:r>
              <a:rPr lang="en-US" dirty="0"/>
              <a:t>-  the design is </a:t>
            </a:r>
            <a:r>
              <a:rPr lang="en-US" i="1" dirty="0"/>
              <a:t>right</a:t>
            </a:r>
          </a:p>
          <a:p>
            <a:pPr lvl="1"/>
            <a:r>
              <a:rPr lang="en-US" dirty="0"/>
              <a:t>Requirements are verified through either an analysis, demonstration, inspection, or test (ADIT)</a:t>
            </a:r>
          </a:p>
          <a:p>
            <a:pPr lvl="2"/>
            <a:r>
              <a:rPr lang="en-US" dirty="0"/>
              <a:t>Analysis</a:t>
            </a:r>
          </a:p>
          <a:p>
            <a:pPr lvl="2"/>
            <a:r>
              <a:rPr lang="en-US" dirty="0"/>
              <a:t>Demonstration</a:t>
            </a:r>
          </a:p>
          <a:p>
            <a:pPr lvl="2"/>
            <a:r>
              <a:rPr lang="en-US" dirty="0"/>
              <a:t>Inspection</a:t>
            </a:r>
          </a:p>
          <a:p>
            <a:pPr lvl="2"/>
            <a:r>
              <a:rPr lang="en-US" dirty="0"/>
              <a:t>Test</a:t>
            </a:r>
          </a:p>
          <a:p>
            <a:r>
              <a:rPr lang="en-US" b="1" dirty="0"/>
              <a:t>Requirements validation </a:t>
            </a:r>
            <a:r>
              <a:rPr lang="en-US" dirty="0"/>
              <a:t>- the </a:t>
            </a:r>
            <a:r>
              <a:rPr lang="en-US" i="1" dirty="0"/>
              <a:t>right</a:t>
            </a:r>
            <a:r>
              <a:rPr lang="en-US" dirty="0"/>
              <a:t> design</a:t>
            </a:r>
          </a:p>
          <a:p>
            <a:pPr lvl="1"/>
            <a:r>
              <a:rPr lang="en-US" dirty="0"/>
              <a:t>The final solution meets all stakeholder needs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A3144A-C26D-0C21-74C1-D93081A32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773" y="1027906"/>
            <a:ext cx="5232400" cy="49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860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2F69-79E4-A04E-975B-459D9409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Requirements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08DBCE-6EEA-965F-7378-93D31965AA98}"/>
              </a:ext>
            </a:extLst>
          </p:cNvPr>
          <p:cNvSpPr txBox="1"/>
          <p:nvPr/>
        </p:nvSpPr>
        <p:spPr>
          <a:xfrm>
            <a:off x="300943" y="1238491"/>
            <a:ext cx="366917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Requirements can be imported from other sources (e.g., </a:t>
            </a:r>
            <a:r>
              <a:rPr lang="en-US" sz="2400"/>
              <a:t>Microsoft Excel)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They can also be created directly within </a:t>
            </a:r>
            <a:r>
              <a:rPr lang="en-US" sz="2400" dirty="0" err="1"/>
              <a:t>Innoslate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Each requirement is given an entity 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 “true” requirements management tool (e.g., IBM DOORS, Jama, </a:t>
            </a:r>
            <a:r>
              <a:rPr lang="en-US" sz="2400" dirty="0" err="1"/>
              <a:t>Visure</a:t>
            </a:r>
            <a:r>
              <a:rPr lang="en-US" sz="2400" dirty="0"/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206216-B693-D8F5-D469-A926348DF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199" y="1812616"/>
            <a:ext cx="7772400" cy="323276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57659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9E916-5A8F-564E-7276-8749B6C4C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from Scratch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C4D2CD-2A33-2713-C1BE-3362D3434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287" y="1404574"/>
            <a:ext cx="6240764" cy="46350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BEC82C4-B88A-1090-DFA2-17710083A6E5}"/>
              </a:ext>
            </a:extLst>
          </p:cNvPr>
          <p:cNvSpPr/>
          <p:nvPr/>
        </p:nvSpPr>
        <p:spPr>
          <a:xfrm>
            <a:off x="6972300" y="1404574"/>
            <a:ext cx="1592966" cy="497711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20C11A-16CC-5B2F-4A30-FA38DA54AB5D}"/>
              </a:ext>
            </a:extLst>
          </p:cNvPr>
          <p:cNvSpPr txBox="1"/>
          <p:nvPr/>
        </p:nvSpPr>
        <p:spPr>
          <a:xfrm>
            <a:off x="327949" y="2151727"/>
            <a:ext cx="509286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Each type of Document has templates provided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New templates can be created and saved for re-use</a:t>
            </a:r>
          </a:p>
        </p:txBody>
      </p:sp>
    </p:spTree>
    <p:extLst>
      <p:ext uri="{BB962C8B-B14F-4D97-AF65-F5344CB8AC3E}">
        <p14:creationId xmlns:p14="http://schemas.microsoft.com/office/powerpoint/2010/main" val="20235051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25785-4281-71A5-4702-748BAE0CC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Display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6E692-C12A-FB38-5459-D38B5BEAD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5160381" cy="5213350"/>
          </a:xfrm>
        </p:spPr>
        <p:txBody>
          <a:bodyPr/>
          <a:lstStyle/>
          <a:p>
            <a:r>
              <a:rPr lang="en-US" dirty="0"/>
              <a:t>Can choose to show/hide columns</a:t>
            </a:r>
          </a:p>
          <a:p>
            <a:r>
              <a:rPr lang="en-US" dirty="0"/>
              <a:t>Defaults are Rationale, Quality Score, and Labels</a:t>
            </a:r>
          </a:p>
          <a:p>
            <a:r>
              <a:rPr lang="en-US" dirty="0"/>
              <a:t>Labels typically show</a:t>
            </a:r>
          </a:p>
          <a:p>
            <a:pPr lvl="1"/>
            <a:r>
              <a:rPr lang="en-US" dirty="0"/>
              <a:t>Verification Method</a:t>
            </a:r>
          </a:p>
          <a:p>
            <a:pPr lvl="1"/>
            <a:r>
              <a:rPr lang="en-US" dirty="0"/>
              <a:t>Requirement Type</a:t>
            </a:r>
          </a:p>
          <a:p>
            <a:pPr lvl="2"/>
            <a:r>
              <a:rPr lang="en-US" dirty="0"/>
              <a:t>Environment</a:t>
            </a:r>
          </a:p>
          <a:p>
            <a:pPr lvl="2"/>
            <a:r>
              <a:rPr lang="en-US" dirty="0"/>
              <a:t>Performance</a:t>
            </a:r>
          </a:p>
          <a:p>
            <a:pPr lvl="2"/>
            <a:r>
              <a:rPr lang="en-US" dirty="0"/>
              <a:t>Functional</a:t>
            </a:r>
          </a:p>
          <a:p>
            <a:pPr lvl="2"/>
            <a:r>
              <a:rPr lang="en-US" dirty="0"/>
              <a:t>Interface</a:t>
            </a:r>
          </a:p>
          <a:p>
            <a:pPr lvl="2"/>
            <a:r>
              <a:rPr lang="en-US" dirty="0"/>
              <a:t>Reliability</a:t>
            </a:r>
          </a:p>
          <a:p>
            <a:pPr lvl="2"/>
            <a:r>
              <a:rPr lang="en-US" dirty="0"/>
              <a:t>Safety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76FE8F8-01EE-FBA1-9FFD-4A158D485A9B}"/>
              </a:ext>
            </a:extLst>
          </p:cNvPr>
          <p:cNvGrpSpPr/>
          <p:nvPr/>
        </p:nvGrpSpPr>
        <p:grpSpPr>
          <a:xfrm>
            <a:off x="6509657" y="1090391"/>
            <a:ext cx="4637314" cy="5318567"/>
            <a:chOff x="6509657" y="1090391"/>
            <a:chExt cx="4637314" cy="531856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62AE6C2-D408-B6FC-B88E-8DBCC9CE3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74313" y="1090391"/>
              <a:ext cx="4291414" cy="53185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CA28A519-692C-1257-60CE-F8DA1921159F}"/>
                </a:ext>
              </a:extLst>
            </p:cNvPr>
            <p:cNvSpPr/>
            <p:nvPr/>
          </p:nvSpPr>
          <p:spPr>
            <a:xfrm>
              <a:off x="6509657" y="1632857"/>
              <a:ext cx="4637314" cy="1132114"/>
            </a:xfrm>
            <a:prstGeom prst="roundRect">
              <a:avLst/>
            </a:prstGeom>
            <a:noFill/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5795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64C1C-A7C8-4519-6990-8008FAA9A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Requirements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AE6DE-150D-D55D-FAC1-EEB5744CC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5607051" cy="52133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From the documents view, there are additional options to enhance the quality of requirements</a:t>
            </a:r>
          </a:p>
          <a:p>
            <a:r>
              <a:rPr lang="en-US" dirty="0"/>
              <a:t>Acronym Extractor</a:t>
            </a:r>
          </a:p>
          <a:p>
            <a:r>
              <a:rPr lang="en-US" dirty="0"/>
              <a:t>Auto Number</a:t>
            </a:r>
          </a:p>
          <a:p>
            <a:r>
              <a:rPr lang="en-US" dirty="0"/>
              <a:t>Baseline</a:t>
            </a:r>
          </a:p>
          <a:p>
            <a:r>
              <a:rPr lang="en-US" dirty="0"/>
              <a:t>Generate Risks</a:t>
            </a:r>
          </a:p>
          <a:p>
            <a:r>
              <a:rPr lang="en-US" dirty="0"/>
              <a:t>Generate Test Case</a:t>
            </a:r>
          </a:p>
          <a:p>
            <a:r>
              <a:rPr lang="en-US" dirty="0"/>
              <a:t>Quality Check</a:t>
            </a:r>
          </a:p>
          <a:p>
            <a:r>
              <a:rPr lang="en-US" dirty="0"/>
              <a:t>Splitter</a:t>
            </a:r>
          </a:p>
          <a:p>
            <a:r>
              <a:rPr lang="en-US" dirty="0"/>
              <a:t>Translate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707148-6093-A155-3A29-CB00F25C6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9829" y="1801472"/>
            <a:ext cx="2720408" cy="356177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A5BE0C-4228-E146-F0AD-8218C7BB4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450" y="1801471"/>
            <a:ext cx="2425700" cy="3556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01037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42611-1FCD-469B-2409-41E37FA08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Acronym Extractor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DF1F9-6766-F6B7-D3AE-8E34B1508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3840867" cy="5213350"/>
          </a:xfrm>
        </p:spPr>
        <p:txBody>
          <a:bodyPr/>
          <a:lstStyle/>
          <a:p>
            <a:r>
              <a:rPr lang="en-US" dirty="0"/>
              <a:t>Automatically extracts acronyms for any document</a:t>
            </a:r>
          </a:p>
          <a:p>
            <a:r>
              <a:rPr lang="en-US" dirty="0"/>
              <a:t>Depends on a person to define acronym at some point within the text</a:t>
            </a:r>
          </a:p>
          <a:p>
            <a:r>
              <a:rPr lang="en-US" dirty="0"/>
              <a:t>Trust, but verify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7FCE07-87A7-68EA-21A9-FD282F393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771" y="2004346"/>
            <a:ext cx="7772400" cy="349065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87401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19EA1-F2D7-67B2-7088-4D11FB776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Acronym Extractor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82C51-A565-7A9E-83F1-485338D12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247" y="2065337"/>
            <a:ext cx="4396452" cy="3368675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Different results based on confidence level chosen</a:t>
            </a:r>
          </a:p>
          <a:p>
            <a:pPr lvl="1"/>
            <a:r>
              <a:rPr lang="en-US" sz="3200" dirty="0"/>
              <a:t>95%</a:t>
            </a:r>
          </a:p>
          <a:p>
            <a:pPr lvl="1"/>
            <a:r>
              <a:rPr lang="en-US" sz="3200" dirty="0"/>
              <a:t>65%</a:t>
            </a:r>
          </a:p>
          <a:p>
            <a:pPr lvl="1"/>
            <a:r>
              <a:rPr lang="en-US" sz="3200" dirty="0"/>
              <a:t>40%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0BE57F-A63D-276F-254C-EE00C96CE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988" y="1595469"/>
            <a:ext cx="6401765" cy="430841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61165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7E253-5137-BD74-D099-D3FBEF08F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1359B-47CE-A2FA-D69C-4C9185A7E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145" y="2286000"/>
            <a:ext cx="4604658" cy="2286000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Automatically number requirements recursively with a prefix for a given document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BA527E-2814-4BE7-E116-33E3E4793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58463"/>
            <a:ext cx="5500855" cy="438242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99420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11322-DDA0-5B3D-F681-6D8347791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Auto-Generate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C48E4-6195-194C-BC3E-CCAB3E652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5160381" cy="5213350"/>
          </a:xfrm>
        </p:spPr>
        <p:txBody>
          <a:bodyPr/>
          <a:lstStyle/>
          <a:p>
            <a:r>
              <a:rPr lang="en-US" dirty="0"/>
              <a:t>Ability to automatically generate up to three risks for each requirement</a:t>
            </a:r>
          </a:p>
          <a:p>
            <a:r>
              <a:rPr lang="en-US" dirty="0"/>
              <a:t>Still needs to be verified</a:t>
            </a:r>
          </a:p>
          <a:p>
            <a:r>
              <a:rPr lang="en-US" dirty="0"/>
              <a:t>Provides traceability</a:t>
            </a:r>
          </a:p>
          <a:p>
            <a:r>
              <a:rPr lang="en-US" dirty="0"/>
              <a:t>Creates:</a:t>
            </a:r>
          </a:p>
          <a:p>
            <a:pPr lvl="1"/>
            <a:r>
              <a:rPr lang="en-US" dirty="0"/>
              <a:t>Description</a:t>
            </a:r>
          </a:p>
          <a:p>
            <a:pPr lvl="1"/>
            <a:r>
              <a:rPr lang="en-US" dirty="0"/>
              <a:t>Consequence </a:t>
            </a:r>
          </a:p>
          <a:p>
            <a:pPr lvl="1"/>
            <a:r>
              <a:rPr lang="en-US" dirty="0"/>
              <a:t>Probability</a:t>
            </a:r>
          </a:p>
          <a:p>
            <a:pPr lvl="1"/>
            <a:r>
              <a:rPr lang="en-US" dirty="0"/>
              <a:t>Risk Label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B37CD0-D4F5-55CB-BB90-12DC868E4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769" y="1548315"/>
            <a:ext cx="6156015" cy="440271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95507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EB5E1-9C50-83CB-ABAC-16E137986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 Test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DCBAC-C39A-15BE-EACA-11E812905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5943601" cy="5213350"/>
          </a:xfrm>
        </p:spPr>
        <p:txBody>
          <a:bodyPr/>
          <a:lstStyle/>
          <a:p>
            <a:r>
              <a:rPr lang="en-US" dirty="0"/>
              <a:t>Ability to automatically generate a test case for each requirement</a:t>
            </a:r>
          </a:p>
          <a:p>
            <a:r>
              <a:rPr lang="en-US" dirty="0"/>
              <a:t>Creates:</a:t>
            </a:r>
          </a:p>
          <a:p>
            <a:pPr lvl="1"/>
            <a:r>
              <a:rPr lang="en-US" dirty="0"/>
              <a:t>Number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/>
              <a:t>Description</a:t>
            </a:r>
          </a:p>
          <a:p>
            <a:pPr lvl="1"/>
            <a:r>
              <a:rPr lang="en-US" dirty="0"/>
              <a:t>Expected Result</a:t>
            </a:r>
          </a:p>
          <a:p>
            <a:pPr lvl="1"/>
            <a:r>
              <a:rPr lang="en-US" dirty="0"/>
              <a:t>Verification Method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C35395-1A6E-F1CC-D10D-A82655133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273" y="1398567"/>
            <a:ext cx="5731737" cy="470221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62682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86070-D993-9892-116C-03FC2E24E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8071C-AC8A-459D-7769-DE89C440D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4442750" cy="5213350"/>
          </a:xfrm>
        </p:spPr>
        <p:txBody>
          <a:bodyPr/>
          <a:lstStyle/>
          <a:p>
            <a:r>
              <a:rPr lang="en-US" dirty="0"/>
              <a:t>Verifies requirements are adequate based on quality attributes</a:t>
            </a:r>
          </a:p>
          <a:p>
            <a:pPr lvl="1"/>
            <a:r>
              <a:rPr lang="en-US" dirty="0"/>
              <a:t>Appropriate</a:t>
            </a:r>
          </a:p>
          <a:p>
            <a:pPr lvl="1"/>
            <a:r>
              <a:rPr lang="en-US" dirty="0"/>
              <a:t>Complete</a:t>
            </a:r>
          </a:p>
          <a:p>
            <a:pPr lvl="1"/>
            <a:r>
              <a:rPr lang="en-US" dirty="0"/>
              <a:t>Conforming</a:t>
            </a:r>
          </a:p>
          <a:p>
            <a:pPr lvl="1"/>
            <a:r>
              <a:rPr lang="en-US" dirty="0"/>
              <a:t>Correct</a:t>
            </a:r>
          </a:p>
          <a:p>
            <a:pPr lvl="1"/>
            <a:r>
              <a:rPr lang="en-US" dirty="0"/>
              <a:t>Feasible</a:t>
            </a:r>
          </a:p>
          <a:p>
            <a:pPr lvl="1"/>
            <a:r>
              <a:rPr lang="en-US" dirty="0"/>
              <a:t>Necessary</a:t>
            </a:r>
          </a:p>
          <a:p>
            <a:pPr lvl="1"/>
            <a:r>
              <a:rPr lang="en-US" dirty="0"/>
              <a:t>Singular</a:t>
            </a:r>
          </a:p>
          <a:p>
            <a:pPr lvl="1"/>
            <a:r>
              <a:rPr lang="en-US" dirty="0"/>
              <a:t>Unambiguous</a:t>
            </a:r>
          </a:p>
          <a:p>
            <a:pPr lvl="1"/>
            <a:r>
              <a:rPr lang="en-US" dirty="0"/>
              <a:t>Verifiable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6A79F8-6DC7-E617-AA56-09A9C61A5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842" y="1168549"/>
            <a:ext cx="5129129" cy="509387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8934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05ECD-C779-288E-FAD0-74DE9DB79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Attributes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3EB029-407F-1054-0845-50B92CE13C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692117" y="1566882"/>
          <a:ext cx="7563051" cy="462867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81230">
                  <a:extLst>
                    <a:ext uri="{9D8B030D-6E8A-4147-A177-3AD203B41FA5}">
                      <a16:colId xmlns:a16="http://schemas.microsoft.com/office/drawing/2014/main" val="1797015269"/>
                    </a:ext>
                  </a:extLst>
                </a:gridCol>
                <a:gridCol w="1145894">
                  <a:extLst>
                    <a:ext uri="{9D8B030D-6E8A-4147-A177-3AD203B41FA5}">
                      <a16:colId xmlns:a16="http://schemas.microsoft.com/office/drawing/2014/main" val="1572065950"/>
                    </a:ext>
                  </a:extLst>
                </a:gridCol>
                <a:gridCol w="5335927">
                  <a:extLst>
                    <a:ext uri="{9D8B030D-6E8A-4147-A177-3AD203B41FA5}">
                      <a16:colId xmlns:a16="http://schemas.microsoft.com/office/drawing/2014/main" val="3656105926"/>
                    </a:ext>
                  </a:extLst>
                </a:gridCol>
              </a:tblGrid>
              <a:tr h="113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Attribute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Type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Description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extLst>
                  <a:ext uri="{0D108BD9-81ED-4DB2-BD59-A6C34878D82A}">
                    <a16:rowId xmlns:a16="http://schemas.microsoft.com/office/drawing/2014/main" val="2460439988"/>
                  </a:ext>
                </a:extLst>
              </a:tr>
              <a:tr h="340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clear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Boolean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clear represents if this </a:t>
                      </a:r>
                      <a:r>
                        <a:rPr lang="en-US" sz="1400" b="1">
                          <a:effectLst/>
                        </a:rPr>
                        <a:t>Requirement </a:t>
                      </a:r>
                      <a:r>
                        <a:rPr lang="en-US" sz="1400">
                          <a:effectLst/>
                        </a:rPr>
                        <a:t>entity is unambiguous and not confusing.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extLst>
                  <a:ext uri="{0D108BD9-81ED-4DB2-BD59-A6C34878D82A}">
                    <a16:rowId xmlns:a16="http://schemas.microsoft.com/office/drawing/2014/main" val="2652807067"/>
                  </a:ext>
                </a:extLst>
              </a:tr>
              <a:tr h="340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complete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Boolean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complete represents if this </a:t>
                      </a:r>
                      <a:r>
                        <a:rPr lang="en-US" sz="1400" b="1" dirty="0">
                          <a:effectLst/>
                        </a:rPr>
                        <a:t>Requirement </a:t>
                      </a:r>
                      <a:r>
                        <a:rPr lang="en-US" sz="1400" dirty="0">
                          <a:effectLst/>
                        </a:rPr>
                        <a:t>entity expresses a whole idea. </a:t>
                      </a:r>
                      <a:endParaRPr lang="en-US" sz="1400" dirty="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extLst>
                  <a:ext uri="{0D108BD9-81ED-4DB2-BD59-A6C34878D82A}">
                    <a16:rowId xmlns:a16="http://schemas.microsoft.com/office/drawing/2014/main" val="1661560520"/>
                  </a:ext>
                </a:extLst>
              </a:tr>
              <a:tr h="340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consistent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Boolean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consistent represents if this </a:t>
                      </a:r>
                      <a:r>
                        <a:rPr lang="en-US" sz="1400" b="1" dirty="0">
                          <a:effectLst/>
                        </a:rPr>
                        <a:t>Requirement </a:t>
                      </a:r>
                      <a:r>
                        <a:rPr lang="en-US" sz="1400" dirty="0">
                          <a:effectLst/>
                        </a:rPr>
                        <a:t>entity is not in conflict with other requirements. </a:t>
                      </a:r>
                      <a:endParaRPr lang="en-US" sz="1400" dirty="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extLst>
                  <a:ext uri="{0D108BD9-81ED-4DB2-BD59-A6C34878D82A}">
                    <a16:rowId xmlns:a16="http://schemas.microsoft.com/office/drawing/2014/main" val="131493086"/>
                  </a:ext>
                </a:extLst>
              </a:tr>
              <a:tr h="453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correct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Boolean </a:t>
                      </a:r>
                      <a:endParaRPr lang="en-US" sz="1400" dirty="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correct represents if this </a:t>
                      </a:r>
                      <a:r>
                        <a:rPr lang="en-US" sz="1400" b="1">
                          <a:effectLst/>
                        </a:rPr>
                        <a:t>Requirement </a:t>
                      </a:r>
                      <a:r>
                        <a:rPr lang="en-US" sz="1400">
                          <a:effectLst/>
                        </a:rPr>
                        <a:t>entity describes the user's true intent and is legally possible.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extLst>
                  <a:ext uri="{0D108BD9-81ED-4DB2-BD59-A6C34878D82A}">
                    <a16:rowId xmlns:a16="http://schemas.microsoft.com/office/drawing/2014/main" val="456649710"/>
                  </a:ext>
                </a:extLst>
              </a:tr>
              <a:tr h="453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design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Boolean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design represents if this </a:t>
                      </a:r>
                      <a:r>
                        <a:rPr lang="en-US" sz="1400" b="1" dirty="0">
                          <a:effectLst/>
                        </a:rPr>
                        <a:t>Requirement </a:t>
                      </a:r>
                      <a:r>
                        <a:rPr lang="en-US" sz="1400" dirty="0">
                          <a:effectLst/>
                        </a:rPr>
                        <a:t>entity does not impose a specific solution on design; says "what", not "how". </a:t>
                      </a:r>
                      <a:endParaRPr lang="en-US" sz="1400" dirty="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extLst>
                  <a:ext uri="{0D108BD9-81ED-4DB2-BD59-A6C34878D82A}">
                    <a16:rowId xmlns:a16="http://schemas.microsoft.com/office/drawing/2014/main" val="2265080893"/>
                  </a:ext>
                </a:extLst>
              </a:tr>
              <a:tr h="567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feasible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Boolean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feasible represents if this </a:t>
                      </a:r>
                      <a:r>
                        <a:rPr lang="en-US" sz="1400" b="1">
                          <a:effectLst/>
                        </a:rPr>
                        <a:t>Requirement </a:t>
                      </a:r>
                      <a:r>
                        <a:rPr lang="en-US" sz="1400">
                          <a:effectLst/>
                        </a:rPr>
                        <a:t>entity can be implemented with existing technology, within cost and schedule.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extLst>
                  <a:ext uri="{0D108BD9-81ED-4DB2-BD59-A6C34878D82A}">
                    <a16:rowId xmlns:a16="http://schemas.microsoft.com/office/drawing/2014/main" val="2422403405"/>
                  </a:ext>
                </a:extLst>
              </a:tr>
              <a:tr h="453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modular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Boolean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modular represents if this </a:t>
                      </a:r>
                      <a:r>
                        <a:rPr lang="en-US" sz="1400" b="1">
                          <a:effectLst/>
                        </a:rPr>
                        <a:t>Requirement </a:t>
                      </a:r>
                      <a:r>
                        <a:rPr lang="en-US" sz="1400">
                          <a:effectLst/>
                        </a:rPr>
                        <a:t>entity can be changed without excessive impact on other requirements.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extLst>
                  <a:ext uri="{0D108BD9-81ED-4DB2-BD59-A6C34878D82A}">
                    <a16:rowId xmlns:a16="http://schemas.microsoft.com/office/drawing/2014/main" val="3802351047"/>
                  </a:ext>
                </a:extLst>
              </a:tr>
              <a:tr h="567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traceable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Boolean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traceable represents if this </a:t>
                      </a:r>
                      <a:r>
                        <a:rPr lang="en-US" sz="1400" b="1">
                          <a:effectLst/>
                        </a:rPr>
                        <a:t>Requirement </a:t>
                      </a:r>
                      <a:r>
                        <a:rPr lang="en-US" sz="1400">
                          <a:effectLst/>
                        </a:rPr>
                        <a:t>entity is uniquely identified, and able to be tracked to predecessor and successor lifecycle items/objects.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extLst>
                  <a:ext uri="{0D108BD9-81ED-4DB2-BD59-A6C34878D82A}">
                    <a16:rowId xmlns:a16="http://schemas.microsoft.com/office/drawing/2014/main" val="612072717"/>
                  </a:ext>
                </a:extLst>
              </a:tr>
              <a:tr h="567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verifiable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Boolean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verifiable represents if this </a:t>
                      </a:r>
                      <a:r>
                        <a:rPr lang="en-US" sz="1400" b="1" dirty="0">
                          <a:effectLst/>
                        </a:rPr>
                        <a:t>Requirement </a:t>
                      </a:r>
                      <a:r>
                        <a:rPr lang="en-US" sz="1400" dirty="0">
                          <a:effectLst/>
                        </a:rPr>
                        <a:t>entity is provable (within realistic cost and schedule) that the system meets the requirement. </a:t>
                      </a:r>
                      <a:endParaRPr lang="en-US" sz="1400" dirty="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extLst>
                  <a:ext uri="{0D108BD9-81ED-4DB2-BD59-A6C34878D82A}">
                    <a16:rowId xmlns:a16="http://schemas.microsoft.com/office/drawing/2014/main" val="3299884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1700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1D96A-67A7-7E98-90B1-B73CE532F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Checker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1B3E-3424-30CF-1664-9D83EA89A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4920343" cy="5213350"/>
          </a:xfrm>
        </p:spPr>
        <p:txBody>
          <a:bodyPr>
            <a:normAutofit/>
          </a:bodyPr>
          <a:lstStyle/>
          <a:p>
            <a:r>
              <a:rPr lang="en-US" sz="3200" dirty="0"/>
              <a:t>Quality score will update based on manual entries for attributes</a:t>
            </a:r>
          </a:p>
          <a:p>
            <a:r>
              <a:rPr lang="en-US" sz="3200" dirty="0"/>
              <a:t>Will auto-generate based on the quality of requirements</a:t>
            </a:r>
          </a:p>
          <a:p>
            <a:r>
              <a:rPr lang="en-US" sz="3200" dirty="0"/>
              <a:t>Recommendations are made to improve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66798B-4F15-4A3B-17A7-18622B7FF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677" y="1635791"/>
            <a:ext cx="6515555" cy="422776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083138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EE885-4B86-0FE8-F75B-04C2014D1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Intelligence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98E2CF-71CD-8599-2282-486BEBF2A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1" y="1223766"/>
            <a:ext cx="10134598" cy="499592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19729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AE7B5-9699-E419-268E-29D6F8A6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A41A7-A5D2-C7CE-27D6-69342FC35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73085"/>
            <a:ext cx="5750690" cy="21118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Document are necessary to communicate with stakeholders</a:t>
            </a:r>
          </a:p>
          <a:p>
            <a:r>
              <a:rPr lang="en-US" dirty="0"/>
              <a:t>Purpose of a model is to facilitate construction of SE artifacts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FF27C5-3465-953B-4A48-995B870D0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690" y="1131424"/>
            <a:ext cx="5858327" cy="521794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17005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5D8A6-B0AA-CD7A-C071-56C3497D1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4 Lab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B3F2C-8628-EA4E-CA50-6FBE3A9E7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Requirements Document</a:t>
            </a:r>
          </a:p>
          <a:p>
            <a:r>
              <a:rPr lang="en-US" dirty="0"/>
              <a:t>Create Requirements</a:t>
            </a:r>
          </a:p>
          <a:p>
            <a:r>
              <a:rPr lang="en-US" dirty="0"/>
              <a:t>Add customized Label to the project</a:t>
            </a:r>
          </a:p>
          <a:p>
            <a:r>
              <a:rPr lang="en-US" dirty="0"/>
              <a:t>Add a Label to entities</a:t>
            </a:r>
          </a:p>
          <a:p>
            <a:r>
              <a:rPr lang="en-US" dirty="0"/>
              <a:t>Modify columns for Requirements Document</a:t>
            </a:r>
          </a:p>
          <a:p>
            <a:r>
              <a:rPr lang="en-US" dirty="0"/>
              <a:t>Run the Quality Checker for Requirements</a:t>
            </a:r>
          </a:p>
          <a:p>
            <a:r>
              <a:rPr lang="en-US" dirty="0"/>
              <a:t>Generate a Risk for Requirements</a:t>
            </a:r>
          </a:p>
          <a:p>
            <a:r>
              <a:rPr lang="en-US" dirty="0"/>
              <a:t>Generate a Test Case for Requirements</a:t>
            </a:r>
          </a:p>
        </p:txBody>
      </p:sp>
    </p:spTree>
    <p:extLst>
      <p:ext uri="{BB962C8B-B14F-4D97-AF65-F5344CB8AC3E}">
        <p14:creationId xmlns:p14="http://schemas.microsoft.com/office/powerpoint/2010/main" val="17868296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71825-F7A4-F155-8069-D6BB02D92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785" y="2235200"/>
            <a:ext cx="4737904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Lifecycle Management Framework (LMF)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709E7D-E616-065C-4FA4-2FCF4F124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566" y="712727"/>
            <a:ext cx="5257800" cy="527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7014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8265-DBAB-EEA8-FBBF-035C4040D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LMF Mission Domain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28CE87-634F-924B-545E-C03CC5D9F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661" y="1579563"/>
            <a:ext cx="5295900" cy="4351338"/>
          </a:xfrm>
        </p:spPr>
        <p:txBody>
          <a:bodyPr>
            <a:normAutofit/>
          </a:bodyPr>
          <a:lstStyle/>
          <a:p>
            <a:r>
              <a:rPr lang="en-US" dirty="0"/>
              <a:t>Creates the </a:t>
            </a:r>
            <a:r>
              <a:rPr lang="en-US" b="1" dirty="0"/>
              <a:t>mission value </a:t>
            </a:r>
            <a:r>
              <a:rPr lang="en-US" dirty="0"/>
              <a:t>and provides the context for Who, What, Where, Why, and How</a:t>
            </a:r>
          </a:p>
          <a:p>
            <a:endParaRPr lang="en-US" dirty="0"/>
          </a:p>
          <a:p>
            <a:r>
              <a:rPr lang="en-US" i="1" dirty="0"/>
              <a:t>After </a:t>
            </a:r>
            <a:r>
              <a:rPr lang="en-US" dirty="0"/>
              <a:t>the Mission Domain, the Value Domain </a:t>
            </a:r>
            <a:r>
              <a:rPr lang="en-US" b="1" dirty="0"/>
              <a:t>realizes</a:t>
            </a:r>
            <a:r>
              <a:rPr lang="en-US" dirty="0"/>
              <a:t> the mission value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58DF1D-2C56-C565-C23D-99C86B9D5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960" y="1579563"/>
            <a:ext cx="52959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910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F3DE7-DD95-B232-E534-7F5407794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622"/>
            <a:ext cx="10515600" cy="1325563"/>
          </a:xfrm>
        </p:spPr>
        <p:txBody>
          <a:bodyPr/>
          <a:lstStyle/>
          <a:p>
            <a:r>
              <a:rPr lang="en-US" dirty="0"/>
              <a:t>Lifecycle Stakeholder Questions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FC7E9-4B6E-E8A9-1E1C-2F0BE00C9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306" y="1325563"/>
            <a:ext cx="10485563" cy="533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68101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9F064-8570-D5D9-85D1-886C4B264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Domain Focus Areas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D7AE79-05B2-7628-3B29-4C85093C5C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72357" y="2125626"/>
            <a:ext cx="6187380" cy="33688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8A2B0F-EF9F-6F3C-DB22-07CB07E74E85}"/>
              </a:ext>
            </a:extLst>
          </p:cNvPr>
          <p:cNvSpPr txBox="1"/>
          <p:nvPr/>
        </p:nvSpPr>
        <p:spPr>
          <a:xfrm>
            <a:off x="260431" y="1478280"/>
            <a:ext cx="476194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Enterprise Focus</a:t>
            </a:r>
            <a:r>
              <a:rPr lang="en-US" sz="2000" dirty="0"/>
              <a:t>—serves as the focal point for concerns of the organization(s) undertaking the mission and include the Enterprise Architecture </a:t>
            </a:r>
          </a:p>
          <a:p>
            <a:r>
              <a:rPr lang="en-US" sz="2000" b="1" dirty="0"/>
              <a:t>Design Focus</a:t>
            </a:r>
            <a:r>
              <a:rPr lang="en-US" sz="2000" dirty="0"/>
              <a:t>—the focal point for design concerns including infrastructure and technologies that enable the mission</a:t>
            </a:r>
          </a:p>
          <a:p>
            <a:r>
              <a:rPr lang="en-US" sz="2000" b="1" dirty="0"/>
              <a:t>User Focus</a:t>
            </a:r>
            <a:r>
              <a:rPr lang="en-US" sz="2000" dirty="0"/>
              <a:t>—the focal point for all aspects of the user/customer experience including ongoing operations and continuous delivery of capabilities</a:t>
            </a:r>
          </a:p>
          <a:p>
            <a:r>
              <a:rPr lang="en-US" sz="2000" b="1" dirty="0"/>
              <a:t>Implementation Focus</a:t>
            </a:r>
            <a:r>
              <a:rPr lang="en-US" sz="2000" dirty="0"/>
              <a:t>—the focal point for all activities and infrastructure needed to turn a design into a product, including procurement, manufacturing, and testing</a:t>
            </a:r>
          </a:p>
        </p:txBody>
      </p:sp>
    </p:spTree>
    <p:extLst>
      <p:ext uri="{BB962C8B-B14F-4D97-AF65-F5344CB8AC3E}">
        <p14:creationId xmlns:p14="http://schemas.microsoft.com/office/powerpoint/2010/main" val="42752679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EA2D6-3CBB-E463-3061-2DCCEFB64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CF48E-7133-72D4-5447-3FDAADEFF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LMF System Domain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2D8D95-F617-CD77-DD55-C1E0ECFAD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833" y="1690688"/>
            <a:ext cx="5547167" cy="4351338"/>
          </a:xfrm>
        </p:spPr>
        <p:txBody>
          <a:bodyPr/>
          <a:lstStyle/>
          <a:p>
            <a:r>
              <a:rPr lang="en-US" dirty="0"/>
              <a:t>Completed </a:t>
            </a:r>
            <a:r>
              <a:rPr lang="en-US" i="1" dirty="0"/>
              <a:t>after </a:t>
            </a:r>
            <a:r>
              <a:rPr lang="en-US" dirty="0"/>
              <a:t>the Value Domain</a:t>
            </a:r>
          </a:p>
          <a:p>
            <a:r>
              <a:rPr lang="en-US" dirty="0"/>
              <a:t>Provides the context for all SE processes needed to turn the stakeholders needs into capabilities that </a:t>
            </a:r>
            <a:r>
              <a:rPr lang="en-US" b="1" dirty="0"/>
              <a:t>deliver value</a:t>
            </a:r>
          </a:p>
          <a:p>
            <a:r>
              <a:rPr lang="en-US" dirty="0"/>
              <a:t>This includes designing, building, testing, and delivering all </a:t>
            </a:r>
            <a:r>
              <a:rPr lang="en-US" b="1" dirty="0"/>
              <a:t>systems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E2BEF0-D0AB-A547-8DFE-4A288B4B7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960" y="1579563"/>
            <a:ext cx="52959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9115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A4D53-6DAC-06AE-4C27-8D2B7D1C4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Domain Viewpoints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FDF0F-2469-F57C-DEB5-A3BE142935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b="1" dirty="0"/>
              <a:t>Opportunity Viewpoint</a:t>
            </a:r>
            <a:r>
              <a:rPr lang="en-US" sz="2400" dirty="0"/>
              <a:t>—looks at the situation from the standpoint of </a:t>
            </a:r>
            <a:r>
              <a:rPr lang="en-US" sz="2400" b="1" dirty="0"/>
              <a:t>what</a:t>
            </a:r>
            <a:r>
              <a:rPr lang="en-US" sz="2400" dirty="0"/>
              <a:t> opportunities does the enterprise have or what problems need to be solved</a:t>
            </a:r>
          </a:p>
          <a:p>
            <a:r>
              <a:rPr lang="en-US" sz="2400" b="1" dirty="0"/>
              <a:t>Solution Viewpoint</a:t>
            </a:r>
            <a:r>
              <a:rPr lang="en-US" sz="2400" dirty="0"/>
              <a:t>—examines and determine solutions to the problem defined by the opportunity viewpoint</a:t>
            </a:r>
          </a:p>
          <a:p>
            <a:r>
              <a:rPr lang="en-US" sz="2400" b="1" dirty="0"/>
              <a:t>Execution Viewpoint</a:t>
            </a:r>
            <a:r>
              <a:rPr lang="en-US" sz="2400" dirty="0"/>
              <a:t>—includes the practical, programmatic, and enterprise efforts needed to turn the solution perspective into reality</a:t>
            </a:r>
          </a:p>
          <a:p>
            <a:r>
              <a:rPr lang="en-US" sz="2400" b="1" dirty="0"/>
              <a:t>DevOps Viewpoint</a:t>
            </a:r>
            <a:r>
              <a:rPr lang="en-US" sz="2400" dirty="0"/>
              <a:t>—leverages the capabilities supplied by the execution viewpoint to implement the envisioned solution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F004E5E-8EB7-2006-445A-B2CA861D9B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0" y="1690688"/>
            <a:ext cx="5788634" cy="393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9760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0DE20-3630-5ABE-E953-D359A34DE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Domain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59826-FC4E-9077-4F9A-5FE90514CC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8351" y="1699236"/>
            <a:ext cx="5181600" cy="4351338"/>
          </a:xfrm>
        </p:spPr>
        <p:txBody>
          <a:bodyPr>
            <a:normAutofit lnSpcReduction="10000"/>
          </a:bodyPr>
          <a:lstStyle/>
          <a:p>
            <a:pPr lvl="1"/>
            <a:r>
              <a:rPr lang="en-US" sz="2300" dirty="0"/>
              <a:t>Opportunity Viewpoint Evidence</a:t>
            </a:r>
          </a:p>
          <a:p>
            <a:pPr lvl="2"/>
            <a:r>
              <a:rPr lang="en-US" dirty="0"/>
              <a:t>Scope Model</a:t>
            </a:r>
          </a:p>
          <a:p>
            <a:pPr lvl="2"/>
            <a:r>
              <a:rPr lang="en-US" dirty="0"/>
              <a:t>Requirements Model</a:t>
            </a:r>
          </a:p>
          <a:p>
            <a:pPr lvl="1"/>
            <a:r>
              <a:rPr lang="en-US" sz="2300" dirty="0"/>
              <a:t>Solution Viewpoint Evidence</a:t>
            </a:r>
          </a:p>
          <a:p>
            <a:pPr lvl="2"/>
            <a:r>
              <a:rPr lang="en-US" dirty="0"/>
              <a:t>Design solution analyses models</a:t>
            </a:r>
          </a:p>
          <a:p>
            <a:pPr lvl="2"/>
            <a:r>
              <a:rPr lang="en-US" dirty="0"/>
              <a:t>Detailed Functional and Physical Architecture Models</a:t>
            </a:r>
          </a:p>
          <a:p>
            <a:pPr lvl="1"/>
            <a:r>
              <a:rPr lang="en-US" sz="2300" dirty="0"/>
              <a:t>Execution Viewpoint Evidence</a:t>
            </a:r>
          </a:p>
          <a:p>
            <a:pPr lvl="2"/>
            <a:r>
              <a:rPr lang="en-US" dirty="0"/>
              <a:t>Cost and Schedule Models</a:t>
            </a:r>
          </a:p>
          <a:p>
            <a:pPr lvl="2"/>
            <a:r>
              <a:rPr lang="en-US" dirty="0"/>
              <a:t>Risk Models</a:t>
            </a:r>
          </a:p>
          <a:p>
            <a:pPr lvl="1"/>
            <a:r>
              <a:rPr lang="en-US" sz="2300" dirty="0"/>
              <a:t>DevOps Viewpoint Evidence</a:t>
            </a:r>
          </a:p>
          <a:p>
            <a:pPr lvl="2"/>
            <a:r>
              <a:rPr lang="en-US" dirty="0"/>
              <a:t>V&amp;V Planning Models</a:t>
            </a:r>
          </a:p>
          <a:p>
            <a:pPr lvl="2"/>
            <a:r>
              <a:rPr lang="en-US" dirty="0" err="1"/>
              <a:t>ConOps</a:t>
            </a:r>
            <a:r>
              <a:rPr lang="en-US" dirty="0"/>
              <a:t> Models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18FD1D-4E70-F7B4-A488-1C7D0BAB19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82051" y="1690688"/>
            <a:ext cx="43618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88704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E7B1FE-29F9-4DE9-B1EB-6CA16ED5D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54" y="765810"/>
            <a:ext cx="11889584" cy="556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21476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EE761-1EB3-5A67-B000-F0CA00305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Systems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13CDF-A226-AB19-0380-89366A068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51585" cy="4351338"/>
          </a:xfrm>
        </p:spPr>
        <p:txBody>
          <a:bodyPr/>
          <a:lstStyle/>
          <a:p>
            <a:r>
              <a:rPr lang="en-US" dirty="0"/>
              <a:t>Answers the question “What is the system?”</a:t>
            </a:r>
          </a:p>
          <a:p>
            <a:endParaRPr lang="en-US" dirty="0"/>
          </a:p>
          <a:p>
            <a:r>
              <a:rPr lang="en-US" dirty="0"/>
              <a:t>This physical architecture connects top-down </a:t>
            </a:r>
            <a:r>
              <a:rPr lang="en-US" b="1" dirty="0"/>
              <a:t>System</a:t>
            </a:r>
            <a:r>
              <a:rPr lang="en-US" dirty="0"/>
              <a:t> </a:t>
            </a:r>
            <a:r>
              <a:rPr lang="en-US" b="1" dirty="0"/>
              <a:t>Design</a:t>
            </a:r>
            <a:r>
              <a:rPr lang="en-US" dirty="0"/>
              <a:t> to bottom-up </a:t>
            </a:r>
            <a:r>
              <a:rPr lang="en-US" b="1" dirty="0"/>
              <a:t>System</a:t>
            </a:r>
            <a:r>
              <a:rPr lang="en-US" dirty="0"/>
              <a:t> </a:t>
            </a:r>
            <a:r>
              <a:rPr lang="en-US" b="1" dirty="0"/>
              <a:t>Implementation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0D8D26-B05A-BB62-7901-3979B2DD1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819" y="1690688"/>
            <a:ext cx="30099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9430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897FD-2394-AFEB-4FDB-FD81D64BD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Value Stream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B8E46-B982-E761-20CF-32213B9DC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3557954" cy="4667250"/>
          </a:xfrm>
        </p:spPr>
        <p:txBody>
          <a:bodyPr>
            <a:normAutofit fontScale="92500"/>
          </a:bodyPr>
          <a:lstStyle/>
          <a:p>
            <a:r>
              <a:rPr lang="en-US" dirty="0"/>
              <a:t>Answers the question “What does the system together with the enterprise do?” </a:t>
            </a:r>
          </a:p>
          <a:p>
            <a:endParaRPr lang="en-US" dirty="0"/>
          </a:p>
          <a:p>
            <a:r>
              <a:rPr lang="en-US" dirty="0"/>
              <a:t>This functional architecture connects the Enterprise to the Users and defines the </a:t>
            </a:r>
            <a:r>
              <a:rPr lang="en-US" b="1" dirty="0"/>
              <a:t>sequence of capabilities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9D80A1-B054-7962-DCA8-02237B20D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507" y="2084377"/>
            <a:ext cx="7772400" cy="313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464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63521-DC36-7CC7-95AA-FAD5E1DC2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LMF Approach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83410B26-50AB-FAD3-3155-66F9016FCB4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57187" y="1845426"/>
            <a:ext cx="9674573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33186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E10F0-72C1-E632-AE2C-AC4FD94C0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Viable Model (MVM)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6D300-9846-B67D-5BA7-1B3A38977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08938" cy="4351338"/>
          </a:xfrm>
        </p:spPr>
        <p:txBody>
          <a:bodyPr>
            <a:normAutofit/>
          </a:bodyPr>
          <a:lstStyle/>
          <a:p>
            <a:r>
              <a:rPr lang="en-US" sz="2400" dirty="0"/>
              <a:t>What does the system do?</a:t>
            </a:r>
          </a:p>
          <a:p>
            <a:pPr lvl="1"/>
            <a:r>
              <a:rPr lang="en-US" sz="2000" dirty="0"/>
              <a:t>Detailed Functional Architectures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What is the system?</a:t>
            </a:r>
          </a:p>
          <a:p>
            <a:pPr lvl="1"/>
            <a:r>
              <a:rPr lang="en-US" sz="2000" dirty="0"/>
              <a:t>Detailed Physical Architectures</a:t>
            </a:r>
          </a:p>
          <a:p>
            <a:pPr lvl="1"/>
            <a:r>
              <a:rPr lang="en-US" sz="2000" dirty="0"/>
              <a:t>Interface Architecture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D8F5B5-51A5-D462-C382-90E421E64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470880"/>
            <a:ext cx="6394938" cy="228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82358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736E3-874D-DD1C-259B-2F529FD09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7AF5A-D449-194C-6E5C-3D5F19115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00767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21111-7277-7F59-E141-B5FCBC421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LML Asset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5F15E-424B-AA5A-B954-4B2C9665A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897" y="1652587"/>
            <a:ext cx="5491317" cy="3552825"/>
          </a:xfrm>
        </p:spPr>
        <p:txBody>
          <a:bodyPr>
            <a:normAutofit/>
          </a:bodyPr>
          <a:lstStyle/>
          <a:p>
            <a:pPr algn="l" rtl="0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Shows the structural composition of a system and item flow between the components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3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400" b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Connection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- specifies the means for relating </a:t>
            </a:r>
            <a:r>
              <a:rPr lang="en-US" sz="24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Asset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instances to each other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3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400" b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Conduit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- specifies the means for physically transporting </a:t>
            </a:r>
            <a:r>
              <a:rPr lang="en-US" sz="24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Input/Output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entities between </a:t>
            </a:r>
            <a:r>
              <a:rPr lang="en-US" sz="24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Asset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entities.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3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400" b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Asset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- specifies an object, person, or organization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3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Resources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- specifies a consumable or producible </a:t>
            </a:r>
            <a:r>
              <a:rPr lang="en-US" sz="24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Asset</a:t>
            </a:r>
            <a:endParaRPr lang="en-US" sz="3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sz="3600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09031B-A263-F82A-7261-3B94143AC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805" y="1809903"/>
            <a:ext cx="7572375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5114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57FF6-D32B-A3C9-2F8E-FEB1B05BF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Hierarchy Diagram</a:t>
            </a:r>
          </a:p>
        </p:txBody>
      </p:sp>
      <p:pic>
        <p:nvPicPr>
          <p:cNvPr id="9" name="Content Placeholder 8" descr="A diagram of a system&#10;&#10;AI-generated content may be incorrect.">
            <a:extLst>
              <a:ext uri="{FF2B5EF4-FFF2-40B4-BE49-F238E27FC236}">
                <a16:creationId xmlns:a16="http://schemas.microsoft.com/office/drawing/2014/main" id="{93D916DC-2770-B833-7D8F-9C142C6D11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149" y="2385005"/>
            <a:ext cx="7127950" cy="2087985"/>
          </a:xfr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B9CC7AF-93FF-9C07-ADC0-03018ACBB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5026" y="1616176"/>
            <a:ext cx="4594123" cy="362564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Shows the high-level system architecture</a:t>
            </a:r>
          </a:p>
          <a:p>
            <a:r>
              <a:rPr lang="en-US" dirty="0"/>
              <a:t>Simplifies complex systems by showing very basic relationship</a:t>
            </a:r>
          </a:p>
          <a:p>
            <a:r>
              <a:rPr lang="en-US" dirty="0"/>
              <a:t>Easy to read and understand</a:t>
            </a:r>
          </a:p>
          <a:p>
            <a:r>
              <a:rPr lang="en-US" dirty="0"/>
              <a:t>Most general element is typically at the top</a:t>
            </a:r>
          </a:p>
        </p:txBody>
      </p:sp>
    </p:spTree>
    <p:extLst>
      <p:ext uri="{BB962C8B-B14F-4D97-AF65-F5344CB8AC3E}">
        <p14:creationId xmlns:p14="http://schemas.microsoft.com/office/powerpoint/2010/main" val="341077315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E86C3-DCA6-13E0-3DC0-1D1EF3F94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Diagram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B11505-1E12-3642-8D9F-31908ED6CC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934" y="2085426"/>
            <a:ext cx="5867400" cy="3386873"/>
          </a:xfr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1C79D93-1A91-6871-7AFA-4FBA96301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8600" y="1918911"/>
            <a:ext cx="5867400" cy="4573964"/>
          </a:xfrm>
        </p:spPr>
        <p:txBody>
          <a:bodyPr>
            <a:normAutofit/>
          </a:bodyPr>
          <a:lstStyle/>
          <a:p>
            <a:r>
              <a:rPr lang="en-US" dirty="0"/>
              <a:t>Communicates high-level system structure of classes for a particular </a:t>
            </a:r>
            <a:r>
              <a:rPr lang="en-US" i="1" dirty="0"/>
              <a:t>Asset</a:t>
            </a:r>
          </a:p>
          <a:p>
            <a:endParaRPr lang="en-US" i="1" dirty="0"/>
          </a:p>
          <a:p>
            <a:r>
              <a:rPr lang="en-US" dirty="0"/>
              <a:t>Can show attributes and operations</a:t>
            </a:r>
          </a:p>
          <a:p>
            <a:endParaRPr lang="en-US" dirty="0"/>
          </a:p>
          <a:p>
            <a:r>
              <a:rPr lang="en-US" dirty="0"/>
              <a:t>Not concerned with interactions between components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13410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0F1D8-55C7-9128-177A-02CD33E2E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I2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5567362-886A-9256-F3F0-214EEEA4657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250" y="1143000"/>
            <a:ext cx="5219700" cy="5219700"/>
          </a:xfr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405C78C-6D18-811E-4BAF-C39B9864B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7000" y="2042652"/>
            <a:ext cx="4815348" cy="4815348"/>
          </a:xfrm>
          <a:prstGeom prst="rect">
            <a:avLst/>
          </a:prstGeom>
        </p:spPr>
      </p:pic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640E75E-666E-BD98-9A5F-B057118377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299" y="1669025"/>
            <a:ext cx="4461387" cy="446138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11D826-6345-4CE0-4484-061497F6A8A4}"/>
              </a:ext>
            </a:extLst>
          </p:cNvPr>
          <p:cNvSpPr txBox="1"/>
          <p:nvPr/>
        </p:nvSpPr>
        <p:spPr>
          <a:xfrm>
            <a:off x="476250" y="1342105"/>
            <a:ext cx="56197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Focused on information exchange between components to enhance understanding of interdependencies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Rows and columns represent different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Shows potential communication channels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Facilitates communication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Identifies communication bottlenecks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787098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36AAC-0273-2972-2E6B-DCF6C8DC2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I/O Diagram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8EB836-0922-B6C7-0572-12701A3B695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258" y="1554774"/>
            <a:ext cx="6789847" cy="429782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26291A-C09E-DF03-F8D7-ABFABB099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4858" y="1093838"/>
            <a:ext cx="5867400" cy="5219700"/>
          </a:xfrm>
        </p:spPr>
        <p:txBody>
          <a:bodyPr/>
          <a:lstStyle/>
          <a:p>
            <a:r>
              <a:rPr lang="en-US" dirty="0"/>
              <a:t>Shows physical connections, interactions, and information exchange</a:t>
            </a:r>
          </a:p>
          <a:p>
            <a:endParaRPr lang="en-US" dirty="0"/>
          </a:p>
          <a:p>
            <a:r>
              <a:rPr lang="en-US" dirty="0"/>
              <a:t>Provides clarity of information flow</a:t>
            </a:r>
          </a:p>
          <a:p>
            <a:endParaRPr lang="en-US" dirty="0"/>
          </a:p>
          <a:p>
            <a:r>
              <a:rPr lang="en-US" dirty="0"/>
              <a:t>Represents input/outputs between components</a:t>
            </a:r>
          </a:p>
        </p:txBody>
      </p:sp>
    </p:spTree>
    <p:extLst>
      <p:ext uri="{BB962C8B-B14F-4D97-AF65-F5344CB8AC3E}">
        <p14:creationId xmlns:p14="http://schemas.microsoft.com/office/powerpoint/2010/main" val="20996091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60C6D-F176-0B6F-8B7C-C97055B72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5 Lab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F0AEF-1715-D774-6F7E-C3CD7A176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an Asset Diagram</a:t>
            </a:r>
          </a:p>
          <a:p>
            <a:r>
              <a:rPr lang="en-US" dirty="0"/>
              <a:t>Create a Hierarchy Diagram</a:t>
            </a:r>
          </a:p>
          <a:p>
            <a:r>
              <a:rPr lang="en-US" dirty="0"/>
              <a:t>Create a Layer Diagram</a:t>
            </a:r>
          </a:p>
          <a:p>
            <a:r>
              <a:rPr lang="en-US" dirty="0"/>
              <a:t>Create a Risk Matrix</a:t>
            </a:r>
          </a:p>
          <a:p>
            <a:r>
              <a:rPr lang="en-US" dirty="0"/>
              <a:t>See the relationships created between Assets and other entities</a:t>
            </a:r>
          </a:p>
        </p:txBody>
      </p:sp>
    </p:spTree>
    <p:extLst>
      <p:ext uri="{BB962C8B-B14F-4D97-AF65-F5344CB8AC3E}">
        <p14:creationId xmlns:p14="http://schemas.microsoft.com/office/powerpoint/2010/main" val="47957517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592F2-CE7E-02D6-DEF7-D0DED2C70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F4889-54B1-2DBD-C25A-8BEE83599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5674458" cy="2852737"/>
          </a:xfrm>
        </p:spPr>
        <p:txBody>
          <a:bodyPr/>
          <a:lstStyle/>
          <a:p>
            <a:r>
              <a:rPr lang="en-US" dirty="0"/>
              <a:t>Functional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C98427-80CF-25B1-986C-D880B7205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712" y="1519133"/>
            <a:ext cx="6832350" cy="381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31451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21E8CF-A497-4D39-8EEB-974823916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Use Case Diagram Purpose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F43DE2-84B5-4F4C-8D00-E338B820D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1143000"/>
            <a:ext cx="4785745" cy="52197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Use Case Diagrams capture the high-level functions of a system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Use cases refine stakeholder needs</a:t>
            </a:r>
          </a:p>
          <a:p>
            <a:r>
              <a:rPr lang="en-US" dirty="0"/>
              <a:t>Often created early in the MBSE process to begin the functional decomposition of the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D76972-80C4-96D8-EA08-8C8A8CF67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713" y="1491417"/>
            <a:ext cx="6038894" cy="42386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308330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F8343-ADC0-44A5-AD06-CD8DA1A0F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CE4B38-B5D0-4ED4-890D-A911B1896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05668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Use Cases represent the high-level, user-facing, behaviors of the system.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Use Cases should be written as short, verb phrases</a:t>
            </a:r>
          </a:p>
          <a:p>
            <a:r>
              <a:rPr lang="en-US" dirty="0"/>
              <a:t>Use Cases should be traced back to the stakeholder needs using the Refine relationship of Requirements.</a:t>
            </a:r>
          </a:p>
          <a:p>
            <a:r>
              <a:rPr lang="en-US" dirty="0"/>
              <a:t>Use Cases are often decomposed into behavior diagrams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3" name="Picture 2" descr="A white oval with black text&#10;&#10;AI-generated content may be incorrect.">
            <a:extLst>
              <a:ext uri="{FF2B5EF4-FFF2-40B4-BE49-F238E27FC236}">
                <a16:creationId xmlns:a16="http://schemas.microsoft.com/office/drawing/2014/main" id="{F98D199C-59F9-AB75-E03F-0F073EE02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570" y="2852528"/>
            <a:ext cx="4088541" cy="208229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446509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7E752-112D-4A5B-8897-2BA57626A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0"/>
            <a:ext cx="10134599" cy="952500"/>
          </a:xfrm>
        </p:spPr>
        <p:txBody>
          <a:bodyPr anchor="ctr">
            <a:normAutofit/>
          </a:bodyPr>
          <a:lstStyle/>
          <a:p>
            <a:r>
              <a:rPr lang="en-US" dirty="0"/>
              <a:t>Actors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4D995-08E6-482D-BB07-AD371592B8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1143000"/>
            <a:ext cx="5867400" cy="52197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/>
              <a:t>Actors represent the stakeholders and external entities that will act upon the system.</a:t>
            </a:r>
          </a:p>
          <a:p>
            <a:r>
              <a:rPr lang="en-US" sz="2600" dirty="0"/>
              <a:t>Actors are represented by stick figures but can be non-human entities.</a:t>
            </a:r>
            <a:endParaRPr lang="en-US" sz="2600" dirty="0">
              <a:ea typeface="Calibri"/>
              <a:cs typeface="Calibri"/>
            </a:endParaRPr>
          </a:p>
          <a:p>
            <a:endParaRPr lang="en-US" sz="2600" dirty="0">
              <a:ea typeface="Calibri"/>
              <a:cs typeface="Calibri"/>
            </a:endParaRPr>
          </a:p>
          <a:p>
            <a:pPr lvl="1"/>
            <a:endParaRPr lang="en-US" sz="2600" dirty="0">
              <a:ea typeface="Calibri"/>
              <a:cs typeface="Calibri"/>
            </a:endParaRPr>
          </a:p>
          <a:p>
            <a:pPr lvl="1"/>
            <a:endParaRPr lang="en-US" sz="2600"/>
          </a:p>
        </p:txBody>
      </p:sp>
      <p:pic>
        <p:nvPicPr>
          <p:cNvPr id="3" name="Picture 2" descr="A blue cross with black lines&#10;&#10;AI-generated content may be incorrect.">
            <a:extLst>
              <a:ext uri="{FF2B5EF4-FFF2-40B4-BE49-F238E27FC236}">
                <a16:creationId xmlns:a16="http://schemas.microsoft.com/office/drawing/2014/main" id="{1F5E0C30-ED3E-0D0D-FCD1-AC2AE5AFA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617" y="1783644"/>
            <a:ext cx="2386471" cy="404847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425770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F7E7A-1E3D-42D6-B52E-A66980C9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0"/>
            <a:ext cx="10134599" cy="952500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System Boundaries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47C98-1F26-4067-BC50-3F45496B1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1143000"/>
            <a:ext cx="5867400" cy="52197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System boundaries represent a delineation between external actors and the internal use cases.</a:t>
            </a:r>
          </a:p>
          <a:p>
            <a:r>
              <a:rPr lang="en-US" dirty="0"/>
              <a:t>Use Cases should be placed inside the shape of the system boundary and the actors should be place around the border.</a:t>
            </a:r>
          </a:p>
        </p:txBody>
      </p:sp>
      <p:pic>
        <p:nvPicPr>
          <p:cNvPr id="6" name="Content Placeholder 5" descr="A diagram of a phone context&#10;&#10;AI-generated content may be incorrect.">
            <a:extLst>
              <a:ext uri="{FF2B5EF4-FFF2-40B4-BE49-F238E27FC236}">
                <a16:creationId xmlns:a16="http://schemas.microsoft.com/office/drawing/2014/main" id="{D6F7FF6E-D400-52E5-B97E-EAA10857C6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79097" y="1317879"/>
            <a:ext cx="5867400" cy="4869941"/>
          </a:xfr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585614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AC25F-27D3-4C8F-B22C-3CC18A578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BF5B3-8BBB-4C1D-A5AE-54E284B4EA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399" y="1143000"/>
            <a:ext cx="11887199" cy="21594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 Cases are related to Actors through Association relationships.</a:t>
            </a:r>
          </a:p>
          <a:p>
            <a:r>
              <a:rPr lang="en-US" dirty="0"/>
              <a:t>Associations denote which use cases an actor is able to invoke on the system.</a:t>
            </a:r>
          </a:p>
          <a:p>
            <a:r>
              <a:rPr lang="en-US" dirty="0"/>
              <a:t>Actors can be associated with any number of use cases and use cases can be associated to any number of actors.</a:t>
            </a:r>
          </a:p>
        </p:txBody>
      </p:sp>
      <p:pic>
        <p:nvPicPr>
          <p:cNvPr id="7" name="Picture 6" descr="A white oval with a black arrow pointing to a white oval&#10;&#10;AI-generated content may be incorrect.">
            <a:extLst>
              <a:ext uri="{FF2B5EF4-FFF2-40B4-BE49-F238E27FC236}">
                <a16:creationId xmlns:a16="http://schemas.microsoft.com/office/drawing/2014/main" id="{67E820D2-998E-AC37-443C-8EE6D397E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497" y="3425537"/>
            <a:ext cx="8453004" cy="23622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220575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92807-1561-4C35-97BA-D8474349E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Includes and Extends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2D115-3A0E-45E3-B4F5-26A2DDCB02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Includes</a:t>
            </a:r>
          </a:p>
          <a:p>
            <a:pPr lvl="1"/>
            <a:r>
              <a:rPr lang="en-US" dirty="0"/>
              <a:t>The includes relationship shows that one use case will include the steps of another use case.</a:t>
            </a:r>
          </a:p>
          <a:p>
            <a:pPr lvl="1"/>
            <a:r>
              <a:rPr lang="en-US" dirty="0"/>
              <a:t>Whenever the base use case executes, the included use case must execute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1F519-965E-4178-A25E-7B5CE81B54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Extends</a:t>
            </a:r>
          </a:p>
          <a:p>
            <a:pPr lvl="1"/>
            <a:r>
              <a:rPr lang="en-US" dirty="0"/>
              <a:t>The extends relationship shows that one use case can extend another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/>
              <a:t>When the base use case executes, the extended use case may or may not execute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5" name="Picture 4" descr="A diagram of a flowchart&#10;&#10;AI-generated content may be incorrect.">
            <a:extLst>
              <a:ext uri="{FF2B5EF4-FFF2-40B4-BE49-F238E27FC236}">
                <a16:creationId xmlns:a16="http://schemas.microsoft.com/office/drawing/2014/main" id="{82DC099C-22E3-D6C4-98BE-F586AC6D1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761" y="3429866"/>
            <a:ext cx="4705350" cy="26860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A diagram of a phone&#10;&#10;AI-generated content may be incorrect.">
            <a:extLst>
              <a:ext uri="{FF2B5EF4-FFF2-40B4-BE49-F238E27FC236}">
                <a16:creationId xmlns:a16="http://schemas.microsoft.com/office/drawing/2014/main" id="{A4E59FC4-30BB-87F9-27A6-A7DF6FCB9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466" y="3431229"/>
            <a:ext cx="4548897" cy="267875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0010375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3D88D-51B3-492C-7734-4EDBC1D00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LML Constructs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05481-5E64-E981-B463-592593AA4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Sequential </a:t>
            </a:r>
          </a:p>
          <a:p>
            <a:endParaRPr lang="en-US" dirty="0"/>
          </a:p>
          <a:p>
            <a:r>
              <a:rPr lang="en-US" dirty="0"/>
              <a:t>Parallel </a:t>
            </a:r>
          </a:p>
          <a:p>
            <a:endParaRPr lang="en-US" dirty="0"/>
          </a:p>
          <a:p>
            <a:r>
              <a:rPr lang="en-US" dirty="0"/>
              <a:t>Selection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Loop</a:t>
            </a:r>
          </a:p>
          <a:p>
            <a:endParaRPr lang="en-US" dirty="0"/>
          </a:p>
          <a:p>
            <a:r>
              <a:rPr lang="en-US" b="1" dirty="0"/>
              <a:t>Synchronization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EEB88-B7FB-BE0E-6D73-014CF53A9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44869"/>
            <a:ext cx="45085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3795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66595-5838-34D6-12AA-648D33706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LML Action Diagram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26D759-5399-C0BF-3A9F-9C512D584F13}"/>
              </a:ext>
            </a:extLst>
          </p:cNvPr>
          <p:cNvSpPr txBox="1"/>
          <p:nvPr/>
        </p:nvSpPr>
        <p:spPr>
          <a:xfrm>
            <a:off x="428017" y="1506119"/>
            <a:ext cx="612842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Shows functional flow (i.e., behavior)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Uses the following classes: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Action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(rounded rectangle) - specifies the mechanism by which inputs are transformed into outputs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Input/Output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(parallelogram) - specifies the information, data, or object input to, trigger, or output from an </a:t>
            </a:r>
            <a:r>
              <a:rPr lang="en-US" sz="24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Action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Resource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(hexagon) - specifies a consumable or producible </a:t>
            </a:r>
            <a:r>
              <a:rPr lang="en-US" sz="24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Asset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50E44A-53A1-5D31-9676-152F7DF2B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016" y="1506119"/>
            <a:ext cx="5090967" cy="440675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023534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68DE3-079D-DB87-12F7-814BB09A2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in LML Action Diagrams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795BB2-B460-67E4-42F6-7E6553A13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35" y="3158657"/>
            <a:ext cx="10820130" cy="296129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13D6E2-B324-E0C4-7799-D1A94E09E1F6}"/>
              </a:ext>
            </a:extLst>
          </p:cNvPr>
          <p:cNvSpPr txBox="1"/>
          <p:nvPr/>
        </p:nvSpPr>
        <p:spPr>
          <a:xfrm>
            <a:off x="525828" y="1363081"/>
            <a:ext cx="70165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Seizes</a:t>
            </a:r>
            <a:r>
              <a:rPr lang="en-US" sz="2800" dirty="0"/>
              <a:t> - between resources and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Consumes</a:t>
            </a:r>
            <a:r>
              <a:rPr lang="en-US" sz="2800" dirty="0"/>
              <a:t> – between resources and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Flow </a:t>
            </a:r>
            <a:r>
              <a:rPr lang="en-US" sz="2800" dirty="0"/>
              <a:t>– between actions</a:t>
            </a:r>
          </a:p>
        </p:txBody>
      </p:sp>
    </p:spTree>
    <p:extLst>
      <p:ext uri="{BB962C8B-B14F-4D97-AF65-F5344CB8AC3E}">
        <p14:creationId xmlns:p14="http://schemas.microsoft.com/office/powerpoint/2010/main" val="14424807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7DFD5-204C-D769-C841-88EC11F6C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N2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D97A9-994D-4FED-C1A8-295BC4CA63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Provides a visual representation of system interactions</a:t>
            </a:r>
          </a:p>
          <a:p>
            <a:endParaRPr lang="en-US" dirty="0"/>
          </a:p>
          <a:p>
            <a:r>
              <a:rPr lang="en-US" dirty="0"/>
              <a:t>Rows and columns list the same system components</a:t>
            </a:r>
          </a:p>
          <a:p>
            <a:endParaRPr lang="en-US" dirty="0"/>
          </a:p>
          <a:p>
            <a:r>
              <a:rPr lang="en-US" dirty="0"/>
              <a:t>Intersection cells show how components interact</a:t>
            </a:r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F364A69-4974-E543-D4DF-129E9D34EA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467" y="1701124"/>
            <a:ext cx="3927239" cy="3927239"/>
          </a:xfr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611160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C2E1-C668-C4F0-EE61-5B4AD8712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LML Constructs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E2CA7-109D-507D-4B88-5DE8FE345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5672668" cy="5213350"/>
          </a:xfrm>
        </p:spPr>
        <p:txBody>
          <a:bodyPr/>
          <a:lstStyle/>
          <a:p>
            <a:r>
              <a:rPr lang="en-US" dirty="0"/>
              <a:t>All actions are rectangles</a:t>
            </a:r>
          </a:p>
          <a:p>
            <a:endParaRPr lang="en-US" dirty="0"/>
          </a:p>
          <a:p>
            <a:r>
              <a:rPr lang="en-US" dirty="0"/>
              <a:t>Specialized actions (i.e., constructs) have a diamond overlay</a:t>
            </a:r>
          </a:p>
          <a:p>
            <a:pPr lvl="1"/>
            <a:r>
              <a:rPr lang="en-US" dirty="0"/>
              <a:t>Allows easy identification of decision points</a:t>
            </a:r>
          </a:p>
          <a:p>
            <a:pPr lvl="1"/>
            <a:r>
              <a:rPr lang="en-US" dirty="0"/>
              <a:t>Can allocate these decision points to the performer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0E5D45-DB08-66E6-07C1-16FC59AEB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288" y="1143000"/>
            <a:ext cx="4337845" cy="504128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253394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3503A-EED9-5BFD-0FA2-699B506A1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6FBAE-3DC1-84D0-2D91-266977DCC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3922890" cy="5213350"/>
          </a:xfrm>
        </p:spPr>
        <p:txBody>
          <a:bodyPr/>
          <a:lstStyle/>
          <a:p>
            <a:r>
              <a:rPr lang="en-US" dirty="0"/>
              <a:t>Requires an action to complete prior to the subsequent action</a:t>
            </a:r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D6F320-070D-3BC3-C38D-C463731C49C3}"/>
              </a:ext>
            </a:extLst>
          </p:cNvPr>
          <p:cNvGrpSpPr/>
          <p:nvPr/>
        </p:nvGrpSpPr>
        <p:grpSpPr>
          <a:xfrm>
            <a:off x="4075290" y="2023555"/>
            <a:ext cx="7665923" cy="3452240"/>
            <a:chOff x="2969961" y="1721599"/>
            <a:chExt cx="8285829" cy="405615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7789243-9E38-50C3-B935-E1E2327C6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69961" y="1721599"/>
              <a:ext cx="8285829" cy="40561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C5E05193-1079-D205-0BFD-9A054DB5089B}"/>
                </a:ext>
              </a:extLst>
            </p:cNvPr>
            <p:cNvSpPr/>
            <p:nvPr/>
          </p:nvSpPr>
          <p:spPr>
            <a:xfrm>
              <a:off x="3770489" y="3749675"/>
              <a:ext cx="2754489" cy="1262592"/>
            </a:xfrm>
            <a:prstGeom prst="roundRect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295530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F2ABF-095A-AC27-526F-85D888218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7CA97-042B-6696-B64C-3430141F8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5254488" cy="5213350"/>
          </a:xfrm>
        </p:spPr>
        <p:txBody>
          <a:bodyPr/>
          <a:lstStyle/>
          <a:p>
            <a:r>
              <a:rPr lang="en-US" dirty="0"/>
              <a:t>Actions to be performed in parallel</a:t>
            </a:r>
          </a:p>
          <a:p>
            <a:endParaRPr lang="en-US" dirty="0"/>
          </a:p>
          <a:p>
            <a:r>
              <a:rPr lang="en-US" dirty="0"/>
              <a:t>More than two branches are created</a:t>
            </a:r>
          </a:p>
          <a:p>
            <a:endParaRPr lang="en-US" dirty="0"/>
          </a:p>
          <a:p>
            <a:r>
              <a:rPr lang="en-US" dirty="0"/>
              <a:t>More than one action can be placed on a branch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D5F369-0AD6-4655-8F5B-9CA256FA8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549" y="1316279"/>
            <a:ext cx="4864354" cy="473429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8F07432-A7A5-BDCE-1989-3E094F267946}"/>
              </a:ext>
            </a:extLst>
          </p:cNvPr>
          <p:cNvSpPr/>
          <p:nvPr/>
        </p:nvSpPr>
        <p:spPr>
          <a:xfrm>
            <a:off x="7382933" y="1391477"/>
            <a:ext cx="2652889" cy="4577681"/>
          </a:xfrm>
          <a:prstGeom prst="round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72011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3499A-8478-1D97-F719-622DBFC6C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EC561-1DD8-B1A0-4930-5C45D714A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3919805" cy="5213350"/>
          </a:xfrm>
        </p:spPr>
        <p:txBody>
          <a:bodyPr/>
          <a:lstStyle/>
          <a:p>
            <a:r>
              <a:rPr lang="en-US" dirty="0"/>
              <a:t>OR node</a:t>
            </a:r>
          </a:p>
          <a:p>
            <a:endParaRPr lang="en-US" dirty="0"/>
          </a:p>
          <a:p>
            <a:r>
              <a:rPr lang="en-US" dirty="0"/>
              <a:t>Name should be a question</a:t>
            </a:r>
          </a:p>
          <a:p>
            <a:endParaRPr lang="en-US" dirty="0"/>
          </a:p>
          <a:p>
            <a:r>
              <a:rPr lang="en-US" dirty="0"/>
              <a:t>Yes/No are default conditions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294361C-ACAC-22EB-63C9-8DFEAABA5E74}"/>
              </a:ext>
            </a:extLst>
          </p:cNvPr>
          <p:cNvGrpSpPr/>
          <p:nvPr/>
        </p:nvGrpSpPr>
        <p:grpSpPr>
          <a:xfrm>
            <a:off x="3625698" y="1600634"/>
            <a:ext cx="8285829" cy="4056152"/>
            <a:chOff x="3625698" y="1600634"/>
            <a:chExt cx="8285829" cy="405615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059A4EE-517E-DD05-56C6-B9F699823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25698" y="1600634"/>
              <a:ext cx="8285829" cy="405615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F96FBECB-D495-E01D-5A93-3FDC1B7723E5}"/>
                </a:ext>
              </a:extLst>
            </p:cNvPr>
            <p:cNvSpPr/>
            <p:nvPr/>
          </p:nvSpPr>
          <p:spPr>
            <a:xfrm>
              <a:off x="7134578" y="3628710"/>
              <a:ext cx="2020711" cy="1262592"/>
            </a:xfrm>
            <a:prstGeom prst="roundRect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AF35F46-025E-F68C-00DA-65DD57B8DDB7}"/>
                </a:ext>
              </a:extLst>
            </p:cNvPr>
            <p:cNvCxnSpPr/>
            <p:nvPr/>
          </p:nvCxnSpPr>
          <p:spPr>
            <a:xfrm>
              <a:off x="7800622" y="2788356"/>
              <a:ext cx="869245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0B06492-4537-8B6A-35A0-12C4E2637251}"/>
                </a:ext>
              </a:extLst>
            </p:cNvPr>
            <p:cNvCxnSpPr/>
            <p:nvPr/>
          </p:nvCxnSpPr>
          <p:spPr>
            <a:xfrm>
              <a:off x="7800622" y="5469467"/>
              <a:ext cx="869245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2731243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A1ED6-7C22-9770-20D8-72483E67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85F3E-EB8C-245A-37FE-8DA963FD0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4697897" cy="5213350"/>
          </a:xfrm>
        </p:spPr>
        <p:txBody>
          <a:bodyPr/>
          <a:lstStyle/>
          <a:p>
            <a:r>
              <a:rPr lang="en-US" dirty="0"/>
              <a:t>The SYNC point represents the decision on whether to wait for the completion of Action A and Action B prior to starting Action C</a:t>
            </a:r>
          </a:p>
          <a:p>
            <a:endParaRPr lang="en-US" dirty="0"/>
          </a:p>
          <a:p>
            <a:r>
              <a:rPr lang="en-US" dirty="0"/>
              <a:t>Typically occurs when Action A and Action B are performed by different entities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10DE50-9099-01B3-81A6-BEEA74262185}"/>
              </a:ext>
            </a:extLst>
          </p:cNvPr>
          <p:cNvGrpSpPr/>
          <p:nvPr/>
        </p:nvGrpSpPr>
        <p:grpSpPr>
          <a:xfrm>
            <a:off x="5034844" y="1945783"/>
            <a:ext cx="6220178" cy="3365853"/>
            <a:chOff x="5034844" y="1945783"/>
            <a:chExt cx="6220178" cy="336585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C29DF7C-7573-88EB-ADAE-7F872858C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34844" y="1945783"/>
              <a:ext cx="6220178" cy="336585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1145BAD0-5A49-0B2D-FFA9-CA8668E06771}"/>
                </a:ext>
              </a:extLst>
            </p:cNvPr>
            <p:cNvSpPr/>
            <p:nvPr/>
          </p:nvSpPr>
          <p:spPr>
            <a:xfrm>
              <a:off x="7360356" y="3118379"/>
              <a:ext cx="1794932" cy="1069799"/>
            </a:xfrm>
            <a:prstGeom prst="roundRect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6530314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E9F4F-3D96-BD29-6F1C-75AFA472F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583F6-B8FF-0A06-6EB3-57641FA88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5487348" cy="5213350"/>
          </a:xfrm>
        </p:spPr>
        <p:txBody>
          <a:bodyPr/>
          <a:lstStyle/>
          <a:p>
            <a:r>
              <a:rPr lang="en-US" dirty="0"/>
              <a:t>Represents conditions to enter and exit the LOOP</a:t>
            </a:r>
          </a:p>
          <a:p>
            <a:endParaRPr lang="en-US" dirty="0"/>
          </a:p>
          <a:p>
            <a:r>
              <a:rPr lang="en-US" dirty="0"/>
              <a:t>Can set a range for iterations or have conditional entry/exit criteria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A562CB-0476-E73B-E7CE-0FA56F332E85}"/>
              </a:ext>
            </a:extLst>
          </p:cNvPr>
          <p:cNvGrpSpPr/>
          <p:nvPr/>
        </p:nvGrpSpPr>
        <p:grpSpPr>
          <a:xfrm>
            <a:off x="6795570" y="1143000"/>
            <a:ext cx="5154456" cy="4843112"/>
            <a:chOff x="6795570" y="1143000"/>
            <a:chExt cx="5154456" cy="484311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54B363F-2342-F868-745A-F5D7CD261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95570" y="1143000"/>
              <a:ext cx="5154456" cy="484311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DF36C5A5-BAC7-5289-8BB7-176047AE9D81}"/>
                </a:ext>
              </a:extLst>
            </p:cNvPr>
            <p:cNvSpPr/>
            <p:nvPr/>
          </p:nvSpPr>
          <p:spPr>
            <a:xfrm>
              <a:off x="7352087" y="3003178"/>
              <a:ext cx="2020711" cy="1262592"/>
            </a:xfrm>
            <a:prstGeom prst="roundRect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C863BF7-7508-F70D-E182-4F6370ABC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74" y="3895973"/>
            <a:ext cx="6215621" cy="209013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079705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5562B-8304-388B-8E75-CC9CA0857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6FC72-9427-15FB-BA77-C2FE21EC0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4663820" cy="5213350"/>
          </a:xfrm>
        </p:spPr>
        <p:txBody>
          <a:bodyPr/>
          <a:lstStyle/>
          <a:p>
            <a:r>
              <a:rPr lang="en-US" dirty="0"/>
              <a:t>LML action diagrams do not contain </a:t>
            </a:r>
            <a:r>
              <a:rPr lang="en-US" dirty="0" err="1"/>
              <a:t>swimlanes</a:t>
            </a:r>
            <a:endParaRPr lang="en-US" dirty="0"/>
          </a:p>
          <a:p>
            <a:r>
              <a:rPr lang="en-US" dirty="0"/>
              <a:t>Assets </a:t>
            </a:r>
            <a:r>
              <a:rPr lang="en-US" i="1" dirty="0"/>
              <a:t>perform</a:t>
            </a:r>
            <a:r>
              <a:rPr lang="en-US" dirty="0"/>
              <a:t> actions</a:t>
            </a:r>
          </a:p>
          <a:p>
            <a:r>
              <a:rPr lang="en-US" b="1" dirty="0"/>
              <a:t>Branch Asset </a:t>
            </a:r>
            <a:r>
              <a:rPr lang="en-US" dirty="0"/>
              <a:t>can be assigned to branches</a:t>
            </a:r>
          </a:p>
          <a:p>
            <a:r>
              <a:rPr lang="en-US" dirty="0"/>
              <a:t>Relationship can be created in the entity view or a traceability matrix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E8FD3E-D925-5B43-B5F9-8D1DFCB0E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082" y="1959440"/>
            <a:ext cx="7177517" cy="358047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91778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4724F-CFEE-DA7D-6469-BADA5683E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Traceability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30A4D3-5B7D-5465-1935-0C8732B85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172" y="1454989"/>
            <a:ext cx="10141655" cy="424419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200984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55504-E24C-7264-83AE-01CC7A41F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SysML</a:t>
            </a:r>
            <a:r>
              <a:rPr lang="en-US" dirty="0"/>
              <a:t> Activity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70772-71D5-D210-76E1-DD8F95C4B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3726702" cy="5213350"/>
          </a:xfrm>
        </p:spPr>
        <p:txBody>
          <a:bodyPr/>
          <a:lstStyle/>
          <a:p>
            <a:r>
              <a:rPr lang="en-US" dirty="0"/>
              <a:t>Innoslate supports SysML activity diagrams</a:t>
            </a:r>
          </a:p>
          <a:p>
            <a:endParaRPr lang="en-US" dirty="0"/>
          </a:p>
          <a:p>
            <a:r>
              <a:rPr lang="en-US" b="1" dirty="0"/>
              <a:t>Automatically generated </a:t>
            </a:r>
            <a:r>
              <a:rPr lang="en-US" dirty="0"/>
              <a:t>based on LML Action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263D14-0760-095B-C3F1-E7824E0A5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398" y="1718332"/>
            <a:ext cx="7719102" cy="406268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754440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60703-7F4D-59AC-7CA9-6F2A862A9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 6 Lab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CFDAA-03A3-2D68-8F74-40705FA86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an LML Action Diagram</a:t>
            </a:r>
          </a:p>
          <a:p>
            <a:r>
              <a:rPr lang="en-US" dirty="0"/>
              <a:t>Represent control logic</a:t>
            </a:r>
          </a:p>
          <a:p>
            <a:r>
              <a:rPr lang="en-US" dirty="0"/>
              <a:t>Show inputs, outputs, and resources within the context of system behavior</a:t>
            </a:r>
          </a:p>
          <a:p>
            <a:r>
              <a:rPr lang="en-US" dirty="0"/>
              <a:t>Elaborate Test Case behavior</a:t>
            </a:r>
          </a:p>
          <a:p>
            <a:r>
              <a:rPr lang="en-US" dirty="0"/>
              <a:t>Create an LML Spider Diagram </a:t>
            </a:r>
          </a:p>
        </p:txBody>
      </p:sp>
    </p:spTree>
    <p:extLst>
      <p:ext uri="{BB962C8B-B14F-4D97-AF65-F5344CB8AC3E}">
        <p14:creationId xmlns:p14="http://schemas.microsoft.com/office/powerpoint/2010/main" val="407784753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4D5BE-A91A-104B-E5FD-92EB0717D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4527228" cy="2852737"/>
          </a:xfrm>
        </p:spPr>
        <p:txBody>
          <a:bodyPr/>
          <a:lstStyle/>
          <a:p>
            <a:r>
              <a:rPr lang="en-US" dirty="0"/>
              <a:t>Simulation with </a:t>
            </a:r>
            <a:r>
              <a:rPr lang="en-US" dirty="0" err="1"/>
              <a:t>Innoslate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FCDCB6-53BE-ED14-75BB-695615F00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222" y="1455809"/>
            <a:ext cx="5483578" cy="42591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041215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5D281-29E5-3535-81AE-F8DC100FC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36EC1-9090-49DE-2072-86792346D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6022623" cy="521335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Discrete Event </a:t>
            </a:r>
            <a:r>
              <a:rPr lang="en-US" dirty="0"/>
              <a:t>- specific occurrence that happens at a particular point in time, which causes a change in the state of a system</a:t>
            </a:r>
          </a:p>
          <a:p>
            <a:endParaRPr lang="en-US" dirty="0"/>
          </a:p>
          <a:p>
            <a:r>
              <a:rPr lang="en-US" b="1" dirty="0"/>
              <a:t>Monte Carlo </a:t>
            </a:r>
            <a:r>
              <a:rPr lang="en-US" dirty="0"/>
              <a:t>- a technique that uses random sampling to model and analyze complex systems or processes.</a:t>
            </a:r>
          </a:p>
          <a:p>
            <a:pPr lvl="1"/>
            <a:r>
              <a:rPr lang="en-US" dirty="0"/>
              <a:t>Each event represents one possible scenario based on random inputs, </a:t>
            </a:r>
          </a:p>
          <a:p>
            <a:pPr lvl="1"/>
            <a:r>
              <a:rPr lang="en-US" dirty="0"/>
              <a:t>Helps estimate probabilities, averages, or distributions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D8C500-E1E3-4AE1-A16A-9C0957963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878" y="2291821"/>
            <a:ext cx="3547164" cy="227435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45966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3439-63FB-CC85-AB7E-7B22833B6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Discrete Event Simulation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D338E8-4227-1FC8-19A5-DC0403A71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077" y="1210733"/>
            <a:ext cx="4337845" cy="504128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384217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49C49-F794-A1FD-2C82-DF2F8416A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Discrete Event Simulation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189C609-E1B2-BAE5-6CF9-5AFE620033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2403" y="1647825"/>
            <a:ext cx="4025169" cy="47148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44979BE-6467-34A2-835B-FAB69F56CACC}"/>
              </a:ext>
            </a:extLst>
          </p:cNvPr>
          <p:cNvSpPr/>
          <p:nvPr/>
        </p:nvSpPr>
        <p:spPr>
          <a:xfrm>
            <a:off x="914400" y="5475110"/>
            <a:ext cx="4289778" cy="903112"/>
          </a:xfrm>
          <a:prstGeom prst="round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34D6FB-21C1-016A-8DE6-081E45C58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011" y="1647825"/>
            <a:ext cx="4951589" cy="4423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312284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972BA-5D13-A63C-45C6-796893243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Discrete Event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6D1C9-1984-D642-9537-484379940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5943601" cy="5213350"/>
          </a:xfrm>
        </p:spPr>
        <p:txBody>
          <a:bodyPr/>
          <a:lstStyle/>
          <a:p>
            <a:r>
              <a:rPr lang="en-US" b="1"/>
              <a:t>Status</a:t>
            </a:r>
            <a:r>
              <a:rPr lang="en-US"/>
              <a:t> – shows which action is currently executing</a:t>
            </a:r>
          </a:p>
          <a:p>
            <a:r>
              <a:rPr lang="en-US"/>
              <a:t>Time Simulation</a:t>
            </a:r>
          </a:p>
          <a:p>
            <a:pPr lvl="1"/>
            <a:r>
              <a:rPr lang="en-US"/>
              <a:t>Default time of each action to complete is 1 hour</a:t>
            </a:r>
          </a:p>
          <a:p>
            <a:pPr lvl="1"/>
            <a:r>
              <a:rPr lang="en-US"/>
              <a:t>Evaluating long-term effects of decisions</a:t>
            </a:r>
          </a:p>
          <a:p>
            <a:r>
              <a:rPr lang="en-US"/>
              <a:t>Cost Simulation</a:t>
            </a:r>
          </a:p>
          <a:p>
            <a:pPr lvl="1"/>
            <a:r>
              <a:rPr lang="en-US"/>
              <a:t>No default cost</a:t>
            </a:r>
          </a:p>
          <a:p>
            <a:pPr lvl="1"/>
            <a:r>
              <a:rPr lang="en-US"/>
              <a:t>More informed decision-making</a:t>
            </a:r>
          </a:p>
          <a:p>
            <a:pPr lvl="1"/>
            <a:r>
              <a:rPr lang="en-US"/>
              <a:t>Budget planning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7A3744-5343-EEAE-BD6D-88FFB70CC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872" y="1344687"/>
            <a:ext cx="5345995" cy="46102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982507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3F02F-337E-7097-137B-E076D9103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Discrete Event Simulation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A2F1A-18E8-D981-05EA-56E87706B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OR Action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3151115-D422-8A8E-A0D5-FA07CFF027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2400" y="2759473"/>
            <a:ext cx="5845175" cy="24915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5EB30D-22A5-C60B-56CA-011D7458E6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LOOP Action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5AEC5A-22F4-5FD8-FB06-164B09473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40712"/>
            <a:ext cx="5943598" cy="25103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138057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9A457-41DF-FBAC-8C91-C14BFB7D5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Simulation Deadlock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6125B-7B5D-507B-3D0F-6A7FF2A7C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4950178" cy="5213350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C</a:t>
            </a:r>
            <a:r>
              <a:rPr lang="en-US" b="0" i="0">
                <a:solidFill>
                  <a:srgbClr val="000000"/>
                </a:solidFill>
                <a:effectLst/>
              </a:rPr>
              <a:t>arefully manage the relationships between </a:t>
            </a:r>
            <a:r>
              <a:rPr lang="en-US" b="0" i="1">
                <a:solidFill>
                  <a:srgbClr val="000000"/>
                </a:solidFill>
                <a:effectLst/>
              </a:rPr>
              <a:t>Actions</a:t>
            </a:r>
            <a:r>
              <a:rPr lang="en-US" b="0" i="0">
                <a:solidFill>
                  <a:srgbClr val="000000"/>
                </a:solidFill>
                <a:effectLst/>
              </a:rPr>
              <a:t>, </a:t>
            </a:r>
            <a:r>
              <a:rPr lang="en-US" b="0" i="1">
                <a:solidFill>
                  <a:srgbClr val="000000"/>
                </a:solidFill>
                <a:effectLst/>
              </a:rPr>
              <a:t>Resources, </a:t>
            </a:r>
            <a:r>
              <a:rPr lang="en-US" b="0">
                <a:solidFill>
                  <a:srgbClr val="000000"/>
                </a:solidFill>
                <a:effectLst/>
              </a:rPr>
              <a:t>and</a:t>
            </a:r>
            <a:r>
              <a:rPr lang="en-US" b="0" i="1">
                <a:solidFill>
                  <a:srgbClr val="000000"/>
                </a:solidFill>
                <a:effectLst/>
              </a:rPr>
              <a:t> Inputs/Outputs</a:t>
            </a:r>
          </a:p>
          <a:p>
            <a:endParaRPr lang="en-US" b="0" i="1">
              <a:solidFill>
                <a:srgbClr val="000000"/>
              </a:solidFill>
              <a:effectLst/>
            </a:endParaRPr>
          </a:p>
          <a:p>
            <a:r>
              <a:rPr lang="en-US">
                <a:solidFill>
                  <a:srgbClr val="000000"/>
                </a:solidFill>
              </a:rPr>
              <a:t>E</a:t>
            </a:r>
            <a:r>
              <a:rPr lang="en-US" b="0" i="0">
                <a:solidFill>
                  <a:srgbClr val="000000"/>
                </a:solidFill>
                <a:effectLst/>
              </a:rPr>
              <a:t>nsure that the correct relationships (such as produces, consumes, or seizes) are established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059801-7D8B-752E-0C05-7B570227E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032" y="2212975"/>
            <a:ext cx="6159500" cy="3073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21636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95508-AB0A-98EE-B5DC-A792449AB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Debugging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997F56A-ED27-C8D1-6072-8D8506B71ED4}"/>
              </a:ext>
            </a:extLst>
          </p:cNvPr>
          <p:cNvGrpSpPr/>
          <p:nvPr/>
        </p:nvGrpSpPr>
        <p:grpSpPr>
          <a:xfrm>
            <a:off x="1370189" y="1823467"/>
            <a:ext cx="9451622" cy="3820665"/>
            <a:chOff x="1213554" y="1518667"/>
            <a:chExt cx="9451622" cy="382066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F770A74-4359-64E3-B52F-891A2AD1E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3554" y="1518667"/>
              <a:ext cx="9451622" cy="382066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19898E58-71E7-69AD-C083-115A230F459C}"/>
                </a:ext>
              </a:extLst>
            </p:cNvPr>
            <p:cNvSpPr/>
            <p:nvPr/>
          </p:nvSpPr>
          <p:spPr>
            <a:xfrm>
              <a:off x="6287911" y="1614311"/>
              <a:ext cx="3567289" cy="1814688"/>
            </a:xfrm>
            <a:prstGeom prst="roundRect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051732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54CB4-1A90-9731-F62C-CDF6690A7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Additional Simulations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47D2FD-930D-ABF4-16BD-A33BBBE1D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1131711"/>
            <a:ext cx="2638989" cy="52133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D93516-403C-4649-B4B8-C7F86ED6B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650" y="1406525"/>
            <a:ext cx="3060700" cy="46863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3C107C-8DE7-6315-F684-672304CB7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8761" y="1131711"/>
            <a:ext cx="2638989" cy="52232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6919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</TotalTime>
  <Words>3333</Words>
  <Application>Microsoft Macintosh PowerPoint</Application>
  <PresentationFormat>Widescreen</PresentationFormat>
  <Paragraphs>549</Paragraphs>
  <Slides>113</Slides>
  <Notes>4</Notes>
  <HiddenSlides>6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113</vt:i4>
      </vt:variant>
    </vt:vector>
  </HeadingPairs>
  <TitlesOfParts>
    <vt:vector size="120" baseType="lpstr">
      <vt:lpstr>Aptos</vt:lpstr>
      <vt:lpstr>Aptos Display</vt:lpstr>
      <vt:lpstr>Arial</vt:lpstr>
      <vt:lpstr>Calibri</vt:lpstr>
      <vt:lpstr>Courier New</vt:lpstr>
      <vt:lpstr>Helvetica</vt:lpstr>
      <vt:lpstr>Office Theme</vt:lpstr>
      <vt:lpstr>Leveraging Lifecycle Modeling to Integrate Systems Engineering and Project Management</vt:lpstr>
      <vt:lpstr>Agenda</vt:lpstr>
      <vt:lpstr>Instructor Background</vt:lpstr>
      <vt:lpstr>Rules of Engagement</vt:lpstr>
      <vt:lpstr>Introduction to LML</vt:lpstr>
      <vt:lpstr>INCOSE MBSE Definition</vt:lpstr>
      <vt:lpstr>MBSE Success</vt:lpstr>
      <vt:lpstr>LML Overview</vt:lpstr>
      <vt:lpstr>PowerPoint Presentation</vt:lpstr>
      <vt:lpstr>Six Goals of LML</vt:lpstr>
      <vt:lpstr>LML Metamodel</vt:lpstr>
      <vt:lpstr>Product Lifecycle</vt:lpstr>
      <vt:lpstr>Actions</vt:lpstr>
      <vt:lpstr>PowerPoint Presentation</vt:lpstr>
      <vt:lpstr>PowerPoint Presentation</vt:lpstr>
      <vt:lpstr>Connection</vt:lpstr>
      <vt:lpstr>Cost</vt:lpstr>
      <vt:lpstr>PowerPoint Presentation</vt:lpstr>
      <vt:lpstr>Location</vt:lpstr>
      <vt:lpstr>Risk</vt:lpstr>
      <vt:lpstr>Statement</vt:lpstr>
      <vt:lpstr>Time</vt:lpstr>
      <vt:lpstr>Predicate Triples</vt:lpstr>
      <vt:lpstr>LML Benefits</vt:lpstr>
      <vt:lpstr>LML Diagram Types</vt:lpstr>
      <vt:lpstr>Introduction to Innoslate</vt:lpstr>
      <vt:lpstr>Innoslate</vt:lpstr>
      <vt:lpstr>PowerPoint Presentation</vt:lpstr>
      <vt:lpstr>Dashboard View</vt:lpstr>
      <vt:lpstr>Adding Widgets</vt:lpstr>
      <vt:lpstr>Database View</vt:lpstr>
      <vt:lpstr>Filtering Database View</vt:lpstr>
      <vt:lpstr>Entity View</vt:lpstr>
      <vt:lpstr>Creating Relationships</vt:lpstr>
      <vt:lpstr>Transforming Entities</vt:lpstr>
      <vt:lpstr>Creating Diagrams from Entities</vt:lpstr>
      <vt:lpstr>Diagrams View</vt:lpstr>
      <vt:lpstr>Create New Diagram</vt:lpstr>
      <vt:lpstr>Create New View</vt:lpstr>
      <vt:lpstr>Documents View</vt:lpstr>
      <vt:lpstr>Import Analyzer</vt:lpstr>
      <vt:lpstr>Configure Import</vt:lpstr>
      <vt:lpstr>Select Import</vt:lpstr>
      <vt:lpstr>Customize Import</vt:lpstr>
      <vt:lpstr>Preview Import</vt:lpstr>
      <vt:lpstr>Schema Editor</vt:lpstr>
      <vt:lpstr>Requirements</vt:lpstr>
      <vt:lpstr>Requirements Management</vt:lpstr>
      <vt:lpstr>Requirements V&amp;V</vt:lpstr>
      <vt:lpstr>Creating Requirements</vt:lpstr>
      <vt:lpstr>Creating from Scratch</vt:lpstr>
      <vt:lpstr>Document Display Settings</vt:lpstr>
      <vt:lpstr>Additional Requirements Capabilities</vt:lpstr>
      <vt:lpstr>Acronym Extractor</vt:lpstr>
      <vt:lpstr>Acronym Extractor Results</vt:lpstr>
      <vt:lpstr>Auto Number</vt:lpstr>
      <vt:lpstr>Auto-Generate Risks</vt:lpstr>
      <vt:lpstr>Generate Test Cases</vt:lpstr>
      <vt:lpstr>Quality Score</vt:lpstr>
      <vt:lpstr>Requirement Attributes</vt:lpstr>
      <vt:lpstr>Quality Checker</vt:lpstr>
      <vt:lpstr>Intelligence Dashboard</vt:lpstr>
      <vt:lpstr>Report Generation</vt:lpstr>
      <vt:lpstr>Module 4 Lab Outcomes</vt:lpstr>
      <vt:lpstr>Lifecycle Management Framework (LMF)</vt:lpstr>
      <vt:lpstr>LMF Mission Domain</vt:lpstr>
      <vt:lpstr>Lifecycle Stakeholder Questions</vt:lpstr>
      <vt:lpstr>Mission Domain Focus Areas</vt:lpstr>
      <vt:lpstr>LMF System Domain</vt:lpstr>
      <vt:lpstr>System Domain Viewpoints</vt:lpstr>
      <vt:lpstr>System Domain Deliverables</vt:lpstr>
      <vt:lpstr>PowerPoint Presentation</vt:lpstr>
      <vt:lpstr>Mission Systems Architecture</vt:lpstr>
      <vt:lpstr>Mission Value Stream Architecture</vt:lpstr>
      <vt:lpstr>LMF Approach</vt:lpstr>
      <vt:lpstr>Minimum Viable Model (MVM)</vt:lpstr>
      <vt:lpstr>Structural Architecture</vt:lpstr>
      <vt:lpstr>LML Asset Diagram</vt:lpstr>
      <vt:lpstr>Hierarchy Diagram</vt:lpstr>
      <vt:lpstr>Class Diagram</vt:lpstr>
      <vt:lpstr>I2 Diagram</vt:lpstr>
      <vt:lpstr>Physical I/O Diagram</vt:lpstr>
      <vt:lpstr>Module 5 Lab Outcomes</vt:lpstr>
      <vt:lpstr>Functional Architecture</vt:lpstr>
      <vt:lpstr>Use Case Diagram Purpose</vt:lpstr>
      <vt:lpstr>Use Cases</vt:lpstr>
      <vt:lpstr>Actors</vt:lpstr>
      <vt:lpstr>System Boundaries</vt:lpstr>
      <vt:lpstr>Associations</vt:lpstr>
      <vt:lpstr>Includes and Extends</vt:lpstr>
      <vt:lpstr>LML Constructs</vt:lpstr>
      <vt:lpstr>LML Action Diagram</vt:lpstr>
      <vt:lpstr>Relationships in LML Action Diagrams</vt:lpstr>
      <vt:lpstr>N2 Diagram</vt:lpstr>
      <vt:lpstr>LML Constructs Overview</vt:lpstr>
      <vt:lpstr>Sequential</vt:lpstr>
      <vt:lpstr>Parallel</vt:lpstr>
      <vt:lpstr>Selection</vt:lpstr>
      <vt:lpstr>Synchronization</vt:lpstr>
      <vt:lpstr>Loop</vt:lpstr>
      <vt:lpstr>Traceability</vt:lpstr>
      <vt:lpstr>Traceability Matrix</vt:lpstr>
      <vt:lpstr>SysML Activity Diagram</vt:lpstr>
      <vt:lpstr>Mob 6 Lab Outcomes</vt:lpstr>
      <vt:lpstr>Simulation with Innoslate</vt:lpstr>
      <vt:lpstr>Simulation</vt:lpstr>
      <vt:lpstr>Discrete Event Simulation</vt:lpstr>
      <vt:lpstr>Discrete Event Simulation</vt:lpstr>
      <vt:lpstr>Discrete Event Simulation</vt:lpstr>
      <vt:lpstr>Discrete Event Simulation</vt:lpstr>
      <vt:lpstr>Simulation Deadlock</vt:lpstr>
      <vt:lpstr>Debugging</vt:lpstr>
      <vt:lpstr>Additional Simulations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Rudder</dc:creator>
  <cp:lastModifiedBy>Sarah Rudder</cp:lastModifiedBy>
  <cp:revision>23</cp:revision>
  <dcterms:created xsi:type="dcterms:W3CDTF">2025-08-07T17:59:12Z</dcterms:created>
  <dcterms:modified xsi:type="dcterms:W3CDTF">2025-08-09T22:11:01Z</dcterms:modified>
</cp:coreProperties>
</file>